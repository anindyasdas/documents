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759" r:id="rId1"/>
    <p:sldMasterId id="2147483771" r:id="rId2"/>
  </p:sldMasterIdLst>
  <p:notesMasterIdLst>
    <p:notesMasterId r:id="rId25"/>
  </p:notesMasterIdLst>
  <p:handoutMasterIdLst>
    <p:handoutMasterId r:id="rId26"/>
  </p:handoutMasterIdLst>
  <p:sldIdLst>
    <p:sldId id="520" r:id="rId3"/>
    <p:sldId id="524" r:id="rId4"/>
    <p:sldId id="526" r:id="rId5"/>
    <p:sldId id="535" r:id="rId6"/>
    <p:sldId id="538" r:id="rId7"/>
    <p:sldId id="539" r:id="rId8"/>
    <p:sldId id="536" r:id="rId9"/>
    <p:sldId id="537" r:id="rId10"/>
    <p:sldId id="529" r:id="rId11"/>
    <p:sldId id="530" r:id="rId12"/>
    <p:sldId id="532" r:id="rId13"/>
    <p:sldId id="531" r:id="rId14"/>
    <p:sldId id="533" r:id="rId15"/>
    <p:sldId id="534" r:id="rId16"/>
    <p:sldId id="528" r:id="rId17"/>
    <p:sldId id="523" r:id="rId18"/>
    <p:sldId id="540" r:id="rId19"/>
    <p:sldId id="541" r:id="rId20"/>
    <p:sldId id="527" r:id="rId21"/>
    <p:sldId id="542" r:id="rId22"/>
    <p:sldId id="525" r:id="rId23"/>
    <p:sldId id="522" r:id="rId24"/>
  </p:sldIdLst>
  <p:sldSz cx="9906000" cy="6858000" type="A4"/>
  <p:notesSz cx="6807200" cy="9939338"/>
  <p:defaultTextStyle>
    <a:defPPr>
      <a:defRPr lang="ko-KR"/>
    </a:defPPr>
    <a:lvl1pPr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1pPr>
    <a:lvl2pPr marL="4572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2pPr>
    <a:lvl3pPr marL="9144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3pPr>
    <a:lvl4pPr marL="13716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4pPr>
    <a:lvl5pPr marL="1828800" algn="l" rtl="0" fontAlgn="base" latinLnBrk="1">
      <a:spcBef>
        <a:spcPct val="0"/>
      </a:spcBef>
      <a:spcAft>
        <a:spcPct val="0"/>
      </a:spcAft>
      <a:defRPr kumimoji="1" kern="1200">
        <a:solidFill>
          <a:schemeClr val="tx1"/>
        </a:solidFill>
        <a:latin typeface="굴림" pitchFamily="50" charset="-127"/>
        <a:ea typeface="굴림" pitchFamily="50" charset="-127"/>
        <a:cs typeface="+mn-cs"/>
      </a:defRPr>
    </a:lvl5pPr>
    <a:lvl6pPr marL="2286000" algn="l" defTabSz="914400" rtl="0" eaLnBrk="1" latinLnBrk="1" hangingPunct="1">
      <a:defRPr kumimoji="1" kern="1200">
        <a:solidFill>
          <a:schemeClr val="tx1"/>
        </a:solidFill>
        <a:latin typeface="굴림" pitchFamily="50" charset="-127"/>
        <a:ea typeface="굴림" pitchFamily="50" charset="-127"/>
        <a:cs typeface="+mn-cs"/>
      </a:defRPr>
    </a:lvl6pPr>
    <a:lvl7pPr marL="2743200" algn="l" defTabSz="914400" rtl="0" eaLnBrk="1" latinLnBrk="1" hangingPunct="1">
      <a:defRPr kumimoji="1" kern="1200">
        <a:solidFill>
          <a:schemeClr val="tx1"/>
        </a:solidFill>
        <a:latin typeface="굴림" pitchFamily="50" charset="-127"/>
        <a:ea typeface="굴림" pitchFamily="50" charset="-127"/>
        <a:cs typeface="+mn-cs"/>
      </a:defRPr>
    </a:lvl7pPr>
    <a:lvl8pPr marL="3200400" algn="l" defTabSz="914400" rtl="0" eaLnBrk="1" latinLnBrk="1" hangingPunct="1">
      <a:defRPr kumimoji="1" kern="1200">
        <a:solidFill>
          <a:schemeClr val="tx1"/>
        </a:solidFill>
        <a:latin typeface="굴림" pitchFamily="50" charset="-127"/>
        <a:ea typeface="굴림" pitchFamily="50" charset="-127"/>
        <a:cs typeface="+mn-cs"/>
      </a:defRPr>
    </a:lvl8pPr>
    <a:lvl9pPr marL="3657600" algn="l" defTabSz="914400" rtl="0" eaLnBrk="1" latinLnBrk="1" hangingPunct="1">
      <a:defRPr kumimoji="1" kern="1200">
        <a:solidFill>
          <a:schemeClr val="tx1"/>
        </a:solidFill>
        <a:latin typeface="굴림" pitchFamily="50" charset="-127"/>
        <a:ea typeface="굴림" pitchFamily="50" charset="-127"/>
        <a:cs typeface="+mn-cs"/>
      </a:defRPr>
    </a:lvl9pPr>
  </p:defaultTextStyle>
  <p:extLst>
    <p:ext uri="{EFAFB233-063F-42B5-8137-9DF3F51BA10A}">
      <p15:sldGuideLst xmlns:p15="http://schemas.microsoft.com/office/powerpoint/2012/main">
        <p15:guide id="1" orient="horz" pos="1162" userDrawn="1">
          <p15:clr>
            <a:srgbClr val="A4A3A4"/>
          </p15:clr>
        </p15:guide>
        <p15:guide id="2" pos="3120">
          <p15:clr>
            <a:srgbClr val="A4A3A4"/>
          </p15:clr>
        </p15:guide>
      </p15:sldGuideLst>
    </p:ext>
    <p:ext uri="{2D200454-40CA-4A62-9FC3-DE9A4176ACB9}">
      <p15:notesGuideLst xmlns:p15="http://schemas.microsoft.com/office/powerpoint/2012/main">
        <p15:guide id="1" orient="horz" pos="3131">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C5003D"/>
    <a:srgbClr val="A907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밝은 스타일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152" autoAdjust="0"/>
    <p:restoredTop sz="98171" autoAdjust="0"/>
  </p:normalViewPr>
  <p:slideViewPr>
    <p:cSldViewPr>
      <p:cViewPr varScale="1">
        <p:scale>
          <a:sx n="74" d="100"/>
          <a:sy n="74" d="100"/>
        </p:scale>
        <p:origin x="1104" y="72"/>
      </p:cViewPr>
      <p:guideLst>
        <p:guide orient="horz" pos="1162"/>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872"/>
    </p:cViewPr>
  </p:sorterViewPr>
  <p:notesViewPr>
    <p:cSldViewPr>
      <p:cViewPr varScale="1">
        <p:scale>
          <a:sx n="85" d="100"/>
          <a:sy n="85" d="100"/>
        </p:scale>
        <p:origin x="3900" y="102"/>
      </p:cViewPr>
      <p:guideLst>
        <p:guide orient="horz" pos="3131"/>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a:p>
        </p:txBody>
      </p:sp>
      <p:sp>
        <p:nvSpPr>
          <p:cNvPr id="3" name="날짜 개체 틀 2"/>
          <p:cNvSpPr>
            <a:spLocks noGrp="1"/>
          </p:cNvSpPr>
          <p:nvPr>
            <p:ph type="dt" sz="quarter"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252B3979-587E-4464-909A-39B95E2EF588}" type="datetimeFigureOut">
              <a:rPr lang="ko-KR" altLang="en-US"/>
              <a:pPr>
                <a:defRPr/>
              </a:pPr>
              <a:t>2021-12-23</a:t>
            </a:fld>
            <a:endParaRPr lang="ko-KR" altLang="en-US"/>
          </a:p>
        </p:txBody>
      </p:sp>
      <p:sp>
        <p:nvSpPr>
          <p:cNvPr id="4" name="바닥글 개체 틀 3"/>
          <p:cNvSpPr>
            <a:spLocks noGrp="1"/>
          </p:cNvSpPr>
          <p:nvPr>
            <p:ph type="ftr" sz="quarter" idx="2"/>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endParaRPr lang="ko-KR" altLang="en-US"/>
          </a:p>
        </p:txBody>
      </p:sp>
      <p:sp>
        <p:nvSpPr>
          <p:cNvPr id="5" name="슬라이드 번호 개체 틀 4"/>
          <p:cNvSpPr>
            <a:spLocks noGrp="1"/>
          </p:cNvSpPr>
          <p:nvPr>
            <p:ph type="sldNum" sz="quarter" idx="3"/>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7616E281-9436-4800-9EC9-2EFFDE97BE08}" type="slidenum">
              <a:rPr lang="ko-KR" altLang="en-US"/>
              <a:pPr>
                <a:defRPr/>
              </a:pPr>
              <a:t>‹#›</a:t>
            </a:fld>
            <a:endParaRPr lang="ko-KR" altLang="en-US"/>
          </a:p>
        </p:txBody>
      </p:sp>
    </p:spTree>
    <p:extLst>
      <p:ext uri="{BB962C8B-B14F-4D97-AF65-F5344CB8AC3E}">
        <p14:creationId xmlns:p14="http://schemas.microsoft.com/office/powerpoint/2010/main" val="29549257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575" cy="496888"/>
          </a:xfrm>
          <a:prstGeom prst="rect">
            <a:avLst/>
          </a:prstGeom>
        </p:spPr>
        <p:txBody>
          <a:bodyPr vert="horz" lIns="91440" tIns="45720" rIns="91440" bIns="45720" rtlCol="0"/>
          <a:lstStyle>
            <a:lvl1pPr algn="l" fontAlgn="auto">
              <a:spcBef>
                <a:spcPts val="0"/>
              </a:spcBef>
              <a:spcAft>
                <a:spcPts val="0"/>
              </a:spcAft>
              <a:defRPr kumimoji="0" sz="1200">
                <a:latin typeface="+mn-lt"/>
                <a:ea typeface="+mn-ea"/>
              </a:defRPr>
            </a:lvl1pPr>
          </a:lstStyle>
          <a:p>
            <a:pPr>
              <a:defRPr/>
            </a:pPr>
            <a:endParaRPr lang="ko-KR" altLang="en-US"/>
          </a:p>
        </p:txBody>
      </p:sp>
      <p:sp>
        <p:nvSpPr>
          <p:cNvPr id="3" name="날짜 개체 틀 2"/>
          <p:cNvSpPr>
            <a:spLocks noGrp="1"/>
          </p:cNvSpPr>
          <p:nvPr>
            <p:ph type="dt" idx="1"/>
          </p:nvPr>
        </p:nvSpPr>
        <p:spPr>
          <a:xfrm>
            <a:off x="3856038" y="0"/>
            <a:ext cx="2949575" cy="496888"/>
          </a:xfrm>
          <a:prstGeom prst="rect">
            <a:avLst/>
          </a:prstGeom>
        </p:spPr>
        <p:txBody>
          <a:bodyPr vert="horz" lIns="91440" tIns="45720" rIns="91440" bIns="45720" rtlCol="0"/>
          <a:lstStyle>
            <a:lvl1pPr algn="r" fontAlgn="auto">
              <a:spcBef>
                <a:spcPts val="0"/>
              </a:spcBef>
              <a:spcAft>
                <a:spcPts val="0"/>
              </a:spcAft>
              <a:defRPr kumimoji="0" sz="1200">
                <a:latin typeface="+mn-lt"/>
                <a:ea typeface="+mn-ea"/>
              </a:defRPr>
            </a:lvl1pPr>
          </a:lstStyle>
          <a:p>
            <a:pPr>
              <a:defRPr/>
            </a:pPr>
            <a:fld id="{52DDCEAF-159B-40E2-9819-63DD26EF0687}" type="datetimeFigureOut">
              <a:rPr lang="ko-KR" altLang="en-US"/>
              <a:pPr>
                <a:defRPr/>
              </a:pPr>
              <a:t>2021-12-23</a:t>
            </a:fld>
            <a:endParaRPr lang="ko-KR" altLang="en-US"/>
          </a:p>
        </p:txBody>
      </p:sp>
      <p:sp>
        <p:nvSpPr>
          <p:cNvPr id="4" name="슬라이드 이미지 개체 틀 3"/>
          <p:cNvSpPr>
            <a:spLocks noGrp="1" noRot="1" noChangeAspect="1"/>
          </p:cNvSpPr>
          <p:nvPr>
            <p:ph type="sldImg" idx="2"/>
          </p:nvPr>
        </p:nvSpPr>
        <p:spPr>
          <a:xfrm>
            <a:off x="712788" y="746125"/>
            <a:ext cx="5381625" cy="3725863"/>
          </a:xfrm>
          <a:prstGeom prst="rect">
            <a:avLst/>
          </a:prstGeom>
          <a:noFill/>
          <a:ln w="12700">
            <a:solidFill>
              <a:prstClr val="black"/>
            </a:solidFill>
          </a:ln>
        </p:spPr>
        <p:txBody>
          <a:bodyPr vert="horz" lIns="91440" tIns="45720" rIns="91440" bIns="45720" rtlCol="0" anchor="ctr"/>
          <a:lstStyle/>
          <a:p>
            <a:pPr lvl="0"/>
            <a:endParaRPr lang="ko-KR" altLang="en-US" noProof="0"/>
          </a:p>
        </p:txBody>
      </p:sp>
      <p:sp>
        <p:nvSpPr>
          <p:cNvPr id="5" name="슬라이드 노트 개체 틀 4"/>
          <p:cNvSpPr>
            <a:spLocks noGrp="1"/>
          </p:cNvSpPr>
          <p:nvPr>
            <p:ph type="body" sz="quarter" idx="3"/>
          </p:nvPr>
        </p:nvSpPr>
        <p:spPr>
          <a:xfrm>
            <a:off x="681038" y="4721225"/>
            <a:ext cx="5445125" cy="4471988"/>
          </a:xfrm>
          <a:prstGeom prst="rect">
            <a:avLst/>
          </a:prstGeom>
        </p:spPr>
        <p:txBody>
          <a:bodyPr vert="horz" lIns="91440" tIns="45720" rIns="91440" bIns="45720" rtlCol="0">
            <a:normAutofit/>
          </a:bodyPr>
          <a:lstStyle/>
          <a:p>
            <a:pPr lvl="0"/>
            <a:r>
              <a:rPr lang="ko-KR" altLang="en-US" noProof="0" smtClean="0"/>
              <a:t>마스터 텍스트 스타일을 편집합니다</a:t>
            </a:r>
          </a:p>
          <a:p>
            <a:pPr lvl="1"/>
            <a:r>
              <a:rPr lang="ko-KR" altLang="en-US" noProof="0" smtClean="0"/>
              <a:t>둘째 수준</a:t>
            </a:r>
          </a:p>
          <a:p>
            <a:pPr lvl="2"/>
            <a:r>
              <a:rPr lang="ko-KR" altLang="en-US" noProof="0" smtClean="0"/>
              <a:t>셋째 수준</a:t>
            </a:r>
          </a:p>
          <a:p>
            <a:pPr lvl="3"/>
            <a:r>
              <a:rPr lang="ko-KR" altLang="en-US" noProof="0" smtClean="0"/>
              <a:t>넷째 수준</a:t>
            </a:r>
          </a:p>
          <a:p>
            <a:pPr lvl="4"/>
            <a:r>
              <a:rPr lang="ko-KR" altLang="en-US" noProof="0" smtClean="0"/>
              <a:t>다섯째 수준</a:t>
            </a:r>
            <a:endParaRPr lang="ko-KR" altLang="en-US" noProof="0"/>
          </a:p>
        </p:txBody>
      </p:sp>
      <p:sp>
        <p:nvSpPr>
          <p:cNvPr id="6" name="바닥글 개체 틀 5"/>
          <p:cNvSpPr>
            <a:spLocks noGrp="1"/>
          </p:cNvSpPr>
          <p:nvPr>
            <p:ph type="ftr" sz="quarter" idx="4"/>
          </p:nvPr>
        </p:nvSpPr>
        <p:spPr>
          <a:xfrm>
            <a:off x="0" y="9440863"/>
            <a:ext cx="2949575" cy="496887"/>
          </a:xfrm>
          <a:prstGeom prst="rect">
            <a:avLst/>
          </a:prstGeom>
        </p:spPr>
        <p:txBody>
          <a:bodyPr vert="horz" lIns="91440" tIns="45720" rIns="91440" bIns="45720" rtlCol="0" anchor="b"/>
          <a:lstStyle>
            <a:lvl1pPr algn="l" fontAlgn="auto">
              <a:spcBef>
                <a:spcPts val="0"/>
              </a:spcBef>
              <a:spcAft>
                <a:spcPts val="0"/>
              </a:spcAft>
              <a:defRPr kumimoji="0" sz="1200">
                <a:latin typeface="+mn-lt"/>
                <a:ea typeface="+mn-ea"/>
              </a:defRPr>
            </a:lvl1pPr>
          </a:lstStyle>
          <a:p>
            <a:pPr>
              <a:defRPr/>
            </a:pPr>
            <a:endParaRPr lang="ko-KR" altLang="en-US"/>
          </a:p>
        </p:txBody>
      </p:sp>
      <p:sp>
        <p:nvSpPr>
          <p:cNvPr id="7" name="슬라이드 번호 개체 틀 6"/>
          <p:cNvSpPr>
            <a:spLocks noGrp="1"/>
          </p:cNvSpPr>
          <p:nvPr>
            <p:ph type="sldNum" sz="quarter" idx="5"/>
          </p:nvPr>
        </p:nvSpPr>
        <p:spPr>
          <a:xfrm>
            <a:off x="3856038" y="9440863"/>
            <a:ext cx="2949575" cy="496887"/>
          </a:xfrm>
          <a:prstGeom prst="rect">
            <a:avLst/>
          </a:prstGeom>
        </p:spPr>
        <p:txBody>
          <a:bodyPr vert="horz" lIns="91440" tIns="45720" rIns="91440" bIns="45720" rtlCol="0" anchor="b"/>
          <a:lstStyle>
            <a:lvl1pPr algn="r" fontAlgn="auto">
              <a:spcBef>
                <a:spcPts val="0"/>
              </a:spcBef>
              <a:spcAft>
                <a:spcPts val="0"/>
              </a:spcAft>
              <a:defRPr kumimoji="0" sz="1200">
                <a:latin typeface="+mn-lt"/>
                <a:ea typeface="+mn-ea"/>
              </a:defRPr>
            </a:lvl1pPr>
          </a:lstStyle>
          <a:p>
            <a:pPr>
              <a:defRPr/>
            </a:pPr>
            <a:fld id="{B03ECA5E-D759-4110-A89E-229DBE3E2838}" type="slidenum">
              <a:rPr lang="ko-KR" altLang="en-US"/>
              <a:pPr>
                <a:defRPr/>
              </a:pPr>
              <a:t>‹#›</a:t>
            </a:fld>
            <a:endParaRPr lang="ko-KR" altLang="en-US"/>
          </a:p>
        </p:txBody>
      </p:sp>
    </p:spTree>
    <p:extLst>
      <p:ext uri="{BB962C8B-B14F-4D97-AF65-F5344CB8AC3E}">
        <p14:creationId xmlns:p14="http://schemas.microsoft.com/office/powerpoint/2010/main" val="3262797568"/>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238250" y="1122363"/>
            <a:ext cx="7429500" cy="2387600"/>
          </a:xfrm>
        </p:spPr>
        <p:txBody>
          <a:bodyPr anchor="b"/>
          <a:lstStyle>
            <a:lvl1pPr algn="ctr">
              <a:defRPr sz="4875"/>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5" name="바닥글 개체 틀 4"/>
          <p:cNvSpPr>
            <a:spLocks noGrp="1"/>
          </p:cNvSpPr>
          <p:nvPr>
            <p:ph type="ftr" sz="quarter" idx="11"/>
          </p:nvPr>
        </p:nvSpPr>
        <p:spPr/>
        <p:txBody>
          <a:bodyPr/>
          <a:lstStyle/>
          <a:p>
            <a:endParaRPr lang="en-US" dirty="0"/>
          </a:p>
        </p:txBody>
      </p:sp>
      <p:sp>
        <p:nvSpPr>
          <p:cNvPr id="6" name="슬라이드 번호 개체 틀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5205008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5" name="바닥글 개체 틀 4"/>
          <p:cNvSpPr>
            <a:spLocks noGrp="1"/>
          </p:cNvSpPr>
          <p:nvPr>
            <p:ph type="ftr" sz="quarter" idx="11"/>
          </p:nvPr>
        </p:nvSpPr>
        <p:spPr/>
        <p:txBody>
          <a:bodyPr/>
          <a:lstStyle/>
          <a:p>
            <a:endParaRPr lang="en-US" dirty="0"/>
          </a:p>
        </p:txBody>
      </p:sp>
      <p:sp>
        <p:nvSpPr>
          <p:cNvPr id="6" name="슬라이드 번호 개체 틀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431361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75878" y="1709739"/>
            <a:ext cx="8543925" cy="2852737"/>
          </a:xfrm>
        </p:spPr>
        <p:txBody>
          <a:bodyPr anchor="b"/>
          <a:lstStyle>
            <a:lvl1pPr>
              <a:defRPr sz="4875"/>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75878" y="4589464"/>
            <a:ext cx="8543925" cy="1500187"/>
          </a:xfrm>
        </p:spPr>
        <p:txBody>
          <a:bodyPr/>
          <a:lstStyle>
            <a:lvl1pPr marL="0" indent="0">
              <a:buNone/>
              <a:defRPr sz="1950">
                <a:solidFill>
                  <a:schemeClr val="tx1">
                    <a:tint val="75000"/>
                  </a:schemeClr>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5" name="바닥글 개체 틀 4"/>
          <p:cNvSpPr>
            <a:spLocks noGrp="1"/>
          </p:cNvSpPr>
          <p:nvPr>
            <p:ph type="ftr" sz="quarter" idx="11"/>
          </p:nvPr>
        </p:nvSpPr>
        <p:spPr/>
        <p:txBody>
          <a:bodyPr/>
          <a:lstStyle/>
          <a:p>
            <a:endParaRPr lang="en-US" dirty="0"/>
          </a:p>
        </p:txBody>
      </p:sp>
      <p:sp>
        <p:nvSpPr>
          <p:cNvPr id="6" name="슬라이드 번호 개체 틀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020974452"/>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681038" y="1825625"/>
            <a:ext cx="4210050" cy="435133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5014913" y="1825625"/>
            <a:ext cx="4210050" cy="435133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6" name="바닥글 개체 틀 5"/>
          <p:cNvSpPr>
            <a:spLocks noGrp="1"/>
          </p:cNvSpPr>
          <p:nvPr>
            <p:ph type="ftr" sz="quarter" idx="11"/>
          </p:nvPr>
        </p:nvSpPr>
        <p:spPr/>
        <p:txBody>
          <a:bodyPr/>
          <a:lstStyle/>
          <a:p>
            <a:endParaRPr lang="en-US" dirty="0"/>
          </a:p>
        </p:txBody>
      </p:sp>
      <p:sp>
        <p:nvSpPr>
          <p:cNvPr id="7" name="슬라이드 번호 개체 틀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73295346"/>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82328" y="365126"/>
            <a:ext cx="8543925"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682328" y="2505075"/>
            <a:ext cx="4190702" cy="368458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5014913" y="2505075"/>
            <a:ext cx="4211340" cy="368458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8" name="바닥글 개체 틀 7"/>
          <p:cNvSpPr>
            <a:spLocks noGrp="1"/>
          </p:cNvSpPr>
          <p:nvPr>
            <p:ph type="ftr" sz="quarter" idx="11"/>
          </p:nvPr>
        </p:nvSpPr>
        <p:spPr/>
        <p:txBody>
          <a:bodyPr/>
          <a:lstStyle/>
          <a:p>
            <a:endParaRPr lang="en-US" dirty="0"/>
          </a:p>
        </p:txBody>
      </p:sp>
      <p:sp>
        <p:nvSpPr>
          <p:cNvPr id="9" name="슬라이드 번호 개체 틀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6281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a:xfrm>
            <a:off x="337161" y="107218"/>
            <a:ext cx="8543925" cy="439859"/>
          </a:xfrm>
        </p:spPr>
        <p:txBody>
          <a:bodyPr>
            <a:normAutofit/>
          </a:bodyPr>
          <a:lstStyle>
            <a:lvl1pPr>
              <a:defRPr sz="1600"/>
            </a:lvl1pPr>
          </a:lstStyle>
          <a:p>
            <a:r>
              <a:rPr lang="ko-KR" altLang="en-US" smtClean="0"/>
              <a:t>마스터 제목 스타일 편집</a:t>
            </a:r>
            <a:endParaRPr lang="ko-KR" altLang="en-US" dirty="0"/>
          </a:p>
        </p:txBody>
      </p:sp>
      <p:sp>
        <p:nvSpPr>
          <p:cNvPr id="3" name="날짜 개체 틀 2"/>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4" name="바닥글 개체 틀 3"/>
          <p:cNvSpPr>
            <a:spLocks noGrp="1"/>
          </p:cNvSpPr>
          <p:nvPr>
            <p:ph type="ftr" sz="quarter" idx="11"/>
          </p:nvPr>
        </p:nvSpPr>
        <p:spPr/>
        <p:txBody>
          <a:bodyPr/>
          <a:lstStyle/>
          <a:p>
            <a:endParaRPr lang="en-US" dirty="0"/>
          </a:p>
        </p:txBody>
      </p:sp>
      <p:sp>
        <p:nvSpPr>
          <p:cNvPr id="5" name="슬라이드 번호 개체 틀 4"/>
          <p:cNvSpPr>
            <a:spLocks noGrp="1"/>
          </p:cNvSpPr>
          <p:nvPr>
            <p:ph type="sldNum" sz="quarter" idx="12"/>
          </p:nvPr>
        </p:nvSpPr>
        <p:spPr/>
        <p:txBody>
          <a:bodyPr/>
          <a:lstStyle/>
          <a:p>
            <a:fld id="{48F63A3B-78C7-47BE-AE5E-E10140E04643}" type="slidenum">
              <a:rPr lang="en-US" smtClean="0"/>
              <a:t>‹#›</a:t>
            </a:fld>
            <a:endParaRPr lang="en-US" dirty="0"/>
          </a:p>
        </p:txBody>
      </p:sp>
      <p:cxnSp>
        <p:nvCxnSpPr>
          <p:cNvPr id="7" name="직선 연결선 6"/>
          <p:cNvCxnSpPr/>
          <p:nvPr/>
        </p:nvCxnSpPr>
        <p:spPr>
          <a:xfrm>
            <a:off x="0" y="547077"/>
            <a:ext cx="9906000"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06685529"/>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3" name="바닥글 개체 틀 2"/>
          <p:cNvSpPr>
            <a:spLocks noGrp="1"/>
          </p:cNvSpPr>
          <p:nvPr>
            <p:ph type="ftr" sz="quarter" idx="11"/>
          </p:nvPr>
        </p:nvSpPr>
        <p:spPr/>
        <p:txBody>
          <a:bodyPr/>
          <a:lstStyle/>
          <a:p>
            <a:endParaRPr lang="en-US" dirty="0"/>
          </a:p>
        </p:txBody>
      </p:sp>
      <p:sp>
        <p:nvSpPr>
          <p:cNvPr id="4" name="슬라이드 번호 개체 틀 3"/>
          <p:cNvSpPr>
            <a:spLocks noGrp="1"/>
          </p:cNvSpPr>
          <p:nvPr>
            <p:ph type="sldNum" sz="quarter" idx="12"/>
          </p:nvPr>
        </p:nvSpPr>
        <p:spPr/>
        <p:txBody>
          <a:bodyPr/>
          <a:lstStyle/>
          <a:p>
            <a:fld id="{48F63A3B-78C7-47BE-AE5E-E10140E04643}" type="slidenum">
              <a:rPr lang="en-US" smtClean="0"/>
              <a:t>‹#›</a:t>
            </a:fld>
            <a:endParaRPr lang="en-US" dirty="0"/>
          </a:p>
        </p:txBody>
      </p:sp>
      <p:sp>
        <p:nvSpPr>
          <p:cNvPr id="5" name="Text Box 4"/>
          <p:cNvSpPr txBox="1">
            <a:spLocks noChangeArrowheads="1"/>
          </p:cNvSpPr>
          <p:nvPr userDrawn="1"/>
        </p:nvSpPr>
        <p:spPr bwMode="auto">
          <a:xfrm>
            <a:off x="3919101" y="122238"/>
            <a:ext cx="2028120" cy="338554"/>
          </a:xfrm>
          <a:prstGeom prst="rect">
            <a:avLst/>
          </a:prstGeom>
          <a:noFill/>
          <a:ln w="9525">
            <a:noFill/>
            <a:miter lim="800000"/>
            <a:headEnd/>
            <a:tailEnd/>
          </a:ln>
        </p:spPr>
        <p:txBody>
          <a:bodyPr wrap="none">
            <a:spAutoFit/>
          </a:bodyPr>
          <a:lstStyle/>
          <a:p>
            <a:pPr algn="ctr"/>
            <a:r>
              <a:rPr lang="en-US" altLang="ko-KR" sz="1600" b="1" u="sng" dirty="0" smtClean="0">
                <a:solidFill>
                  <a:srgbClr val="000000"/>
                </a:solidFill>
                <a:latin typeface="맑은 고딕" pitchFamily="50" charset="-127"/>
                <a:ea typeface="맑은 고딕" pitchFamily="50" charset="-127"/>
                <a:cs typeface="Arial" charset="0"/>
              </a:rPr>
              <a:t>Invention Proposal</a:t>
            </a:r>
          </a:p>
        </p:txBody>
      </p:sp>
    </p:spTree>
    <p:extLst>
      <p:ext uri="{BB962C8B-B14F-4D97-AF65-F5344CB8AC3E}">
        <p14:creationId xmlns:p14="http://schemas.microsoft.com/office/powerpoint/2010/main" val="1502092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82328" y="457200"/>
            <a:ext cx="3194943" cy="1600200"/>
          </a:xfrm>
        </p:spPr>
        <p:txBody>
          <a:bodyPr anchor="b"/>
          <a:lstStyle>
            <a:lvl1pPr>
              <a:defRPr sz="26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6" name="바닥글 개체 틀 5"/>
          <p:cNvSpPr>
            <a:spLocks noGrp="1"/>
          </p:cNvSpPr>
          <p:nvPr>
            <p:ph type="ftr" sz="quarter" idx="11"/>
          </p:nvPr>
        </p:nvSpPr>
        <p:spPr/>
        <p:txBody>
          <a:bodyPr/>
          <a:lstStyle/>
          <a:p>
            <a:endParaRPr lang="en-US" dirty="0"/>
          </a:p>
        </p:txBody>
      </p:sp>
      <p:sp>
        <p:nvSpPr>
          <p:cNvPr id="7" name="슬라이드 번호 개체 틀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12972497"/>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82328" y="457200"/>
            <a:ext cx="3194943" cy="1600200"/>
          </a:xfrm>
        </p:spPr>
        <p:txBody>
          <a:bodyPr anchor="b"/>
          <a:lstStyle>
            <a:lvl1pPr>
              <a:defRPr sz="26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r>
              <a:rPr lang="ko-KR" altLang="en-US" smtClean="0"/>
              <a:t>그림을 추가하려면 아이콘을 클릭하십시오</a:t>
            </a:r>
            <a:endParaRPr lang="ko-KR" altLang="en-US"/>
          </a:p>
        </p:txBody>
      </p:sp>
      <p:sp>
        <p:nvSpPr>
          <p:cNvPr id="4" name="텍스트 개체 틀 3"/>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6" name="바닥글 개체 틀 5"/>
          <p:cNvSpPr>
            <a:spLocks noGrp="1"/>
          </p:cNvSpPr>
          <p:nvPr>
            <p:ph type="ftr" sz="quarter" idx="11"/>
          </p:nvPr>
        </p:nvSpPr>
        <p:spPr/>
        <p:txBody>
          <a:bodyPr/>
          <a:lstStyle/>
          <a:p>
            <a:endParaRPr lang="en-US" dirty="0"/>
          </a:p>
        </p:txBody>
      </p:sp>
      <p:sp>
        <p:nvSpPr>
          <p:cNvPr id="7" name="슬라이드 번호 개체 틀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778620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5" name="바닥글 개체 틀 4"/>
          <p:cNvSpPr>
            <a:spLocks noGrp="1"/>
          </p:cNvSpPr>
          <p:nvPr>
            <p:ph type="ftr" sz="quarter" idx="11"/>
          </p:nvPr>
        </p:nvSpPr>
        <p:spPr/>
        <p:txBody>
          <a:bodyPr/>
          <a:lstStyle/>
          <a:p>
            <a:endParaRPr lang="en-US" dirty="0"/>
          </a:p>
        </p:txBody>
      </p:sp>
      <p:sp>
        <p:nvSpPr>
          <p:cNvPr id="6" name="슬라이드 번호 개체 틀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3997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088981" y="365125"/>
            <a:ext cx="2135981" cy="5811838"/>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681037" y="365125"/>
            <a:ext cx="6284119" cy="5811838"/>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5" name="바닥글 개체 틀 4"/>
          <p:cNvSpPr>
            <a:spLocks noGrp="1"/>
          </p:cNvSpPr>
          <p:nvPr>
            <p:ph type="ftr" sz="quarter" idx="11"/>
          </p:nvPr>
        </p:nvSpPr>
        <p:spPr/>
        <p:txBody>
          <a:bodyPr/>
          <a:lstStyle/>
          <a:p>
            <a:endParaRPr lang="en-US" dirty="0"/>
          </a:p>
        </p:txBody>
      </p:sp>
      <p:sp>
        <p:nvSpPr>
          <p:cNvPr id="6" name="슬라이드 번호 개체 틀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981761"/>
      </p:ext>
    </p:extLst>
  </p:cSld>
  <p:clrMapOvr>
    <a:masterClrMapping/>
  </p:clrMapOvr>
  <p:timing>
    <p:tnLst>
      <p:par>
        <p:cTn id="1" dur="indefinite" restart="never" nodeType="tmRoot"/>
      </p:par>
    </p:tnLst>
  </p:timing>
  <p:extLst>
    <p:ext uri="{DCECCB84-F9BA-43D5-87BE-67443E8EF086}">
      <p15:sldGuideLst xmlns:p15="http://schemas.microsoft.com/office/powerpoint/2012/main">
        <p15:guide id="1" orient="horz" pos="2160" userDrawn="1">
          <p15:clr>
            <a:srgbClr val="FBAE40"/>
          </p15:clr>
        </p15:guide>
        <p15:guide id="2" pos="606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238250" y="1122363"/>
            <a:ext cx="7429500" cy="2387600"/>
          </a:xfrm>
        </p:spPr>
        <p:txBody>
          <a:bodyPr anchor="b"/>
          <a:lstStyle>
            <a:lvl1pPr algn="ctr">
              <a:defRPr sz="4875"/>
            </a:lvl1pPr>
          </a:lstStyle>
          <a:p>
            <a:r>
              <a:rPr lang="ko-KR" altLang="en-US" smtClean="0"/>
              <a:t>마스터 제목 스타일 편집</a:t>
            </a:r>
            <a:endParaRPr lang="ko-KR" altLang="en-US"/>
          </a:p>
        </p:txBody>
      </p:sp>
      <p:sp>
        <p:nvSpPr>
          <p:cNvPr id="3" name="부제목 2"/>
          <p:cNvSpPr>
            <a:spLocks noGrp="1"/>
          </p:cNvSpPr>
          <p:nvPr>
            <p:ph type="subTitle" idx="1"/>
          </p:nvPr>
        </p:nvSpPr>
        <p:spPr>
          <a:xfrm>
            <a:off x="1238250" y="3602038"/>
            <a:ext cx="7429500" cy="1655762"/>
          </a:xfrm>
        </p:spPr>
        <p:txBody>
          <a:bodyPr/>
          <a:lstStyle>
            <a:lvl1pPr marL="0" indent="0" algn="ctr">
              <a:buNone/>
              <a:defRPr sz="1950"/>
            </a:lvl1pPr>
            <a:lvl2pPr marL="371475" indent="0" algn="ctr">
              <a:buNone/>
              <a:defRPr sz="1625"/>
            </a:lvl2pPr>
            <a:lvl3pPr marL="742950" indent="0" algn="ctr">
              <a:buNone/>
              <a:defRPr sz="1463"/>
            </a:lvl3pPr>
            <a:lvl4pPr marL="1114425" indent="0" algn="ctr">
              <a:buNone/>
              <a:defRPr sz="1300"/>
            </a:lvl4pPr>
            <a:lvl5pPr marL="1485900" indent="0" algn="ctr">
              <a:buNone/>
              <a:defRPr sz="1300"/>
            </a:lvl5pPr>
            <a:lvl6pPr marL="1857375" indent="0" algn="ctr">
              <a:buNone/>
              <a:defRPr sz="1300"/>
            </a:lvl6pPr>
            <a:lvl7pPr marL="2228850" indent="0" algn="ctr">
              <a:buNone/>
              <a:defRPr sz="1300"/>
            </a:lvl7pPr>
            <a:lvl8pPr marL="2600325" indent="0" algn="ctr">
              <a:buNone/>
              <a:defRPr sz="1300"/>
            </a:lvl8pPr>
            <a:lvl9pPr marL="2971800" indent="0" algn="ctr">
              <a:buNone/>
              <a:defRPr sz="1300"/>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5" name="바닥글 개체 틀 4"/>
          <p:cNvSpPr>
            <a:spLocks noGrp="1"/>
          </p:cNvSpPr>
          <p:nvPr>
            <p:ph type="ftr" sz="quarter" idx="11"/>
          </p:nvPr>
        </p:nvSpPr>
        <p:spPr/>
        <p:txBody>
          <a:bodyPr/>
          <a:lstStyle/>
          <a:p>
            <a:endParaRPr lang="en-US" dirty="0"/>
          </a:p>
        </p:txBody>
      </p:sp>
      <p:sp>
        <p:nvSpPr>
          <p:cNvPr id="6" name="슬라이드 번호 개체 틀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2056932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5" name="바닥글 개체 틀 4"/>
          <p:cNvSpPr>
            <a:spLocks noGrp="1"/>
          </p:cNvSpPr>
          <p:nvPr>
            <p:ph type="ftr" sz="quarter" idx="11"/>
          </p:nvPr>
        </p:nvSpPr>
        <p:spPr/>
        <p:txBody>
          <a:bodyPr/>
          <a:lstStyle/>
          <a:p>
            <a:endParaRPr lang="en-US" dirty="0"/>
          </a:p>
        </p:txBody>
      </p:sp>
      <p:sp>
        <p:nvSpPr>
          <p:cNvPr id="6" name="슬라이드 번호 개체 틀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33156860"/>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75878" y="1709739"/>
            <a:ext cx="8543925" cy="2852737"/>
          </a:xfrm>
        </p:spPr>
        <p:txBody>
          <a:bodyPr anchor="b"/>
          <a:lstStyle>
            <a:lvl1pPr>
              <a:defRPr sz="4875"/>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75878" y="4589464"/>
            <a:ext cx="8543925" cy="1500187"/>
          </a:xfrm>
        </p:spPr>
        <p:txBody>
          <a:bodyPr/>
          <a:lstStyle>
            <a:lvl1pPr marL="0" indent="0">
              <a:buNone/>
              <a:defRPr sz="1950">
                <a:solidFill>
                  <a:schemeClr val="tx1">
                    <a:tint val="75000"/>
                  </a:schemeClr>
                </a:solidFill>
              </a:defRPr>
            </a:lvl1pPr>
            <a:lvl2pPr marL="371475" indent="0">
              <a:buNone/>
              <a:defRPr sz="1625">
                <a:solidFill>
                  <a:schemeClr val="tx1">
                    <a:tint val="75000"/>
                  </a:schemeClr>
                </a:solidFill>
              </a:defRPr>
            </a:lvl2pPr>
            <a:lvl3pPr marL="742950" indent="0">
              <a:buNone/>
              <a:defRPr sz="1463">
                <a:solidFill>
                  <a:schemeClr val="tx1">
                    <a:tint val="75000"/>
                  </a:schemeClr>
                </a:solidFill>
              </a:defRPr>
            </a:lvl3pPr>
            <a:lvl4pPr marL="1114425" indent="0">
              <a:buNone/>
              <a:defRPr sz="1300">
                <a:solidFill>
                  <a:schemeClr val="tx1">
                    <a:tint val="75000"/>
                  </a:schemeClr>
                </a:solidFill>
              </a:defRPr>
            </a:lvl4pPr>
            <a:lvl5pPr marL="1485900" indent="0">
              <a:buNone/>
              <a:defRPr sz="1300">
                <a:solidFill>
                  <a:schemeClr val="tx1">
                    <a:tint val="75000"/>
                  </a:schemeClr>
                </a:solidFill>
              </a:defRPr>
            </a:lvl5pPr>
            <a:lvl6pPr marL="1857375" indent="0">
              <a:buNone/>
              <a:defRPr sz="1300">
                <a:solidFill>
                  <a:schemeClr val="tx1">
                    <a:tint val="75000"/>
                  </a:schemeClr>
                </a:solidFill>
              </a:defRPr>
            </a:lvl6pPr>
            <a:lvl7pPr marL="2228850" indent="0">
              <a:buNone/>
              <a:defRPr sz="1300">
                <a:solidFill>
                  <a:schemeClr val="tx1">
                    <a:tint val="75000"/>
                  </a:schemeClr>
                </a:solidFill>
              </a:defRPr>
            </a:lvl7pPr>
            <a:lvl8pPr marL="2600325" indent="0">
              <a:buNone/>
              <a:defRPr sz="1300">
                <a:solidFill>
                  <a:schemeClr val="tx1">
                    <a:tint val="75000"/>
                  </a:schemeClr>
                </a:solidFill>
              </a:defRPr>
            </a:lvl8pPr>
            <a:lvl9pPr marL="2971800" indent="0">
              <a:buNone/>
              <a:defRPr sz="13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5" name="바닥글 개체 틀 4"/>
          <p:cNvSpPr>
            <a:spLocks noGrp="1"/>
          </p:cNvSpPr>
          <p:nvPr>
            <p:ph type="ftr" sz="quarter" idx="11"/>
          </p:nvPr>
        </p:nvSpPr>
        <p:spPr/>
        <p:txBody>
          <a:bodyPr/>
          <a:lstStyle/>
          <a:p>
            <a:endParaRPr lang="en-US" dirty="0"/>
          </a:p>
        </p:txBody>
      </p:sp>
      <p:sp>
        <p:nvSpPr>
          <p:cNvPr id="6" name="슬라이드 번호 개체 틀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3731465"/>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681038" y="1825625"/>
            <a:ext cx="4210050" cy="435133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5014913" y="1825625"/>
            <a:ext cx="4210050" cy="435133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6" name="바닥글 개체 틀 5"/>
          <p:cNvSpPr>
            <a:spLocks noGrp="1"/>
          </p:cNvSpPr>
          <p:nvPr>
            <p:ph type="ftr" sz="quarter" idx="11"/>
          </p:nvPr>
        </p:nvSpPr>
        <p:spPr/>
        <p:txBody>
          <a:bodyPr/>
          <a:lstStyle/>
          <a:p>
            <a:endParaRPr lang="en-US" dirty="0"/>
          </a:p>
        </p:txBody>
      </p:sp>
      <p:sp>
        <p:nvSpPr>
          <p:cNvPr id="7" name="슬라이드 번호 개체 틀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39569464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82328" y="365126"/>
            <a:ext cx="8543925" cy="1325563"/>
          </a:xfrm>
        </p:spPr>
        <p:txBody>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682328" y="1681163"/>
            <a:ext cx="4190702"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682328" y="2505075"/>
            <a:ext cx="4190702" cy="368458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5014913" y="1681163"/>
            <a:ext cx="4211340" cy="823912"/>
          </a:xfrm>
        </p:spPr>
        <p:txBody>
          <a:bodyPr anchor="b"/>
          <a:lstStyle>
            <a:lvl1pPr marL="0" indent="0">
              <a:buNone/>
              <a:defRPr sz="1950" b="1"/>
            </a:lvl1pPr>
            <a:lvl2pPr marL="371475" indent="0">
              <a:buNone/>
              <a:defRPr sz="1625" b="1"/>
            </a:lvl2pPr>
            <a:lvl3pPr marL="742950" indent="0">
              <a:buNone/>
              <a:defRPr sz="1463" b="1"/>
            </a:lvl3pPr>
            <a:lvl4pPr marL="1114425" indent="0">
              <a:buNone/>
              <a:defRPr sz="1300" b="1"/>
            </a:lvl4pPr>
            <a:lvl5pPr marL="1485900" indent="0">
              <a:buNone/>
              <a:defRPr sz="1300" b="1"/>
            </a:lvl5pPr>
            <a:lvl6pPr marL="1857375" indent="0">
              <a:buNone/>
              <a:defRPr sz="1300" b="1"/>
            </a:lvl6pPr>
            <a:lvl7pPr marL="2228850" indent="0">
              <a:buNone/>
              <a:defRPr sz="1300" b="1"/>
            </a:lvl7pPr>
            <a:lvl8pPr marL="2600325" indent="0">
              <a:buNone/>
              <a:defRPr sz="1300" b="1"/>
            </a:lvl8pPr>
            <a:lvl9pPr marL="2971800" indent="0">
              <a:buNone/>
              <a:defRPr sz="13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5014913" y="2505075"/>
            <a:ext cx="4211340" cy="3684588"/>
          </a:xfrm>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8" name="바닥글 개체 틀 7"/>
          <p:cNvSpPr>
            <a:spLocks noGrp="1"/>
          </p:cNvSpPr>
          <p:nvPr>
            <p:ph type="ftr" sz="quarter" idx="11"/>
          </p:nvPr>
        </p:nvSpPr>
        <p:spPr/>
        <p:txBody>
          <a:bodyPr/>
          <a:lstStyle/>
          <a:p>
            <a:endParaRPr lang="en-US" dirty="0"/>
          </a:p>
        </p:txBody>
      </p:sp>
      <p:sp>
        <p:nvSpPr>
          <p:cNvPr id="9" name="슬라이드 번호 개체 틀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435602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a:xfrm>
            <a:off x="337161" y="107218"/>
            <a:ext cx="8543925" cy="439859"/>
          </a:xfrm>
        </p:spPr>
        <p:txBody>
          <a:bodyPr>
            <a:normAutofit/>
          </a:bodyPr>
          <a:lstStyle>
            <a:lvl1pPr>
              <a:defRPr sz="1600"/>
            </a:lvl1pPr>
          </a:lstStyle>
          <a:p>
            <a:r>
              <a:rPr lang="ko-KR" altLang="en-US" smtClean="0"/>
              <a:t>마스터 제목 스타일 편집</a:t>
            </a:r>
            <a:endParaRPr lang="ko-KR" altLang="en-US" dirty="0"/>
          </a:p>
        </p:txBody>
      </p:sp>
      <p:sp>
        <p:nvSpPr>
          <p:cNvPr id="3" name="날짜 개체 틀 2"/>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4" name="바닥글 개체 틀 3"/>
          <p:cNvSpPr>
            <a:spLocks noGrp="1"/>
          </p:cNvSpPr>
          <p:nvPr>
            <p:ph type="ftr" sz="quarter" idx="11"/>
          </p:nvPr>
        </p:nvSpPr>
        <p:spPr/>
        <p:txBody>
          <a:bodyPr/>
          <a:lstStyle/>
          <a:p>
            <a:endParaRPr lang="en-US" dirty="0"/>
          </a:p>
        </p:txBody>
      </p:sp>
      <p:sp>
        <p:nvSpPr>
          <p:cNvPr id="5" name="슬라이드 번호 개체 틀 4"/>
          <p:cNvSpPr>
            <a:spLocks noGrp="1"/>
          </p:cNvSpPr>
          <p:nvPr>
            <p:ph type="sldNum" sz="quarter" idx="12"/>
          </p:nvPr>
        </p:nvSpPr>
        <p:spPr/>
        <p:txBody>
          <a:bodyPr/>
          <a:lstStyle/>
          <a:p>
            <a:fld id="{48F63A3B-78C7-47BE-AE5E-E10140E04643}" type="slidenum">
              <a:rPr lang="en-US" smtClean="0"/>
              <a:t>‹#›</a:t>
            </a:fld>
            <a:endParaRPr lang="en-US" dirty="0"/>
          </a:p>
        </p:txBody>
      </p:sp>
      <p:cxnSp>
        <p:nvCxnSpPr>
          <p:cNvPr id="7" name="직선 연결선 6"/>
          <p:cNvCxnSpPr/>
          <p:nvPr/>
        </p:nvCxnSpPr>
        <p:spPr>
          <a:xfrm>
            <a:off x="0" y="547077"/>
            <a:ext cx="9906000" cy="0"/>
          </a:xfrm>
          <a:prstGeom prst="line">
            <a:avLst/>
          </a:prstGeom>
          <a:ln w="127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884019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3" name="바닥글 개체 틀 2"/>
          <p:cNvSpPr>
            <a:spLocks noGrp="1"/>
          </p:cNvSpPr>
          <p:nvPr>
            <p:ph type="ftr" sz="quarter" idx="11"/>
          </p:nvPr>
        </p:nvSpPr>
        <p:spPr/>
        <p:txBody>
          <a:bodyPr/>
          <a:lstStyle/>
          <a:p>
            <a:endParaRPr lang="en-US" dirty="0"/>
          </a:p>
        </p:txBody>
      </p:sp>
      <p:sp>
        <p:nvSpPr>
          <p:cNvPr id="4" name="슬라이드 번호 개체 틀 3"/>
          <p:cNvSpPr>
            <a:spLocks noGrp="1"/>
          </p:cNvSpPr>
          <p:nvPr>
            <p:ph type="sldNum" sz="quarter" idx="12"/>
          </p:nvPr>
        </p:nvSpPr>
        <p:spPr/>
        <p:txBody>
          <a:bodyPr/>
          <a:lstStyle/>
          <a:p>
            <a:fld id="{48F63A3B-78C7-47BE-AE5E-E10140E04643}" type="slidenum">
              <a:rPr lang="en-US" smtClean="0"/>
              <a:t>‹#›</a:t>
            </a:fld>
            <a:endParaRPr lang="en-US" dirty="0"/>
          </a:p>
        </p:txBody>
      </p:sp>
      <p:sp>
        <p:nvSpPr>
          <p:cNvPr id="5" name="Text Box 4"/>
          <p:cNvSpPr txBox="1">
            <a:spLocks noChangeArrowheads="1"/>
          </p:cNvSpPr>
          <p:nvPr userDrawn="1"/>
        </p:nvSpPr>
        <p:spPr bwMode="auto">
          <a:xfrm>
            <a:off x="4327525" y="122238"/>
            <a:ext cx="1211263" cy="338137"/>
          </a:xfrm>
          <a:prstGeom prst="rect">
            <a:avLst/>
          </a:prstGeom>
          <a:noFill/>
          <a:ln w="9525">
            <a:noFill/>
            <a:miter lim="800000"/>
            <a:headEnd/>
            <a:tailEnd/>
          </a:ln>
        </p:spPr>
        <p:txBody>
          <a:bodyPr wrap="none">
            <a:spAutoFit/>
          </a:bodyPr>
          <a:lstStyle/>
          <a:p>
            <a:pPr algn="ctr"/>
            <a:r>
              <a:rPr lang="ko-KR" altLang="en-US" sz="1600" b="1" u="sng" dirty="0" smtClean="0">
                <a:solidFill>
                  <a:srgbClr val="000000"/>
                </a:solidFill>
                <a:latin typeface="맑은 고딕" pitchFamily="50" charset="-127"/>
                <a:ea typeface="맑은 고딕" pitchFamily="50" charset="-127"/>
                <a:cs typeface="Arial" charset="0"/>
              </a:rPr>
              <a:t>출원품의서</a:t>
            </a:r>
            <a:endParaRPr lang="en-US" altLang="ko-KR" sz="1600" b="1" u="sng" dirty="0" smtClean="0">
              <a:solidFill>
                <a:srgbClr val="000000"/>
              </a:solidFill>
              <a:latin typeface="맑은 고딕" pitchFamily="50" charset="-127"/>
              <a:ea typeface="맑은 고딕" pitchFamily="50" charset="-127"/>
              <a:cs typeface="Arial" charset="0"/>
            </a:endParaRPr>
          </a:p>
        </p:txBody>
      </p:sp>
    </p:spTree>
    <p:extLst>
      <p:ext uri="{BB962C8B-B14F-4D97-AF65-F5344CB8AC3E}">
        <p14:creationId xmlns:p14="http://schemas.microsoft.com/office/powerpoint/2010/main" val="221130100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82328" y="457200"/>
            <a:ext cx="3194943" cy="1600200"/>
          </a:xfrm>
        </p:spPr>
        <p:txBody>
          <a:bodyPr anchor="b"/>
          <a:lstStyle>
            <a:lvl1pPr>
              <a:defRPr sz="2600"/>
            </a:lvl1pPr>
          </a:lstStyle>
          <a:p>
            <a:r>
              <a:rPr lang="ko-KR" altLang="en-US" smtClean="0"/>
              <a:t>마스터 제목 스타일 편집</a:t>
            </a:r>
            <a:endParaRPr lang="ko-KR" altLang="en-US"/>
          </a:p>
        </p:txBody>
      </p:sp>
      <p:sp>
        <p:nvSpPr>
          <p:cNvPr id="3" name="내용 개체 틀 2"/>
          <p:cNvSpPr>
            <a:spLocks noGrp="1"/>
          </p:cNvSpPr>
          <p:nvPr>
            <p:ph idx="1"/>
          </p:nvPr>
        </p:nvSpPr>
        <p:spPr>
          <a:xfrm>
            <a:off x="4211340" y="987426"/>
            <a:ext cx="5014913" cy="4873625"/>
          </a:xfrm>
        </p:spPr>
        <p:txBody>
          <a:bodyPr/>
          <a:lstStyle>
            <a:lvl1pPr>
              <a:defRPr sz="2600"/>
            </a:lvl1pPr>
            <a:lvl2pPr>
              <a:defRPr sz="2275"/>
            </a:lvl2pPr>
            <a:lvl3pPr>
              <a:defRPr sz="1950"/>
            </a:lvl3pPr>
            <a:lvl4pPr>
              <a:defRPr sz="1625"/>
            </a:lvl4pPr>
            <a:lvl5pPr>
              <a:defRPr sz="1625"/>
            </a:lvl5pPr>
            <a:lvl6pPr>
              <a:defRPr sz="1625"/>
            </a:lvl6pPr>
            <a:lvl7pPr>
              <a:defRPr sz="1625"/>
            </a:lvl7pPr>
            <a:lvl8pPr>
              <a:defRPr sz="1625"/>
            </a:lvl8pPr>
            <a:lvl9pPr>
              <a:defRPr sz="1625"/>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6" name="바닥글 개체 틀 5"/>
          <p:cNvSpPr>
            <a:spLocks noGrp="1"/>
          </p:cNvSpPr>
          <p:nvPr>
            <p:ph type="ftr" sz="quarter" idx="11"/>
          </p:nvPr>
        </p:nvSpPr>
        <p:spPr/>
        <p:txBody>
          <a:bodyPr/>
          <a:lstStyle/>
          <a:p>
            <a:endParaRPr lang="en-US" dirty="0"/>
          </a:p>
        </p:txBody>
      </p:sp>
      <p:sp>
        <p:nvSpPr>
          <p:cNvPr id="7" name="슬라이드 번호 개체 틀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913297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82328" y="457200"/>
            <a:ext cx="3194943" cy="1600200"/>
          </a:xfrm>
        </p:spPr>
        <p:txBody>
          <a:bodyPr anchor="b"/>
          <a:lstStyle>
            <a:lvl1pPr>
              <a:defRPr sz="2600"/>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4211340" y="987426"/>
            <a:ext cx="5014913" cy="4873625"/>
          </a:xfrm>
        </p:spPr>
        <p:txBody>
          <a:bodyPr/>
          <a:lstStyle>
            <a:lvl1pPr marL="0" indent="0">
              <a:buNone/>
              <a:defRPr sz="2600"/>
            </a:lvl1pPr>
            <a:lvl2pPr marL="371475" indent="0">
              <a:buNone/>
              <a:defRPr sz="2275"/>
            </a:lvl2pPr>
            <a:lvl3pPr marL="742950" indent="0">
              <a:buNone/>
              <a:defRPr sz="1950"/>
            </a:lvl3pPr>
            <a:lvl4pPr marL="1114425" indent="0">
              <a:buNone/>
              <a:defRPr sz="1625"/>
            </a:lvl4pPr>
            <a:lvl5pPr marL="1485900" indent="0">
              <a:buNone/>
              <a:defRPr sz="1625"/>
            </a:lvl5pPr>
            <a:lvl6pPr marL="1857375" indent="0">
              <a:buNone/>
              <a:defRPr sz="1625"/>
            </a:lvl6pPr>
            <a:lvl7pPr marL="2228850" indent="0">
              <a:buNone/>
              <a:defRPr sz="1625"/>
            </a:lvl7pPr>
            <a:lvl8pPr marL="2600325" indent="0">
              <a:buNone/>
              <a:defRPr sz="1625"/>
            </a:lvl8pPr>
            <a:lvl9pPr marL="2971800" indent="0">
              <a:buNone/>
              <a:defRPr sz="1625"/>
            </a:lvl9pPr>
          </a:lstStyle>
          <a:p>
            <a:r>
              <a:rPr lang="ko-KR" altLang="en-US" smtClean="0"/>
              <a:t>그림을 추가하려면 아이콘을 클릭하십시오</a:t>
            </a:r>
            <a:endParaRPr lang="ko-KR" altLang="en-US"/>
          </a:p>
        </p:txBody>
      </p:sp>
      <p:sp>
        <p:nvSpPr>
          <p:cNvPr id="4" name="텍스트 개체 틀 3"/>
          <p:cNvSpPr>
            <a:spLocks noGrp="1"/>
          </p:cNvSpPr>
          <p:nvPr>
            <p:ph type="body" sz="half" idx="2"/>
          </p:nvPr>
        </p:nvSpPr>
        <p:spPr>
          <a:xfrm>
            <a:off x="682328" y="2057400"/>
            <a:ext cx="3194943" cy="3811588"/>
          </a:xfrm>
        </p:spPr>
        <p:txBody>
          <a:bodyPr/>
          <a:lstStyle>
            <a:lvl1pPr marL="0" indent="0">
              <a:buNone/>
              <a:defRPr sz="1300"/>
            </a:lvl1pPr>
            <a:lvl2pPr marL="371475" indent="0">
              <a:buNone/>
              <a:defRPr sz="1138"/>
            </a:lvl2pPr>
            <a:lvl3pPr marL="742950" indent="0">
              <a:buNone/>
              <a:defRPr sz="975"/>
            </a:lvl3pPr>
            <a:lvl4pPr marL="1114425" indent="0">
              <a:buNone/>
              <a:defRPr sz="813"/>
            </a:lvl4pPr>
            <a:lvl5pPr marL="1485900" indent="0">
              <a:buNone/>
              <a:defRPr sz="813"/>
            </a:lvl5pPr>
            <a:lvl6pPr marL="1857375" indent="0">
              <a:buNone/>
              <a:defRPr sz="813"/>
            </a:lvl6pPr>
            <a:lvl7pPr marL="2228850" indent="0">
              <a:buNone/>
              <a:defRPr sz="813"/>
            </a:lvl7pPr>
            <a:lvl8pPr marL="2600325" indent="0">
              <a:buNone/>
              <a:defRPr sz="813"/>
            </a:lvl8pPr>
            <a:lvl9pPr marL="2971800" indent="0">
              <a:buNone/>
              <a:defRPr sz="813"/>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6" name="바닥글 개체 틀 5"/>
          <p:cNvSpPr>
            <a:spLocks noGrp="1"/>
          </p:cNvSpPr>
          <p:nvPr>
            <p:ph type="ftr" sz="quarter" idx="11"/>
          </p:nvPr>
        </p:nvSpPr>
        <p:spPr/>
        <p:txBody>
          <a:bodyPr/>
          <a:lstStyle/>
          <a:p>
            <a:endParaRPr lang="en-US" dirty="0"/>
          </a:p>
        </p:txBody>
      </p:sp>
      <p:sp>
        <p:nvSpPr>
          <p:cNvPr id="7" name="슬라이드 번호 개체 틀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0614834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5" name="바닥글 개체 틀 4"/>
          <p:cNvSpPr>
            <a:spLocks noGrp="1"/>
          </p:cNvSpPr>
          <p:nvPr>
            <p:ph type="ftr" sz="quarter" idx="11"/>
          </p:nvPr>
        </p:nvSpPr>
        <p:spPr/>
        <p:txBody>
          <a:bodyPr/>
          <a:lstStyle/>
          <a:p>
            <a:endParaRPr lang="en-US" dirty="0"/>
          </a:p>
        </p:txBody>
      </p:sp>
      <p:sp>
        <p:nvSpPr>
          <p:cNvPr id="6" name="슬라이드 번호 개체 틀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57370441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088981" y="365125"/>
            <a:ext cx="2135981" cy="5811838"/>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681037" y="365125"/>
            <a:ext cx="6284119" cy="5811838"/>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C764DE79-268F-4C1A-8933-263129D2AF90}" type="datetimeFigureOut">
              <a:rPr lang="en-US" smtClean="0"/>
              <a:t>12/23/2021</a:t>
            </a:fld>
            <a:endParaRPr lang="en-US" dirty="0"/>
          </a:p>
        </p:txBody>
      </p:sp>
      <p:sp>
        <p:nvSpPr>
          <p:cNvPr id="5" name="바닥글 개체 틀 4"/>
          <p:cNvSpPr>
            <a:spLocks noGrp="1"/>
          </p:cNvSpPr>
          <p:nvPr>
            <p:ph type="ftr" sz="quarter" idx="11"/>
          </p:nvPr>
        </p:nvSpPr>
        <p:spPr/>
        <p:txBody>
          <a:bodyPr/>
          <a:lstStyle/>
          <a:p>
            <a:endParaRPr lang="en-US" dirty="0"/>
          </a:p>
        </p:txBody>
      </p:sp>
      <p:sp>
        <p:nvSpPr>
          <p:cNvPr id="6" name="슬라이드 번호 개체 틀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04841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ko-KR" altLang="en-US" dirty="0" smtClean="0"/>
              <a:t>마스터 제목 스타일 편집</a:t>
            </a:r>
            <a:endParaRPr lang="ko-KR" altLang="en-US" dirty="0"/>
          </a:p>
        </p:txBody>
      </p:sp>
      <p:sp>
        <p:nvSpPr>
          <p:cNvPr id="3" name="텍스트 개체 틀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75000"/>
                  </a:schemeClr>
                </a:solidFill>
              </a:defRPr>
            </a:lvl1pPr>
          </a:lstStyle>
          <a:p>
            <a:fld id="{C764DE79-268F-4C1A-8933-263129D2AF90}" type="datetimeFigureOut">
              <a:rPr lang="en-US" smtClean="0"/>
              <a:t>12/23/2021</a:t>
            </a:fld>
            <a:endParaRPr lang="en-US" dirty="0"/>
          </a:p>
        </p:txBody>
      </p:sp>
      <p:sp>
        <p:nvSpPr>
          <p:cNvPr id="5" name="바닥글 개체 틀 4"/>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75000"/>
                  </a:schemeClr>
                </a:solidFill>
              </a:defRPr>
            </a:lvl1pPr>
          </a:lstStyle>
          <a:p>
            <a:endParaRPr lang="en-US" dirty="0"/>
          </a:p>
        </p:txBody>
      </p:sp>
      <p:sp>
        <p:nvSpPr>
          <p:cNvPr id="6" name="슬라이드 번호 개체 틀 5"/>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75000"/>
                  </a:schemeClr>
                </a:solidFill>
              </a:defRPr>
            </a:lvl1pPr>
          </a:lstStyle>
          <a:p>
            <a:fld id="{48F63A3B-78C7-47BE-AE5E-E10140E04643}" type="slidenum">
              <a:rPr lang="en-US" smtClean="0"/>
              <a:t>‹#›</a:t>
            </a:fld>
            <a:endParaRPr lang="en-US" dirty="0"/>
          </a:p>
        </p:txBody>
      </p:sp>
      <p:sp>
        <p:nvSpPr>
          <p:cNvPr id="7" name="TextBox 6"/>
          <p:cNvSpPr txBox="1"/>
          <p:nvPr userDrawn="1"/>
        </p:nvSpPr>
        <p:spPr>
          <a:xfrm>
            <a:off x="7799412" y="170461"/>
            <a:ext cx="1835696" cy="276999"/>
          </a:xfrm>
          <a:prstGeom prst="rect">
            <a:avLst/>
          </a:prstGeom>
          <a:noFill/>
          <a:ln>
            <a:solidFill>
              <a:srgbClr val="FF0000"/>
            </a:solidFill>
          </a:ln>
        </p:spPr>
        <p:txBody>
          <a:bodyPr wrap="square" rtlCol="0">
            <a:spAutoFit/>
          </a:bodyPr>
          <a:lstStyle/>
          <a:p>
            <a:pPr algn="ctr"/>
            <a:r>
              <a:rPr lang="en-US" altLang="ko-KR" sz="1200" dirty="0" smtClean="0">
                <a:solidFill>
                  <a:srgbClr val="FF0000"/>
                </a:solidFill>
                <a:latin typeface="Arial" panose="020B0604020202020204" pitchFamily="34" charset="0"/>
                <a:cs typeface="Arial" panose="020B0604020202020204" pitchFamily="34" charset="0"/>
              </a:rPr>
              <a:t>LGE</a:t>
            </a:r>
            <a:r>
              <a:rPr lang="en-US" altLang="ko-KR" sz="1200" baseline="0" dirty="0" smtClean="0">
                <a:solidFill>
                  <a:srgbClr val="FF0000"/>
                </a:solidFill>
                <a:latin typeface="Arial" panose="020B0604020202020204" pitchFamily="34" charset="0"/>
                <a:cs typeface="Arial" panose="020B0604020202020204" pitchFamily="34" charset="0"/>
              </a:rPr>
              <a:t> Internal Use Only</a:t>
            </a:r>
            <a:endParaRPr lang="ko-KR" altLang="en-US" sz="12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72266"/>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Lst>
  <p:timing>
    <p:tnLst>
      <p:par>
        <p:cTn id="1" dur="indefinite" restart="never" nodeType="tmRoot"/>
      </p:par>
    </p:tnLst>
  </p:timing>
  <p:txStyles>
    <p:titleStyle>
      <a:lvl1pPr algn="l" defTabSz="742950" rtl="0" eaLnBrk="1" latinLnBrk="1"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1"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1"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1"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ko-KR"/>
      </a:defPPr>
      <a:lvl1pPr marL="0" algn="l" defTabSz="742950" rtl="0" eaLnBrk="1" latinLnBrk="1" hangingPunct="1">
        <a:defRPr sz="1463" kern="1200">
          <a:solidFill>
            <a:schemeClr val="tx1"/>
          </a:solidFill>
          <a:latin typeface="+mn-lt"/>
          <a:ea typeface="+mn-ea"/>
          <a:cs typeface="+mn-cs"/>
        </a:defRPr>
      </a:lvl1pPr>
      <a:lvl2pPr marL="371475" algn="l" defTabSz="742950" rtl="0" eaLnBrk="1" latinLnBrk="1" hangingPunct="1">
        <a:defRPr sz="1463" kern="1200">
          <a:solidFill>
            <a:schemeClr val="tx1"/>
          </a:solidFill>
          <a:latin typeface="+mn-lt"/>
          <a:ea typeface="+mn-ea"/>
          <a:cs typeface="+mn-cs"/>
        </a:defRPr>
      </a:lvl2pPr>
      <a:lvl3pPr marL="742950" algn="l" defTabSz="742950" rtl="0" eaLnBrk="1" latinLnBrk="1" hangingPunct="1">
        <a:defRPr sz="1463" kern="1200">
          <a:solidFill>
            <a:schemeClr val="tx1"/>
          </a:solidFill>
          <a:latin typeface="+mn-lt"/>
          <a:ea typeface="+mn-ea"/>
          <a:cs typeface="+mn-cs"/>
        </a:defRPr>
      </a:lvl3pPr>
      <a:lvl4pPr marL="1114425" algn="l" defTabSz="742950" rtl="0" eaLnBrk="1" latinLnBrk="1" hangingPunct="1">
        <a:defRPr sz="1463" kern="1200">
          <a:solidFill>
            <a:schemeClr val="tx1"/>
          </a:solidFill>
          <a:latin typeface="+mn-lt"/>
          <a:ea typeface="+mn-ea"/>
          <a:cs typeface="+mn-cs"/>
        </a:defRPr>
      </a:lvl4pPr>
      <a:lvl5pPr marL="1485900" algn="l" defTabSz="742950" rtl="0" eaLnBrk="1" latinLnBrk="1" hangingPunct="1">
        <a:defRPr sz="1463" kern="1200">
          <a:solidFill>
            <a:schemeClr val="tx1"/>
          </a:solidFill>
          <a:latin typeface="+mn-lt"/>
          <a:ea typeface="+mn-ea"/>
          <a:cs typeface="+mn-cs"/>
        </a:defRPr>
      </a:lvl5pPr>
      <a:lvl6pPr marL="1857375" algn="l" defTabSz="742950" rtl="0" eaLnBrk="1" latinLnBrk="1" hangingPunct="1">
        <a:defRPr sz="1463" kern="1200">
          <a:solidFill>
            <a:schemeClr val="tx1"/>
          </a:solidFill>
          <a:latin typeface="+mn-lt"/>
          <a:ea typeface="+mn-ea"/>
          <a:cs typeface="+mn-cs"/>
        </a:defRPr>
      </a:lvl6pPr>
      <a:lvl7pPr marL="2228850" algn="l" defTabSz="742950" rtl="0" eaLnBrk="1" latinLnBrk="1" hangingPunct="1">
        <a:defRPr sz="1463" kern="1200">
          <a:solidFill>
            <a:schemeClr val="tx1"/>
          </a:solidFill>
          <a:latin typeface="+mn-lt"/>
          <a:ea typeface="+mn-ea"/>
          <a:cs typeface="+mn-cs"/>
        </a:defRPr>
      </a:lvl7pPr>
      <a:lvl8pPr marL="2600325" algn="l" defTabSz="742950" rtl="0" eaLnBrk="1" latinLnBrk="1" hangingPunct="1">
        <a:defRPr sz="1463" kern="1200">
          <a:solidFill>
            <a:schemeClr val="tx1"/>
          </a:solidFill>
          <a:latin typeface="+mn-lt"/>
          <a:ea typeface="+mn-ea"/>
          <a:cs typeface="+mn-cs"/>
        </a:defRPr>
      </a:lvl8pPr>
      <a:lvl9pPr marL="2971800" algn="l" defTabSz="742950" rtl="0" eaLnBrk="1" latinLnBrk="1"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606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ko-KR" altLang="en-US" dirty="0" smtClean="0"/>
              <a:t>마스터 제목 스타일 편집</a:t>
            </a:r>
            <a:endParaRPr lang="ko-KR" altLang="en-US" dirty="0"/>
          </a:p>
        </p:txBody>
      </p:sp>
      <p:sp>
        <p:nvSpPr>
          <p:cNvPr id="3" name="텍스트 개체 틀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975">
                <a:solidFill>
                  <a:schemeClr val="tx1">
                    <a:tint val="75000"/>
                  </a:schemeClr>
                </a:solidFill>
              </a:defRPr>
            </a:lvl1pPr>
          </a:lstStyle>
          <a:p>
            <a:fld id="{C764DE79-268F-4C1A-8933-263129D2AF90}" type="datetimeFigureOut">
              <a:rPr lang="en-US" smtClean="0"/>
              <a:t>12/23/2021</a:t>
            </a:fld>
            <a:endParaRPr lang="en-US" dirty="0"/>
          </a:p>
        </p:txBody>
      </p:sp>
      <p:sp>
        <p:nvSpPr>
          <p:cNvPr id="5" name="바닥글 개체 틀 4"/>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975">
                <a:solidFill>
                  <a:schemeClr val="tx1">
                    <a:tint val="75000"/>
                  </a:schemeClr>
                </a:solidFill>
              </a:defRPr>
            </a:lvl1pPr>
          </a:lstStyle>
          <a:p>
            <a:endParaRPr lang="en-US" dirty="0"/>
          </a:p>
        </p:txBody>
      </p:sp>
      <p:sp>
        <p:nvSpPr>
          <p:cNvPr id="6" name="슬라이드 번호 개체 틀 5"/>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975">
                <a:solidFill>
                  <a:schemeClr val="tx1">
                    <a:tint val="75000"/>
                  </a:schemeClr>
                </a:solidFill>
              </a:defRPr>
            </a:lvl1pPr>
          </a:lstStyle>
          <a:p>
            <a:fld id="{48F63A3B-78C7-47BE-AE5E-E10140E04643}" type="slidenum">
              <a:rPr lang="en-US" smtClean="0"/>
              <a:t>‹#›</a:t>
            </a:fld>
            <a:endParaRPr lang="en-US" dirty="0"/>
          </a:p>
        </p:txBody>
      </p:sp>
      <p:sp>
        <p:nvSpPr>
          <p:cNvPr id="8" name="TextBox 7"/>
          <p:cNvSpPr txBox="1"/>
          <p:nvPr userDrawn="1"/>
        </p:nvSpPr>
        <p:spPr>
          <a:xfrm>
            <a:off x="8085856" y="170461"/>
            <a:ext cx="1547664" cy="276999"/>
          </a:xfrm>
          <a:prstGeom prst="rect">
            <a:avLst/>
          </a:prstGeom>
          <a:noFill/>
          <a:ln>
            <a:solidFill>
              <a:srgbClr val="FF0000"/>
            </a:solidFill>
          </a:ln>
        </p:spPr>
        <p:txBody>
          <a:bodyPr wrap="square" rtlCol="0">
            <a:spAutoFit/>
          </a:bodyPr>
          <a:lstStyle/>
          <a:p>
            <a:pPr algn="ctr"/>
            <a:r>
              <a:rPr lang="en-US" altLang="ko-KR" sz="1200" dirty="0" smtClean="0">
                <a:solidFill>
                  <a:srgbClr val="FF0000"/>
                </a:solidFill>
                <a:latin typeface="Arial" panose="020B0604020202020204" pitchFamily="34" charset="0"/>
                <a:cs typeface="Arial" panose="020B0604020202020204" pitchFamily="34" charset="0"/>
              </a:rPr>
              <a:t>LGE</a:t>
            </a:r>
            <a:r>
              <a:rPr lang="en-US" altLang="ko-KR" sz="1200" baseline="0" dirty="0" smtClean="0">
                <a:solidFill>
                  <a:srgbClr val="FF0000"/>
                </a:solidFill>
                <a:latin typeface="Arial" panose="020B0604020202020204" pitchFamily="34" charset="0"/>
                <a:cs typeface="Arial" panose="020B0604020202020204" pitchFamily="34" charset="0"/>
              </a:rPr>
              <a:t> Confidential</a:t>
            </a:r>
            <a:endParaRPr lang="ko-KR" altLang="en-US" sz="12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8213122"/>
      </p:ext>
    </p:extLst>
  </p:cSld>
  <p:clrMap bg1="lt1" tx1="dk1" bg2="lt2" tx2="dk2" accent1="accent1" accent2="accent2" accent3="accent3" accent4="accent4" accent5="accent5" accent6="accent6" hlink="hlink" folHlink="folHlink"/>
  <p:sldLayoutIdLst>
    <p:sldLayoutId id="2147483772" r:id="rId1"/>
    <p:sldLayoutId id="2147483773" r:id="rId2"/>
    <p:sldLayoutId id="2147483774" r:id="rId3"/>
    <p:sldLayoutId id="2147483775" r:id="rId4"/>
    <p:sldLayoutId id="2147483776" r:id="rId5"/>
    <p:sldLayoutId id="2147483777" r:id="rId6"/>
    <p:sldLayoutId id="2147483778" r:id="rId7"/>
    <p:sldLayoutId id="2147483779" r:id="rId8"/>
    <p:sldLayoutId id="2147483780" r:id="rId9"/>
    <p:sldLayoutId id="2147483781" r:id="rId10"/>
    <p:sldLayoutId id="2147483782" r:id="rId11"/>
  </p:sldLayoutIdLst>
  <p:timing>
    <p:tnLst>
      <p:par>
        <p:cTn id="1" dur="indefinite" restart="never" nodeType="tmRoot"/>
      </p:par>
    </p:tnLst>
  </p:timing>
  <p:txStyles>
    <p:titleStyle>
      <a:lvl1pPr algn="l" defTabSz="742950" rtl="0" eaLnBrk="1" latinLnBrk="1" hangingPunct="1">
        <a:lnSpc>
          <a:spcPct val="90000"/>
        </a:lnSpc>
        <a:spcBef>
          <a:spcPct val="0"/>
        </a:spcBef>
        <a:buNone/>
        <a:defRPr sz="3575" kern="1200">
          <a:solidFill>
            <a:schemeClr val="tx1"/>
          </a:solidFill>
          <a:latin typeface="+mj-lt"/>
          <a:ea typeface="+mj-ea"/>
          <a:cs typeface="+mj-cs"/>
        </a:defRPr>
      </a:lvl1pPr>
    </p:titleStyle>
    <p:bodyStyle>
      <a:lvl1pPr marL="185738" indent="-185738" algn="l" defTabSz="742950" rtl="0" eaLnBrk="1" latinLnBrk="1" hangingPunct="1">
        <a:lnSpc>
          <a:spcPct val="90000"/>
        </a:lnSpc>
        <a:spcBef>
          <a:spcPts val="813"/>
        </a:spcBef>
        <a:buFont typeface="Arial" panose="020B0604020202020204" pitchFamily="34" charset="0"/>
        <a:buChar char="•"/>
        <a:defRPr sz="2275" kern="1200">
          <a:solidFill>
            <a:schemeClr val="tx1"/>
          </a:solidFill>
          <a:latin typeface="+mn-lt"/>
          <a:ea typeface="+mn-ea"/>
          <a:cs typeface="+mn-cs"/>
        </a:defRPr>
      </a:lvl1pPr>
      <a:lvl2pPr marL="557213" indent="-185738" algn="l" defTabSz="742950" rtl="0" eaLnBrk="1" latinLnBrk="1" hangingPunct="1">
        <a:lnSpc>
          <a:spcPct val="90000"/>
        </a:lnSpc>
        <a:spcBef>
          <a:spcPts val="406"/>
        </a:spcBef>
        <a:buFont typeface="Arial" panose="020B0604020202020204" pitchFamily="34" charset="0"/>
        <a:buChar char="•"/>
        <a:defRPr sz="1950" kern="1200">
          <a:solidFill>
            <a:schemeClr val="tx1"/>
          </a:solidFill>
          <a:latin typeface="+mn-lt"/>
          <a:ea typeface="+mn-ea"/>
          <a:cs typeface="+mn-cs"/>
        </a:defRPr>
      </a:lvl2pPr>
      <a:lvl3pPr marL="928688" indent="-185738" algn="l" defTabSz="742950" rtl="0" eaLnBrk="1" latinLnBrk="1" hangingPunct="1">
        <a:lnSpc>
          <a:spcPct val="90000"/>
        </a:lnSpc>
        <a:spcBef>
          <a:spcPts val="406"/>
        </a:spcBef>
        <a:buFont typeface="Arial" panose="020B0604020202020204" pitchFamily="34" charset="0"/>
        <a:buChar char="•"/>
        <a:defRPr sz="1625" kern="1200">
          <a:solidFill>
            <a:schemeClr val="tx1"/>
          </a:solidFill>
          <a:latin typeface="+mn-lt"/>
          <a:ea typeface="+mn-ea"/>
          <a:cs typeface="+mn-cs"/>
        </a:defRPr>
      </a:lvl3pPr>
      <a:lvl4pPr marL="13001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4pPr>
      <a:lvl5pPr marL="16716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5pPr>
      <a:lvl6pPr marL="204311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6pPr>
      <a:lvl7pPr marL="241458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7pPr>
      <a:lvl8pPr marL="2786063"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8pPr>
      <a:lvl9pPr marL="3157538" indent="-185738" algn="l" defTabSz="742950" rtl="0" eaLnBrk="1" latinLnBrk="1" hangingPunct="1">
        <a:lnSpc>
          <a:spcPct val="90000"/>
        </a:lnSpc>
        <a:spcBef>
          <a:spcPts val="406"/>
        </a:spcBef>
        <a:buFont typeface="Arial" panose="020B0604020202020204" pitchFamily="34" charset="0"/>
        <a:buChar char="•"/>
        <a:defRPr sz="1463" kern="1200">
          <a:solidFill>
            <a:schemeClr val="tx1"/>
          </a:solidFill>
          <a:latin typeface="+mn-lt"/>
          <a:ea typeface="+mn-ea"/>
          <a:cs typeface="+mn-cs"/>
        </a:defRPr>
      </a:lvl9pPr>
    </p:bodyStyle>
    <p:otherStyle>
      <a:defPPr>
        <a:defRPr lang="ko-KR"/>
      </a:defPPr>
      <a:lvl1pPr marL="0" algn="l" defTabSz="742950" rtl="0" eaLnBrk="1" latinLnBrk="1" hangingPunct="1">
        <a:defRPr sz="1463" kern="1200">
          <a:solidFill>
            <a:schemeClr val="tx1"/>
          </a:solidFill>
          <a:latin typeface="+mn-lt"/>
          <a:ea typeface="+mn-ea"/>
          <a:cs typeface="+mn-cs"/>
        </a:defRPr>
      </a:lvl1pPr>
      <a:lvl2pPr marL="371475" algn="l" defTabSz="742950" rtl="0" eaLnBrk="1" latinLnBrk="1" hangingPunct="1">
        <a:defRPr sz="1463" kern="1200">
          <a:solidFill>
            <a:schemeClr val="tx1"/>
          </a:solidFill>
          <a:latin typeface="+mn-lt"/>
          <a:ea typeface="+mn-ea"/>
          <a:cs typeface="+mn-cs"/>
        </a:defRPr>
      </a:lvl2pPr>
      <a:lvl3pPr marL="742950" algn="l" defTabSz="742950" rtl="0" eaLnBrk="1" latinLnBrk="1" hangingPunct="1">
        <a:defRPr sz="1463" kern="1200">
          <a:solidFill>
            <a:schemeClr val="tx1"/>
          </a:solidFill>
          <a:latin typeface="+mn-lt"/>
          <a:ea typeface="+mn-ea"/>
          <a:cs typeface="+mn-cs"/>
        </a:defRPr>
      </a:lvl3pPr>
      <a:lvl4pPr marL="1114425" algn="l" defTabSz="742950" rtl="0" eaLnBrk="1" latinLnBrk="1" hangingPunct="1">
        <a:defRPr sz="1463" kern="1200">
          <a:solidFill>
            <a:schemeClr val="tx1"/>
          </a:solidFill>
          <a:latin typeface="+mn-lt"/>
          <a:ea typeface="+mn-ea"/>
          <a:cs typeface="+mn-cs"/>
        </a:defRPr>
      </a:lvl4pPr>
      <a:lvl5pPr marL="1485900" algn="l" defTabSz="742950" rtl="0" eaLnBrk="1" latinLnBrk="1" hangingPunct="1">
        <a:defRPr sz="1463" kern="1200">
          <a:solidFill>
            <a:schemeClr val="tx1"/>
          </a:solidFill>
          <a:latin typeface="+mn-lt"/>
          <a:ea typeface="+mn-ea"/>
          <a:cs typeface="+mn-cs"/>
        </a:defRPr>
      </a:lvl5pPr>
      <a:lvl6pPr marL="1857375" algn="l" defTabSz="742950" rtl="0" eaLnBrk="1" latinLnBrk="1" hangingPunct="1">
        <a:defRPr sz="1463" kern="1200">
          <a:solidFill>
            <a:schemeClr val="tx1"/>
          </a:solidFill>
          <a:latin typeface="+mn-lt"/>
          <a:ea typeface="+mn-ea"/>
          <a:cs typeface="+mn-cs"/>
        </a:defRPr>
      </a:lvl6pPr>
      <a:lvl7pPr marL="2228850" algn="l" defTabSz="742950" rtl="0" eaLnBrk="1" latinLnBrk="1" hangingPunct="1">
        <a:defRPr sz="1463" kern="1200">
          <a:solidFill>
            <a:schemeClr val="tx1"/>
          </a:solidFill>
          <a:latin typeface="+mn-lt"/>
          <a:ea typeface="+mn-ea"/>
          <a:cs typeface="+mn-cs"/>
        </a:defRPr>
      </a:lvl7pPr>
      <a:lvl8pPr marL="2600325" algn="l" defTabSz="742950" rtl="0" eaLnBrk="1" latinLnBrk="1" hangingPunct="1">
        <a:defRPr sz="1463" kern="1200">
          <a:solidFill>
            <a:schemeClr val="tx1"/>
          </a:solidFill>
          <a:latin typeface="+mn-lt"/>
          <a:ea typeface="+mn-ea"/>
          <a:cs typeface="+mn-cs"/>
        </a:defRPr>
      </a:lvl8pPr>
      <a:lvl9pPr marL="2971800" algn="l" defTabSz="742950" rtl="0" eaLnBrk="1" latinLnBrk="1" hangingPunct="1">
        <a:defRPr sz="14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606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44"/>
          <p:cNvSpPr>
            <a:spLocks noChangeArrowheads="1"/>
          </p:cNvSpPr>
          <p:nvPr/>
        </p:nvSpPr>
        <p:spPr bwMode="auto">
          <a:xfrm>
            <a:off x="1280275" y="5265467"/>
            <a:ext cx="2012950" cy="361950"/>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j-ea"/>
                <a:cs typeface="Arial" charset="0"/>
              </a:rPr>
              <a:t>08-1. Project Name</a:t>
            </a:r>
          </a:p>
        </p:txBody>
      </p:sp>
      <p:sp>
        <p:nvSpPr>
          <p:cNvPr id="5" name="직사각형 44"/>
          <p:cNvSpPr>
            <a:spLocks noChangeArrowheads="1"/>
          </p:cNvSpPr>
          <p:nvPr/>
        </p:nvSpPr>
        <p:spPr bwMode="auto">
          <a:xfrm>
            <a:off x="3293225" y="5265467"/>
            <a:ext cx="2019815" cy="361950"/>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j-ea"/>
                <a:cs typeface="Arial" charset="0"/>
              </a:rPr>
              <a:t>LG – Smart Service</a:t>
            </a:r>
          </a:p>
          <a:p>
            <a:pPr algn="ctr"/>
            <a:r>
              <a:rPr lang="en-US" altLang="ko-KR" sz="1100" dirty="0" smtClean="0">
                <a:solidFill>
                  <a:srgbClr val="000000"/>
                </a:solidFill>
                <a:latin typeface="+mj-lt"/>
                <a:ea typeface="+mj-ea"/>
                <a:cs typeface="Arial" charset="0"/>
              </a:rPr>
              <a:t>(Could be extension of KER)</a:t>
            </a:r>
          </a:p>
        </p:txBody>
      </p:sp>
      <p:sp>
        <p:nvSpPr>
          <p:cNvPr id="6" name="직사각형 18"/>
          <p:cNvSpPr>
            <a:spLocks noChangeArrowheads="1"/>
          </p:cNvSpPr>
          <p:nvPr/>
        </p:nvSpPr>
        <p:spPr bwMode="auto">
          <a:xfrm>
            <a:off x="260350" y="5265785"/>
            <a:ext cx="1019925" cy="1092385"/>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j-ea"/>
                <a:cs typeface="Arial" charset="0"/>
              </a:rPr>
              <a:t>08.</a:t>
            </a:r>
          </a:p>
          <a:p>
            <a:pPr algn="ctr"/>
            <a:r>
              <a:rPr lang="en-US" altLang="ko-KR" sz="1100" dirty="0" smtClean="0">
                <a:solidFill>
                  <a:srgbClr val="000000"/>
                </a:solidFill>
                <a:latin typeface="+mj-lt"/>
                <a:ea typeface="+mj-ea"/>
                <a:cs typeface="Arial" charset="0"/>
              </a:rPr>
              <a:t>Project Information</a:t>
            </a:r>
          </a:p>
        </p:txBody>
      </p:sp>
      <p:sp>
        <p:nvSpPr>
          <p:cNvPr id="7" name="직사각형 44"/>
          <p:cNvSpPr>
            <a:spLocks noChangeArrowheads="1"/>
          </p:cNvSpPr>
          <p:nvPr/>
        </p:nvSpPr>
        <p:spPr bwMode="auto">
          <a:xfrm>
            <a:off x="1280275" y="5634385"/>
            <a:ext cx="2012950" cy="361950"/>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j-ea"/>
                <a:cs typeface="Arial" charset="0"/>
              </a:rPr>
              <a:t>08-2. Release date</a:t>
            </a:r>
          </a:p>
        </p:txBody>
      </p:sp>
      <p:sp>
        <p:nvSpPr>
          <p:cNvPr id="8" name="직사각형 44"/>
          <p:cNvSpPr>
            <a:spLocks noChangeArrowheads="1"/>
          </p:cNvSpPr>
          <p:nvPr/>
        </p:nvSpPr>
        <p:spPr bwMode="auto">
          <a:xfrm>
            <a:off x="3293225" y="5634385"/>
            <a:ext cx="2019815" cy="361950"/>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j-ea"/>
                <a:cs typeface="Arial" charset="0"/>
              </a:rPr>
              <a:t>2022</a:t>
            </a:r>
          </a:p>
        </p:txBody>
      </p:sp>
      <p:sp>
        <p:nvSpPr>
          <p:cNvPr id="9" name="직사각형 44"/>
          <p:cNvSpPr>
            <a:spLocks noChangeArrowheads="1"/>
          </p:cNvSpPr>
          <p:nvPr/>
        </p:nvSpPr>
        <p:spPr bwMode="auto">
          <a:xfrm>
            <a:off x="1280275" y="5996335"/>
            <a:ext cx="2012950" cy="361950"/>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j-ea"/>
                <a:cs typeface="Arial" charset="0"/>
              </a:rPr>
              <a:t>08-3. Counterpart in Korea</a:t>
            </a:r>
          </a:p>
        </p:txBody>
      </p:sp>
      <p:sp>
        <p:nvSpPr>
          <p:cNvPr id="10" name="직사각형 44"/>
          <p:cNvSpPr>
            <a:spLocks noChangeArrowheads="1"/>
          </p:cNvSpPr>
          <p:nvPr/>
        </p:nvSpPr>
        <p:spPr bwMode="auto">
          <a:xfrm>
            <a:off x="3293225" y="5996335"/>
            <a:ext cx="2019815" cy="361950"/>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j-ea"/>
                <a:cs typeface="Arial" charset="0"/>
              </a:rPr>
              <a:t>AI Lab</a:t>
            </a:r>
          </a:p>
        </p:txBody>
      </p:sp>
      <p:sp>
        <p:nvSpPr>
          <p:cNvPr id="11" name="직사각형 44"/>
          <p:cNvSpPr>
            <a:spLocks noChangeArrowheads="1"/>
          </p:cNvSpPr>
          <p:nvPr/>
        </p:nvSpPr>
        <p:spPr bwMode="auto">
          <a:xfrm>
            <a:off x="5313040" y="5265467"/>
            <a:ext cx="992364" cy="1092818"/>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j-ea"/>
                <a:cs typeface="Arial" charset="0"/>
              </a:rPr>
              <a:t>09. keyword</a:t>
            </a:r>
          </a:p>
        </p:txBody>
      </p:sp>
      <p:sp>
        <p:nvSpPr>
          <p:cNvPr id="12" name="직사각형 44"/>
          <p:cNvSpPr>
            <a:spLocks noChangeArrowheads="1"/>
          </p:cNvSpPr>
          <p:nvPr/>
        </p:nvSpPr>
        <p:spPr bwMode="auto">
          <a:xfrm>
            <a:off x="6305404" y="5265466"/>
            <a:ext cx="3291033" cy="1092703"/>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j-ea"/>
                <a:cs typeface="Arial" charset="0"/>
              </a:rPr>
              <a:t>Smart Service, Trouble Shooting, Service registration, Fixing issues</a:t>
            </a:r>
          </a:p>
        </p:txBody>
      </p:sp>
      <p:sp>
        <p:nvSpPr>
          <p:cNvPr id="18" name="직사각형 64"/>
          <p:cNvSpPr>
            <a:spLocks noChangeArrowheads="1"/>
          </p:cNvSpPr>
          <p:nvPr/>
        </p:nvSpPr>
        <p:spPr bwMode="auto">
          <a:xfrm>
            <a:off x="260350" y="1759281"/>
            <a:ext cx="588194" cy="1031092"/>
          </a:xfrm>
          <a:prstGeom prst="rect">
            <a:avLst/>
          </a:prstGeom>
          <a:noFill/>
          <a:ln w="9525" algn="ctr">
            <a:solidFill>
              <a:schemeClr val="tx1"/>
            </a:solidFill>
            <a:round/>
            <a:headEnd/>
            <a:tailEnd/>
          </a:ln>
        </p:spPr>
        <p:txBody>
          <a:bodyPr anchor="ctr"/>
          <a:lstStyle/>
          <a:p>
            <a:pPr algn="ctr"/>
            <a:r>
              <a:rPr lang="en-US" altLang="ko-KR" sz="1050" dirty="0" smtClean="0">
                <a:solidFill>
                  <a:srgbClr val="000000"/>
                </a:solidFill>
                <a:latin typeface="+mj-lt"/>
                <a:ea typeface="+mj-ea"/>
              </a:rPr>
              <a:t>04.</a:t>
            </a:r>
          </a:p>
          <a:p>
            <a:pPr algn="ctr"/>
            <a:r>
              <a:rPr lang="en-US" altLang="ko-KR" sz="1050" dirty="0" smtClean="0">
                <a:solidFill>
                  <a:srgbClr val="000000"/>
                </a:solidFill>
                <a:latin typeface="+mj-lt"/>
                <a:ea typeface="+mj-ea"/>
              </a:rPr>
              <a:t>Problem</a:t>
            </a:r>
          </a:p>
        </p:txBody>
      </p:sp>
      <p:sp>
        <p:nvSpPr>
          <p:cNvPr id="19" name="직사각형 64"/>
          <p:cNvSpPr>
            <a:spLocks noChangeArrowheads="1"/>
          </p:cNvSpPr>
          <p:nvPr/>
        </p:nvSpPr>
        <p:spPr bwMode="auto">
          <a:xfrm>
            <a:off x="848545" y="1759281"/>
            <a:ext cx="4104456" cy="1031092"/>
          </a:xfrm>
          <a:prstGeom prst="rect">
            <a:avLst/>
          </a:prstGeom>
          <a:noFill/>
          <a:ln w="9525" algn="ctr">
            <a:solidFill>
              <a:schemeClr val="tx1"/>
            </a:solidFill>
            <a:round/>
            <a:headEnd/>
            <a:tailEnd/>
          </a:ln>
        </p:spPr>
        <p:txBody>
          <a:bodyPr anchor="ctr"/>
          <a:lstStyle/>
          <a:p>
            <a:pPr marL="171450" indent="-171450">
              <a:buFont typeface="Arial" panose="020B0604020202020204" pitchFamily="34" charset="0"/>
              <a:buChar char="•"/>
            </a:pPr>
            <a:r>
              <a:rPr lang="en-US" altLang="ko-KR" sz="1100" dirty="0" smtClean="0">
                <a:solidFill>
                  <a:srgbClr val="000000"/>
                </a:solidFill>
                <a:latin typeface="+mj-lt"/>
                <a:ea typeface="+mj-ea"/>
                <a:cs typeface="Arial" charset="0"/>
              </a:rPr>
              <a:t>User’s may encounter problem with their devices anytime. </a:t>
            </a:r>
          </a:p>
          <a:p>
            <a:pPr marL="171450" indent="-171450">
              <a:buFont typeface="Arial" panose="020B0604020202020204" pitchFamily="34" charset="0"/>
              <a:buChar char="•"/>
            </a:pPr>
            <a:r>
              <a:rPr lang="en-US" altLang="ko-KR" sz="1100" dirty="0" smtClean="0">
                <a:solidFill>
                  <a:srgbClr val="000000"/>
                </a:solidFill>
                <a:latin typeface="+mj-lt"/>
                <a:ea typeface="+mj-ea"/>
                <a:cs typeface="Arial" charset="0"/>
              </a:rPr>
              <a:t>Intelligent query formation using text, audio, images and interact with </a:t>
            </a:r>
            <a:r>
              <a:rPr lang="en-US" altLang="ko-KR" sz="1100" dirty="0" err="1" smtClean="0">
                <a:solidFill>
                  <a:srgbClr val="000000"/>
                </a:solidFill>
                <a:latin typeface="+mj-lt"/>
                <a:ea typeface="+mj-ea"/>
                <a:cs typeface="Arial" charset="0"/>
              </a:rPr>
              <a:t>ThinQ</a:t>
            </a:r>
            <a:r>
              <a:rPr lang="en-US" altLang="ko-KR" sz="1100" dirty="0" smtClean="0">
                <a:solidFill>
                  <a:srgbClr val="000000"/>
                </a:solidFill>
                <a:latin typeface="+mj-lt"/>
                <a:ea typeface="+mj-ea"/>
                <a:cs typeface="Arial" charset="0"/>
              </a:rPr>
              <a:t> , get the problem solved OR reported at the service </a:t>
            </a:r>
            <a:r>
              <a:rPr lang="en-US" altLang="ko-KR" sz="1100" dirty="0" err="1" smtClean="0">
                <a:solidFill>
                  <a:srgbClr val="000000"/>
                </a:solidFill>
                <a:latin typeface="+mj-lt"/>
                <a:ea typeface="+mj-ea"/>
                <a:cs typeface="Arial" charset="0"/>
              </a:rPr>
              <a:t>centre</a:t>
            </a:r>
            <a:r>
              <a:rPr lang="en-US" altLang="ko-KR" sz="1100" dirty="0" smtClean="0">
                <a:solidFill>
                  <a:srgbClr val="000000"/>
                </a:solidFill>
                <a:latin typeface="+mj-lt"/>
                <a:ea typeface="+mj-ea"/>
                <a:cs typeface="Arial" charset="0"/>
              </a:rPr>
              <a:t>. </a:t>
            </a:r>
          </a:p>
          <a:p>
            <a:pPr marL="171450" indent="-171450">
              <a:buFont typeface="Arial" panose="020B0604020202020204" pitchFamily="34" charset="0"/>
              <a:buChar char="•"/>
            </a:pPr>
            <a:r>
              <a:rPr lang="en-US" altLang="ko-KR" sz="1100" dirty="0" smtClean="0">
                <a:solidFill>
                  <a:srgbClr val="000000"/>
                </a:solidFill>
                <a:latin typeface="+mj-lt"/>
                <a:ea typeface="+mj-ea"/>
                <a:cs typeface="Arial" charset="0"/>
              </a:rPr>
              <a:t>Currently there is no intelligent statistical AI model  to leverage on the multimodal data and to categorize the issues and track the count.</a:t>
            </a:r>
          </a:p>
          <a:p>
            <a:pPr marL="171450" indent="-171450">
              <a:buFont typeface="Arial" panose="020B0604020202020204" pitchFamily="34" charset="0"/>
              <a:buChar char="•"/>
            </a:pPr>
            <a:r>
              <a:rPr lang="en-US" altLang="ko-KR" sz="1100" dirty="0" smtClean="0">
                <a:solidFill>
                  <a:srgbClr val="000000"/>
                </a:solidFill>
                <a:latin typeface="+mj-lt"/>
                <a:ea typeface="+mj-ea"/>
                <a:cs typeface="Arial" charset="0"/>
              </a:rPr>
              <a:t>Goal is to keep the track of issues and notifies back to the company</a:t>
            </a:r>
            <a:endParaRPr lang="en-US" altLang="ko-KR" sz="1100" dirty="0">
              <a:solidFill>
                <a:srgbClr val="000000"/>
              </a:solidFill>
              <a:latin typeface="+mj-lt"/>
              <a:ea typeface="+mj-ea"/>
              <a:cs typeface="Arial" charset="0"/>
            </a:endParaRPr>
          </a:p>
        </p:txBody>
      </p:sp>
      <p:sp>
        <p:nvSpPr>
          <p:cNvPr id="21" name="직사각형 64"/>
          <p:cNvSpPr>
            <a:spLocks noChangeArrowheads="1"/>
          </p:cNvSpPr>
          <p:nvPr/>
        </p:nvSpPr>
        <p:spPr bwMode="auto">
          <a:xfrm>
            <a:off x="260350" y="2791457"/>
            <a:ext cx="588194" cy="1384763"/>
          </a:xfrm>
          <a:prstGeom prst="rect">
            <a:avLst/>
          </a:prstGeom>
          <a:noFill/>
          <a:ln w="9525" algn="ctr">
            <a:solidFill>
              <a:schemeClr val="tx1"/>
            </a:solidFill>
            <a:round/>
            <a:headEnd/>
            <a:tailEnd/>
          </a:ln>
        </p:spPr>
        <p:txBody>
          <a:bodyPr anchor="ctr"/>
          <a:lstStyle/>
          <a:p>
            <a:pPr algn="ctr"/>
            <a:r>
              <a:rPr lang="en-US" altLang="ko-KR" sz="1050" dirty="0" smtClean="0">
                <a:solidFill>
                  <a:srgbClr val="000000"/>
                </a:solidFill>
                <a:latin typeface="+mj-lt"/>
                <a:ea typeface="+mj-ea"/>
              </a:rPr>
              <a:t>05.</a:t>
            </a:r>
          </a:p>
          <a:p>
            <a:pPr algn="ctr"/>
            <a:r>
              <a:rPr lang="en-US" altLang="ko-KR" sz="1050" dirty="0" smtClean="0">
                <a:solidFill>
                  <a:srgbClr val="000000"/>
                </a:solidFill>
                <a:latin typeface="+mj-lt"/>
                <a:ea typeface="+mj-ea"/>
              </a:rPr>
              <a:t>Solution</a:t>
            </a:r>
          </a:p>
        </p:txBody>
      </p:sp>
      <p:sp>
        <p:nvSpPr>
          <p:cNvPr id="22" name="직사각형 64"/>
          <p:cNvSpPr>
            <a:spLocks noChangeArrowheads="1"/>
          </p:cNvSpPr>
          <p:nvPr/>
        </p:nvSpPr>
        <p:spPr bwMode="auto">
          <a:xfrm>
            <a:off x="848545" y="2791457"/>
            <a:ext cx="4104456" cy="1384763"/>
          </a:xfrm>
          <a:prstGeom prst="rect">
            <a:avLst/>
          </a:prstGeom>
          <a:noFill/>
          <a:ln w="9525" algn="ctr">
            <a:solidFill>
              <a:schemeClr val="tx1"/>
            </a:solidFill>
            <a:round/>
            <a:headEnd/>
            <a:tailEnd/>
          </a:ln>
        </p:spPr>
        <p:txBody>
          <a:bodyPr anchor="ctr"/>
          <a:lstStyle/>
          <a:p>
            <a:pPr marL="171450" lvl="0" indent="-171450">
              <a:buFont typeface="Arial" panose="020B0604020202020204" pitchFamily="34" charset="0"/>
              <a:buChar char="•"/>
            </a:pPr>
            <a:r>
              <a:rPr lang="en-IN" altLang="ko-KR" sz="1100" dirty="0" smtClean="0">
                <a:solidFill>
                  <a:srgbClr val="000000"/>
                </a:solidFill>
                <a:latin typeface="Arial Narrow"/>
                <a:ea typeface="+mj-ea"/>
                <a:cs typeface="Arial" charset="0"/>
              </a:rPr>
              <a:t>Our system, Intelligent Statistical AI model integrated with </a:t>
            </a:r>
            <a:r>
              <a:rPr lang="en-IN" altLang="ko-KR" sz="1100" dirty="0" err="1" smtClean="0">
                <a:solidFill>
                  <a:srgbClr val="000000"/>
                </a:solidFill>
                <a:latin typeface="Arial Narrow"/>
                <a:ea typeface="+mj-ea"/>
                <a:cs typeface="Arial" charset="0"/>
              </a:rPr>
              <a:t>ThinQ</a:t>
            </a:r>
            <a:r>
              <a:rPr lang="en-IN" altLang="ko-KR" sz="1100" dirty="0" smtClean="0">
                <a:solidFill>
                  <a:srgbClr val="000000"/>
                </a:solidFill>
                <a:latin typeface="Arial Narrow"/>
                <a:ea typeface="+mj-ea"/>
                <a:cs typeface="Arial" charset="0"/>
              </a:rPr>
              <a:t> system will </a:t>
            </a:r>
            <a:r>
              <a:rPr lang="en-IN" altLang="ko-KR" sz="1100" dirty="0" err="1" smtClean="0">
                <a:solidFill>
                  <a:srgbClr val="000000"/>
                </a:solidFill>
                <a:latin typeface="Arial Narrow"/>
                <a:ea typeface="+mj-ea"/>
                <a:cs typeface="Arial" charset="0"/>
              </a:rPr>
              <a:t>analyze</a:t>
            </a:r>
            <a:r>
              <a:rPr lang="en-IN" altLang="ko-KR" sz="1100" dirty="0" smtClean="0">
                <a:solidFill>
                  <a:srgbClr val="000000"/>
                </a:solidFill>
                <a:latin typeface="Arial Narrow"/>
                <a:ea typeface="+mj-ea"/>
                <a:cs typeface="Arial" charset="0"/>
              </a:rPr>
              <a:t>, categorize</a:t>
            </a:r>
            <a:r>
              <a:rPr lang="en-IN" altLang="ko-KR" sz="1100" dirty="0">
                <a:solidFill>
                  <a:srgbClr val="000000"/>
                </a:solidFill>
                <a:latin typeface="Arial Narrow"/>
                <a:ea typeface="+mj-ea"/>
                <a:cs typeface="Arial" charset="0"/>
              </a:rPr>
              <a:t> </a:t>
            </a:r>
            <a:r>
              <a:rPr lang="en-IN" altLang="ko-KR" sz="1100" dirty="0" smtClean="0">
                <a:solidFill>
                  <a:srgbClr val="000000"/>
                </a:solidFill>
                <a:latin typeface="Arial Narrow"/>
                <a:ea typeface="+mj-ea"/>
                <a:cs typeface="Arial" charset="0"/>
              </a:rPr>
              <a:t>and keeps the track of count of all issues.</a:t>
            </a:r>
          </a:p>
          <a:p>
            <a:pPr marL="171450" lvl="0" indent="-171450">
              <a:buFont typeface="Arial" panose="020B0604020202020204" pitchFamily="34" charset="0"/>
              <a:buChar char="•"/>
            </a:pPr>
            <a:r>
              <a:rPr lang="en-IN" altLang="ko-KR" sz="1100" dirty="0" smtClean="0">
                <a:solidFill>
                  <a:srgbClr val="000000"/>
                </a:solidFill>
                <a:latin typeface="Arial Narrow"/>
                <a:ea typeface="+mj-ea"/>
                <a:cs typeface="Arial" charset="0"/>
              </a:rPr>
              <a:t>It leverages on multimodal data, capture all the aspects of the issues. </a:t>
            </a:r>
          </a:p>
          <a:p>
            <a:pPr marL="171450" lvl="0" indent="-171450">
              <a:buFont typeface="Arial" panose="020B0604020202020204" pitchFamily="34" charset="0"/>
              <a:buChar char="•"/>
            </a:pPr>
            <a:r>
              <a:rPr lang="en-IN" altLang="ko-KR" sz="1100" dirty="0" smtClean="0">
                <a:solidFill>
                  <a:srgbClr val="000000"/>
                </a:solidFill>
                <a:latin typeface="Arial Narrow"/>
                <a:ea typeface="+mj-ea"/>
                <a:cs typeface="Arial" charset="0"/>
              </a:rPr>
              <a:t>It notifies the issues  to the company that are mostly faced by users.</a:t>
            </a:r>
          </a:p>
          <a:p>
            <a:pPr marL="171450" lvl="0" indent="-171450">
              <a:buFont typeface="Arial" panose="020B0604020202020204" pitchFamily="34" charset="0"/>
              <a:buChar char="•"/>
            </a:pPr>
            <a:r>
              <a:rPr lang="en-IN" altLang="ko-KR" sz="1100" dirty="0" smtClean="0">
                <a:solidFill>
                  <a:srgbClr val="000000"/>
                </a:solidFill>
                <a:latin typeface="Arial Narrow"/>
                <a:ea typeface="+mj-ea"/>
                <a:cs typeface="Arial" charset="0"/>
              </a:rPr>
              <a:t>It helps in fixing the issues  in next release </a:t>
            </a:r>
          </a:p>
          <a:p>
            <a:pPr marL="171450" indent="-171450">
              <a:buFont typeface="Arial" panose="020B0604020202020204" pitchFamily="34" charset="0"/>
              <a:buChar char="•"/>
            </a:pPr>
            <a:r>
              <a:rPr lang="en-US" sz="1100" dirty="0">
                <a:latin typeface="+mj-lt"/>
              </a:rPr>
              <a:t>Can find User interested areas and apply in feasible products that helps business </a:t>
            </a:r>
            <a:r>
              <a:rPr lang="en-US" sz="1100" dirty="0" smtClean="0">
                <a:latin typeface="+mj-lt"/>
              </a:rPr>
              <a:t>growth</a:t>
            </a:r>
            <a:endParaRPr lang="en-IN" altLang="ko-KR" sz="1100" dirty="0" smtClean="0">
              <a:solidFill>
                <a:srgbClr val="000000"/>
              </a:solidFill>
              <a:latin typeface="Arial Narrow"/>
              <a:ea typeface="+mj-ea"/>
              <a:cs typeface="Arial" charset="0"/>
            </a:endParaRPr>
          </a:p>
          <a:p>
            <a:pPr marL="171450" lvl="0" indent="-171450">
              <a:buFont typeface="Arial" panose="020B0604020202020204" pitchFamily="34" charset="0"/>
              <a:buChar char="•"/>
            </a:pPr>
            <a:r>
              <a:rPr lang="en-IN" altLang="ko-KR" sz="1100" dirty="0" smtClean="0">
                <a:solidFill>
                  <a:srgbClr val="000000"/>
                </a:solidFill>
                <a:latin typeface="Arial Narrow"/>
                <a:ea typeface="+mj-ea"/>
                <a:cs typeface="Arial" charset="0"/>
              </a:rPr>
              <a:t>Application: In general for all LG device – connected with </a:t>
            </a:r>
            <a:r>
              <a:rPr lang="en-IN" altLang="ko-KR" sz="1100" dirty="0" err="1" smtClean="0">
                <a:solidFill>
                  <a:srgbClr val="000000"/>
                </a:solidFill>
                <a:latin typeface="Arial Narrow"/>
                <a:ea typeface="+mj-ea"/>
                <a:cs typeface="Arial" charset="0"/>
              </a:rPr>
              <a:t>ThinkQ</a:t>
            </a:r>
            <a:r>
              <a:rPr lang="en-IN" altLang="ko-KR" sz="1100" dirty="0" smtClean="0">
                <a:solidFill>
                  <a:srgbClr val="000000"/>
                </a:solidFill>
                <a:latin typeface="Arial Narrow"/>
                <a:ea typeface="+mj-ea"/>
                <a:cs typeface="Arial" charset="0"/>
              </a:rPr>
              <a:t> App</a:t>
            </a:r>
            <a:endParaRPr lang="en-US" altLang="ko-KR" sz="1100" dirty="0">
              <a:solidFill>
                <a:srgbClr val="000000"/>
              </a:solidFill>
              <a:latin typeface="Arial Narrow"/>
              <a:ea typeface="+mj-ea"/>
              <a:cs typeface="Arial" charset="0"/>
            </a:endParaRPr>
          </a:p>
        </p:txBody>
      </p:sp>
      <p:sp>
        <p:nvSpPr>
          <p:cNvPr id="23" name="직사각형 64"/>
          <p:cNvSpPr>
            <a:spLocks noChangeArrowheads="1"/>
          </p:cNvSpPr>
          <p:nvPr/>
        </p:nvSpPr>
        <p:spPr bwMode="auto">
          <a:xfrm>
            <a:off x="260350" y="4176220"/>
            <a:ext cx="588194" cy="1029211"/>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j-ea"/>
              </a:rPr>
              <a:t>07.</a:t>
            </a:r>
          </a:p>
          <a:p>
            <a:pPr algn="ctr"/>
            <a:r>
              <a:rPr lang="en-US" altLang="ko-KR" sz="1100" dirty="0" smtClean="0">
                <a:solidFill>
                  <a:srgbClr val="000000"/>
                </a:solidFill>
                <a:latin typeface="+mj-lt"/>
                <a:ea typeface="+mj-ea"/>
              </a:rPr>
              <a:t>Prior Art</a:t>
            </a:r>
          </a:p>
        </p:txBody>
      </p:sp>
      <p:sp>
        <p:nvSpPr>
          <p:cNvPr id="24" name="직사각형 64"/>
          <p:cNvSpPr>
            <a:spLocks noChangeArrowheads="1"/>
          </p:cNvSpPr>
          <p:nvPr/>
        </p:nvSpPr>
        <p:spPr bwMode="auto">
          <a:xfrm>
            <a:off x="848545" y="4183188"/>
            <a:ext cx="4104456" cy="1022243"/>
          </a:xfrm>
          <a:prstGeom prst="rect">
            <a:avLst/>
          </a:prstGeom>
          <a:noFill/>
          <a:ln w="9525" algn="ctr">
            <a:solidFill>
              <a:schemeClr val="tx1"/>
            </a:solidFill>
            <a:round/>
            <a:headEnd/>
            <a:tailEnd/>
          </a:ln>
        </p:spPr>
        <p:txBody>
          <a:bodyPr anchor="ctr"/>
          <a:lstStyle/>
          <a:p>
            <a:r>
              <a:rPr lang="en-US" altLang="ko-KR" sz="1100" dirty="0" smtClean="0">
                <a:solidFill>
                  <a:srgbClr val="000000"/>
                </a:solidFill>
                <a:latin typeface="+mj-lt"/>
                <a:ea typeface="+mj-ea"/>
                <a:cs typeface="Arial" charset="0"/>
              </a:rPr>
              <a:t>To be checked</a:t>
            </a:r>
            <a:endParaRPr lang="en-US" altLang="ko-KR" sz="1100" dirty="0">
              <a:solidFill>
                <a:srgbClr val="000000"/>
              </a:solidFill>
              <a:latin typeface="+mj-lt"/>
              <a:ea typeface="+mj-ea"/>
              <a:cs typeface="Arial" charset="0"/>
            </a:endParaRPr>
          </a:p>
        </p:txBody>
      </p:sp>
      <p:sp>
        <p:nvSpPr>
          <p:cNvPr id="26" name="직사각형 44"/>
          <p:cNvSpPr>
            <a:spLocks noChangeArrowheads="1"/>
          </p:cNvSpPr>
          <p:nvPr/>
        </p:nvSpPr>
        <p:spPr bwMode="auto">
          <a:xfrm>
            <a:off x="1280275" y="517392"/>
            <a:ext cx="8316164" cy="296323"/>
          </a:xfrm>
          <a:prstGeom prst="rect">
            <a:avLst/>
          </a:prstGeom>
          <a:noFill/>
          <a:ln w="9525" algn="ctr">
            <a:solidFill>
              <a:schemeClr val="tx1"/>
            </a:solidFill>
            <a:round/>
            <a:headEnd/>
            <a:tailEnd/>
          </a:ln>
        </p:spPr>
        <p:txBody>
          <a:bodyPr anchor="ctr"/>
          <a:lstStyle/>
          <a:p>
            <a:r>
              <a:rPr lang="en-IN" altLang="ko-KR" sz="1100" dirty="0" smtClean="0">
                <a:solidFill>
                  <a:srgbClr val="000000"/>
                </a:solidFill>
                <a:latin typeface="+mj-lt"/>
                <a:ea typeface="+mn-ea"/>
                <a:cs typeface="Arial" charset="0"/>
              </a:rPr>
              <a:t>LG – Smart Service based product feedback syste</a:t>
            </a:r>
            <a:r>
              <a:rPr lang="en-IN" altLang="ko-KR" sz="1100" dirty="0">
                <a:solidFill>
                  <a:srgbClr val="000000"/>
                </a:solidFill>
                <a:latin typeface="+mj-lt"/>
                <a:ea typeface="+mn-ea"/>
                <a:cs typeface="Arial" charset="0"/>
              </a:rPr>
              <a:t>m</a:t>
            </a:r>
            <a:endParaRPr lang="ko-KR" altLang="en-US" sz="1100" dirty="0" smtClean="0">
              <a:solidFill>
                <a:srgbClr val="000000"/>
              </a:solidFill>
              <a:latin typeface="+mj-lt"/>
              <a:ea typeface="+mn-ea"/>
              <a:cs typeface="Arial" charset="0"/>
            </a:endParaRPr>
          </a:p>
        </p:txBody>
      </p:sp>
      <p:sp>
        <p:nvSpPr>
          <p:cNvPr id="27" name="직사각형 44"/>
          <p:cNvSpPr>
            <a:spLocks noChangeArrowheads="1"/>
          </p:cNvSpPr>
          <p:nvPr/>
        </p:nvSpPr>
        <p:spPr bwMode="auto">
          <a:xfrm>
            <a:off x="260350" y="517394"/>
            <a:ext cx="1019925" cy="297618"/>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n-ea"/>
                <a:cs typeface="Arial" charset="0"/>
              </a:rPr>
              <a:t>01. Title</a:t>
            </a:r>
            <a:endParaRPr lang="en-US" altLang="ko-KR" sz="1100" dirty="0">
              <a:solidFill>
                <a:srgbClr val="000000"/>
              </a:solidFill>
              <a:latin typeface="+mj-lt"/>
              <a:ea typeface="+mn-ea"/>
              <a:cs typeface="Arial" charset="0"/>
            </a:endParaRPr>
          </a:p>
        </p:txBody>
      </p:sp>
      <p:sp>
        <p:nvSpPr>
          <p:cNvPr id="28" name="직사각형 44"/>
          <p:cNvSpPr>
            <a:spLocks noChangeArrowheads="1"/>
          </p:cNvSpPr>
          <p:nvPr/>
        </p:nvSpPr>
        <p:spPr bwMode="auto">
          <a:xfrm>
            <a:off x="1280275" y="813719"/>
            <a:ext cx="8316164" cy="296323"/>
          </a:xfrm>
          <a:prstGeom prst="rect">
            <a:avLst/>
          </a:prstGeom>
          <a:noFill/>
          <a:ln w="9525" algn="ctr">
            <a:solidFill>
              <a:schemeClr val="tx1"/>
            </a:solidFill>
            <a:round/>
            <a:headEnd/>
            <a:tailEnd/>
          </a:ln>
        </p:spPr>
        <p:txBody>
          <a:bodyPr anchor="ctr"/>
          <a:lstStyle/>
          <a:p>
            <a:r>
              <a:rPr lang="en-US" altLang="ko-KR" sz="1100" dirty="0" err="1" smtClean="0">
                <a:solidFill>
                  <a:srgbClr val="000000"/>
                </a:solidFill>
                <a:latin typeface="+mj-lt"/>
                <a:ea typeface="+mn-ea"/>
                <a:cs typeface="Arial" charset="0"/>
              </a:rPr>
              <a:t>Vanitha</a:t>
            </a:r>
            <a:r>
              <a:rPr lang="en-US" altLang="ko-KR" sz="1100" dirty="0" smtClean="0">
                <a:solidFill>
                  <a:srgbClr val="000000"/>
                </a:solidFill>
                <a:latin typeface="+mj-lt"/>
                <a:ea typeface="+mn-ea"/>
                <a:cs typeface="Arial" charset="0"/>
              </a:rPr>
              <a:t> </a:t>
            </a:r>
            <a:r>
              <a:rPr lang="en-US" altLang="ko-KR" sz="1100" dirty="0" err="1" smtClean="0">
                <a:solidFill>
                  <a:srgbClr val="000000"/>
                </a:solidFill>
                <a:latin typeface="+mj-lt"/>
                <a:ea typeface="+mn-ea"/>
                <a:cs typeface="Arial" charset="0"/>
              </a:rPr>
              <a:t>Alagarsamy</a:t>
            </a:r>
            <a:r>
              <a:rPr lang="en-US" altLang="ko-KR" sz="1100" dirty="0" smtClean="0">
                <a:solidFill>
                  <a:srgbClr val="000000"/>
                </a:solidFill>
                <a:latin typeface="+mj-lt"/>
                <a:ea typeface="+mn-ea"/>
                <a:cs typeface="Arial" charset="0"/>
              </a:rPr>
              <a:t>, </a:t>
            </a:r>
            <a:r>
              <a:rPr lang="en-US" altLang="ko-KR" sz="1100" dirty="0" err="1" smtClean="0">
                <a:solidFill>
                  <a:srgbClr val="000000"/>
                </a:solidFill>
                <a:latin typeface="+mj-lt"/>
                <a:ea typeface="+mn-ea"/>
                <a:cs typeface="Arial" charset="0"/>
              </a:rPr>
              <a:t>Anindya</a:t>
            </a:r>
            <a:r>
              <a:rPr lang="en-US" altLang="ko-KR" sz="1100" dirty="0" smtClean="0">
                <a:solidFill>
                  <a:srgbClr val="000000"/>
                </a:solidFill>
                <a:latin typeface="+mj-lt"/>
                <a:ea typeface="+mn-ea"/>
                <a:cs typeface="Arial" charset="0"/>
              </a:rPr>
              <a:t> , </a:t>
            </a:r>
            <a:r>
              <a:rPr lang="en-US" altLang="ko-KR" sz="1100" dirty="0" err="1" smtClean="0">
                <a:solidFill>
                  <a:srgbClr val="000000"/>
                </a:solidFill>
                <a:latin typeface="+mj-lt"/>
                <a:ea typeface="+mn-ea"/>
                <a:cs typeface="Arial" charset="0"/>
              </a:rPr>
              <a:t>Balaji</a:t>
            </a:r>
            <a:r>
              <a:rPr lang="en-US" altLang="ko-KR" sz="1100" dirty="0" smtClean="0">
                <a:solidFill>
                  <a:srgbClr val="000000"/>
                </a:solidFill>
                <a:latin typeface="+mj-lt"/>
                <a:ea typeface="+mn-ea"/>
                <a:cs typeface="Arial" charset="0"/>
              </a:rPr>
              <a:t> </a:t>
            </a:r>
            <a:r>
              <a:rPr lang="en-US" altLang="ko-KR" sz="1100" dirty="0" err="1" smtClean="0">
                <a:solidFill>
                  <a:srgbClr val="000000"/>
                </a:solidFill>
                <a:latin typeface="+mj-lt"/>
                <a:ea typeface="+mn-ea"/>
                <a:cs typeface="Arial" charset="0"/>
              </a:rPr>
              <a:t>Haridass</a:t>
            </a:r>
            <a:endParaRPr lang="ko-KR" altLang="en-US" sz="1100" dirty="0" smtClean="0">
              <a:solidFill>
                <a:srgbClr val="000000"/>
              </a:solidFill>
              <a:latin typeface="+mj-lt"/>
              <a:ea typeface="+mn-ea"/>
              <a:cs typeface="Arial" charset="0"/>
            </a:endParaRPr>
          </a:p>
        </p:txBody>
      </p:sp>
      <p:sp>
        <p:nvSpPr>
          <p:cNvPr id="29" name="직사각형 44"/>
          <p:cNvSpPr>
            <a:spLocks noChangeArrowheads="1"/>
          </p:cNvSpPr>
          <p:nvPr/>
        </p:nvSpPr>
        <p:spPr bwMode="auto">
          <a:xfrm>
            <a:off x="260350" y="813721"/>
            <a:ext cx="1019925" cy="297618"/>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n-ea"/>
                <a:cs typeface="Arial" charset="0"/>
              </a:rPr>
              <a:t>02. Inventor(s)</a:t>
            </a:r>
          </a:p>
        </p:txBody>
      </p:sp>
      <p:sp>
        <p:nvSpPr>
          <p:cNvPr id="42" name="직사각형 18"/>
          <p:cNvSpPr>
            <a:spLocks noChangeArrowheads="1"/>
          </p:cNvSpPr>
          <p:nvPr/>
        </p:nvSpPr>
        <p:spPr bwMode="auto">
          <a:xfrm>
            <a:off x="260350" y="1108154"/>
            <a:ext cx="1022350" cy="592654"/>
          </a:xfrm>
          <a:prstGeom prst="rect">
            <a:avLst/>
          </a:prstGeom>
          <a:noFill/>
          <a:ln w="9525" algn="ctr">
            <a:solidFill>
              <a:schemeClr val="tx1"/>
            </a:solidFill>
            <a:round/>
            <a:headEnd/>
            <a:tailEnd/>
          </a:ln>
        </p:spPr>
        <p:txBody>
          <a:bodyPr anchor="ctr"/>
          <a:lstStyle/>
          <a:p>
            <a:pPr algn="ctr"/>
            <a:r>
              <a:rPr lang="en-US" altLang="ko-KR" sz="1100" dirty="0" smtClean="0">
                <a:solidFill>
                  <a:srgbClr val="000000"/>
                </a:solidFill>
                <a:latin typeface="+mj-lt"/>
                <a:ea typeface="+mn-ea"/>
                <a:cs typeface="Arial" charset="0"/>
              </a:rPr>
              <a:t>03. Abstract</a:t>
            </a:r>
          </a:p>
        </p:txBody>
      </p:sp>
      <p:sp>
        <p:nvSpPr>
          <p:cNvPr id="43" name="직사각형 44"/>
          <p:cNvSpPr>
            <a:spLocks noChangeArrowheads="1"/>
          </p:cNvSpPr>
          <p:nvPr/>
        </p:nvSpPr>
        <p:spPr bwMode="auto">
          <a:xfrm>
            <a:off x="1280275" y="1108038"/>
            <a:ext cx="8316163" cy="592770"/>
          </a:xfrm>
          <a:prstGeom prst="rect">
            <a:avLst/>
          </a:prstGeom>
          <a:noFill/>
          <a:ln w="9525" algn="ctr">
            <a:solidFill>
              <a:schemeClr val="tx1"/>
            </a:solidFill>
            <a:round/>
            <a:headEnd/>
            <a:tailEnd/>
          </a:ln>
        </p:spPr>
        <p:txBody>
          <a:bodyPr anchor="ctr"/>
          <a:lstStyle/>
          <a:p>
            <a:r>
              <a:rPr lang="en-US" sz="1100" dirty="0" smtClean="0">
                <a:latin typeface="+mj-lt"/>
              </a:rPr>
              <a:t>This </a:t>
            </a:r>
            <a:r>
              <a:rPr lang="en-US" sz="1100" dirty="0">
                <a:latin typeface="+mj-lt"/>
              </a:rPr>
              <a:t>system can have some </a:t>
            </a:r>
            <a:r>
              <a:rPr lang="en-US" sz="1100" dirty="0" smtClean="0">
                <a:latin typeface="+mj-lt"/>
              </a:rPr>
              <a:t>intelligent statistical </a:t>
            </a:r>
            <a:r>
              <a:rPr lang="en-US" sz="1100" dirty="0">
                <a:latin typeface="+mj-lt"/>
              </a:rPr>
              <a:t>AI models which will be integrated with </a:t>
            </a:r>
            <a:r>
              <a:rPr lang="en-US" sz="1100" dirty="0" err="1">
                <a:latin typeface="+mj-lt"/>
              </a:rPr>
              <a:t>ThinQ</a:t>
            </a:r>
            <a:r>
              <a:rPr lang="en-US" sz="1100" dirty="0">
                <a:latin typeface="+mj-lt"/>
              </a:rPr>
              <a:t> system and continuously monitor user </a:t>
            </a:r>
            <a:r>
              <a:rPr lang="en-US" sz="1100" dirty="0" smtClean="0">
                <a:latin typeface="+mj-lt"/>
              </a:rPr>
              <a:t>conversations (multimodal) </a:t>
            </a:r>
            <a:r>
              <a:rPr lang="en-US" sz="1100" dirty="0">
                <a:latin typeface="+mj-lt"/>
              </a:rPr>
              <a:t>with </a:t>
            </a:r>
            <a:r>
              <a:rPr lang="en-US" sz="1100" dirty="0" err="1">
                <a:latin typeface="+mj-lt"/>
              </a:rPr>
              <a:t>ThinQ</a:t>
            </a:r>
            <a:r>
              <a:rPr lang="en-US" sz="1100" dirty="0">
                <a:latin typeface="+mj-lt"/>
              </a:rPr>
              <a:t> </a:t>
            </a:r>
            <a:r>
              <a:rPr lang="en-US" sz="1100" dirty="0" smtClean="0">
                <a:latin typeface="+mj-lt"/>
              </a:rPr>
              <a:t>device and form a meaningful complete query from multimodal data. </a:t>
            </a:r>
            <a:r>
              <a:rPr lang="en-US" sz="1100" dirty="0">
                <a:latin typeface="+mj-lt"/>
              </a:rPr>
              <a:t>This AI model will keep the track of issues that user is reporting and automatically notify the production system. So that , the </a:t>
            </a:r>
            <a:r>
              <a:rPr lang="en-US" sz="1100" dirty="0" smtClean="0">
                <a:latin typeface="+mj-lt"/>
              </a:rPr>
              <a:t>frequent occurrence </a:t>
            </a:r>
            <a:r>
              <a:rPr lang="en-US" sz="1100" dirty="0">
                <a:latin typeface="+mj-lt"/>
              </a:rPr>
              <a:t>issues will be resolved in next release</a:t>
            </a:r>
            <a:endParaRPr lang="en-IN" altLang="ko-KR" sz="1100" dirty="0" smtClean="0">
              <a:latin typeface="+mj-lt"/>
              <a:ea typeface="+mn-ea"/>
              <a:cs typeface="Arial" charset="0"/>
            </a:endParaRPr>
          </a:p>
        </p:txBody>
      </p:sp>
      <p:sp>
        <p:nvSpPr>
          <p:cNvPr id="47" name="직사각형 64"/>
          <p:cNvSpPr>
            <a:spLocks noChangeArrowheads="1"/>
          </p:cNvSpPr>
          <p:nvPr/>
        </p:nvSpPr>
        <p:spPr bwMode="auto">
          <a:xfrm>
            <a:off x="4953000" y="1759282"/>
            <a:ext cx="4643438" cy="3446150"/>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3" name="Rectangle 2"/>
          <p:cNvSpPr/>
          <p:nvPr/>
        </p:nvSpPr>
        <p:spPr>
          <a:xfrm>
            <a:off x="4953000" y="1759282"/>
            <a:ext cx="1317990" cy="276999"/>
          </a:xfrm>
          <a:prstGeom prst="rect">
            <a:avLst/>
          </a:prstGeom>
        </p:spPr>
        <p:txBody>
          <a:bodyPr wrap="none">
            <a:spAutoFit/>
          </a:bodyPr>
          <a:lstStyle/>
          <a:p>
            <a:pPr lvl="0"/>
            <a:r>
              <a:rPr lang="en-US" altLang="ko-KR" sz="1200" dirty="0" smtClean="0">
                <a:solidFill>
                  <a:srgbClr val="000000"/>
                </a:solidFill>
                <a:latin typeface="Arial Narrow"/>
                <a:ea typeface="+mn-ea"/>
                <a:cs typeface="Arial" charset="0"/>
              </a:rPr>
              <a:t>06. </a:t>
            </a:r>
            <a:r>
              <a:rPr lang="en-US" altLang="ko-KR" sz="1200" b="1" dirty="0" smtClean="0">
                <a:solidFill>
                  <a:srgbClr val="000000"/>
                </a:solidFill>
                <a:latin typeface="Arial Narrow"/>
                <a:ea typeface="+mn-ea"/>
                <a:cs typeface="Arial" charset="0"/>
              </a:rPr>
              <a:t>Refer to Page 3</a:t>
            </a:r>
            <a:endParaRPr lang="en-US" altLang="ko-KR" sz="1200" b="1" dirty="0">
              <a:solidFill>
                <a:srgbClr val="000000"/>
              </a:solidFill>
              <a:latin typeface="Arial Narrow"/>
              <a:ea typeface="+mn-ea"/>
              <a:cs typeface="Arial" charset="0"/>
            </a:endParaRPr>
          </a:p>
        </p:txBody>
      </p:sp>
      <p:sp>
        <p:nvSpPr>
          <p:cNvPr id="30" name="직사각형 47"/>
          <p:cNvSpPr/>
          <p:nvPr/>
        </p:nvSpPr>
        <p:spPr>
          <a:xfrm>
            <a:off x="6969224" y="4959211"/>
            <a:ext cx="2621230" cy="246221"/>
          </a:xfrm>
          <a:prstGeom prst="rect">
            <a:avLst/>
          </a:prstGeom>
        </p:spPr>
        <p:txBody>
          <a:bodyPr wrap="none">
            <a:spAutoFit/>
          </a:bodyPr>
          <a:lstStyle/>
          <a:p>
            <a:pPr>
              <a:defRPr/>
            </a:pPr>
            <a:r>
              <a:rPr lang="en-US" altLang="ko-KR" sz="1000" i="1" dirty="0" smtClean="0">
                <a:cs typeface="Arial" charset="0"/>
              </a:rPr>
              <a:t>Flowchart or block diagram or 3d model</a:t>
            </a:r>
            <a:endParaRPr lang="en-US" altLang="ko-KR" sz="1000" i="1" dirty="0">
              <a:cs typeface="Arial" charset="0"/>
            </a:endParaRP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7016" y="1988840"/>
            <a:ext cx="4387417" cy="30378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023586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i.ytimg.com/an_webp/dqmFhKN8Z50/mqdefault_6s.webp?du=3000&amp;sqp=CLOagoYG&amp;rs=AOn4CLABnG04Gb6Wu_nrIF9nXbpaFuJoS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p:cNvSpPr txBox="1"/>
          <p:nvPr/>
        </p:nvSpPr>
        <p:spPr>
          <a:xfrm>
            <a:off x="632520" y="692696"/>
            <a:ext cx="8640960" cy="3693319"/>
          </a:xfrm>
          <a:prstGeom prst="rect">
            <a:avLst/>
          </a:prstGeom>
          <a:noFill/>
        </p:spPr>
        <p:txBody>
          <a:bodyPr wrap="square" rtlCol="0">
            <a:spAutoFit/>
          </a:bodyPr>
          <a:lstStyle/>
          <a:p>
            <a:r>
              <a:rPr lang="en-IN" b="1" dirty="0" smtClean="0">
                <a:latin typeface="+mj-lt"/>
              </a:rPr>
              <a:t>Problem Scenario</a:t>
            </a:r>
          </a:p>
          <a:p>
            <a:endParaRPr lang="en-IN" b="1" dirty="0" smtClean="0">
              <a:latin typeface="+mj-lt"/>
            </a:endParaRPr>
          </a:p>
          <a:p>
            <a:pPr marL="171450" indent="-171450">
              <a:buFont typeface="Arial" panose="020B0604020202020204" pitchFamily="34" charset="0"/>
              <a:buChar char="•"/>
            </a:pPr>
            <a:r>
              <a:rPr lang="en-US" altLang="ko-KR" dirty="0">
                <a:solidFill>
                  <a:srgbClr val="000000"/>
                </a:solidFill>
                <a:latin typeface="+mj-lt"/>
                <a:cs typeface="Arial" charset="0"/>
              </a:rPr>
              <a:t>User’s may encounter problem with their devices anytime. </a:t>
            </a:r>
            <a:endParaRPr lang="en-US" altLang="ko-KR" dirty="0" smtClean="0">
              <a:solidFill>
                <a:srgbClr val="000000"/>
              </a:solidFill>
              <a:latin typeface="+mj-lt"/>
              <a:cs typeface="Arial" charset="0"/>
            </a:endParaRPr>
          </a:p>
          <a:p>
            <a:pPr marL="171450" indent="-171450">
              <a:buFont typeface="Arial" panose="020B0604020202020204" pitchFamily="34" charset="0"/>
              <a:buChar char="•"/>
            </a:pPr>
            <a:r>
              <a:rPr lang="en-US" altLang="ko-KR" dirty="0">
                <a:solidFill>
                  <a:srgbClr val="000000"/>
                </a:solidFill>
                <a:latin typeface="+mj-lt"/>
                <a:cs typeface="Arial" charset="0"/>
              </a:rPr>
              <a:t>Intelligent query formation using text, audio, </a:t>
            </a:r>
            <a:r>
              <a:rPr lang="en-US" altLang="ko-KR" dirty="0" smtClean="0">
                <a:solidFill>
                  <a:srgbClr val="000000"/>
                </a:solidFill>
                <a:latin typeface="+mj-lt"/>
                <a:cs typeface="Arial" charset="0"/>
              </a:rPr>
              <a:t>images.</a:t>
            </a:r>
            <a:endParaRPr lang="en-US" altLang="ko-KR" dirty="0">
              <a:solidFill>
                <a:srgbClr val="000000"/>
              </a:solidFill>
              <a:latin typeface="+mj-lt"/>
              <a:cs typeface="Arial" charset="0"/>
            </a:endParaRPr>
          </a:p>
          <a:p>
            <a:pPr marL="171450" indent="-171450">
              <a:buFont typeface="Arial" panose="020B0604020202020204" pitchFamily="34" charset="0"/>
              <a:buChar char="•"/>
            </a:pPr>
            <a:r>
              <a:rPr lang="en-US" altLang="ko-KR" dirty="0">
                <a:solidFill>
                  <a:srgbClr val="000000"/>
                </a:solidFill>
                <a:latin typeface="+mj-lt"/>
                <a:cs typeface="Arial" charset="0"/>
              </a:rPr>
              <a:t>They will interact with </a:t>
            </a:r>
            <a:r>
              <a:rPr lang="en-US" altLang="ko-KR" dirty="0" err="1">
                <a:solidFill>
                  <a:srgbClr val="000000"/>
                </a:solidFill>
                <a:latin typeface="+mj-lt"/>
                <a:cs typeface="Arial" charset="0"/>
              </a:rPr>
              <a:t>ThinQ</a:t>
            </a:r>
            <a:r>
              <a:rPr lang="en-US" altLang="ko-KR" dirty="0">
                <a:solidFill>
                  <a:srgbClr val="000000"/>
                </a:solidFill>
                <a:latin typeface="+mj-lt"/>
                <a:cs typeface="Arial" charset="0"/>
              </a:rPr>
              <a:t> system and get the problem </a:t>
            </a:r>
            <a:r>
              <a:rPr lang="en-US" altLang="ko-KR" dirty="0" smtClean="0">
                <a:solidFill>
                  <a:srgbClr val="000000"/>
                </a:solidFill>
                <a:latin typeface="+mj-lt"/>
                <a:cs typeface="Arial" charset="0"/>
              </a:rPr>
              <a:t>solved</a:t>
            </a:r>
          </a:p>
          <a:p>
            <a:pPr marL="171450" lvl="0" indent="-171450">
              <a:buFont typeface="Arial" panose="020B0604020202020204" pitchFamily="34" charset="0"/>
              <a:buChar char="•"/>
            </a:pPr>
            <a:r>
              <a:rPr lang="en-IN" altLang="ko-KR" dirty="0">
                <a:solidFill>
                  <a:srgbClr val="000000"/>
                </a:solidFill>
                <a:latin typeface="+mj-lt"/>
                <a:cs typeface="Arial" charset="0"/>
              </a:rPr>
              <a:t>Our system, Statistical AI model integrated with </a:t>
            </a:r>
            <a:r>
              <a:rPr lang="en-IN" altLang="ko-KR" dirty="0" err="1">
                <a:solidFill>
                  <a:srgbClr val="000000"/>
                </a:solidFill>
                <a:latin typeface="+mj-lt"/>
                <a:cs typeface="Arial" charset="0"/>
              </a:rPr>
              <a:t>ThinQ</a:t>
            </a:r>
            <a:r>
              <a:rPr lang="en-IN" altLang="ko-KR" dirty="0">
                <a:solidFill>
                  <a:srgbClr val="000000"/>
                </a:solidFill>
                <a:latin typeface="+mj-lt"/>
                <a:cs typeface="Arial" charset="0"/>
              </a:rPr>
              <a:t> system will </a:t>
            </a:r>
            <a:r>
              <a:rPr lang="en-IN" altLang="ko-KR" dirty="0" err="1">
                <a:solidFill>
                  <a:srgbClr val="000000"/>
                </a:solidFill>
                <a:latin typeface="+mj-lt"/>
                <a:cs typeface="Arial" charset="0"/>
              </a:rPr>
              <a:t>analyze</a:t>
            </a:r>
            <a:r>
              <a:rPr lang="en-IN" altLang="ko-KR" dirty="0">
                <a:solidFill>
                  <a:srgbClr val="000000"/>
                </a:solidFill>
                <a:latin typeface="+mj-lt"/>
                <a:cs typeface="Arial" charset="0"/>
              </a:rPr>
              <a:t>, categorize and keeps the track of count of all issues. </a:t>
            </a:r>
          </a:p>
          <a:p>
            <a:pPr marL="171450" lvl="0" indent="-171450">
              <a:buFont typeface="Arial" panose="020B0604020202020204" pitchFamily="34" charset="0"/>
              <a:buChar char="•"/>
            </a:pPr>
            <a:r>
              <a:rPr lang="en-IN" altLang="ko-KR" dirty="0">
                <a:solidFill>
                  <a:srgbClr val="000000"/>
                </a:solidFill>
                <a:latin typeface="+mj-lt"/>
                <a:cs typeface="Arial" charset="0"/>
              </a:rPr>
              <a:t>It notifies the issues  to the company that are mostly faced by users.</a:t>
            </a:r>
          </a:p>
          <a:p>
            <a:pPr marL="171450" lvl="0" indent="-171450">
              <a:buFont typeface="Arial" panose="020B0604020202020204" pitchFamily="34" charset="0"/>
              <a:buChar char="•"/>
            </a:pPr>
            <a:r>
              <a:rPr lang="en-IN" altLang="ko-KR" dirty="0">
                <a:solidFill>
                  <a:srgbClr val="000000"/>
                </a:solidFill>
                <a:latin typeface="+mj-lt"/>
                <a:cs typeface="Arial" charset="0"/>
              </a:rPr>
              <a:t>It helps in fixing the issues  in next release </a:t>
            </a:r>
          </a:p>
          <a:p>
            <a:pPr marL="171450" indent="-171450">
              <a:buFont typeface="Arial" panose="020B0604020202020204" pitchFamily="34" charset="0"/>
              <a:buChar char="•"/>
            </a:pPr>
            <a:r>
              <a:rPr lang="en-US" dirty="0">
                <a:latin typeface="+mj-lt"/>
              </a:rPr>
              <a:t>Can find User interested areas and apply in feasible products that helps business growth</a:t>
            </a:r>
            <a:endParaRPr lang="en-IN" altLang="ko-KR" dirty="0">
              <a:solidFill>
                <a:srgbClr val="000000"/>
              </a:solidFill>
              <a:latin typeface="+mj-lt"/>
              <a:cs typeface="Arial" charset="0"/>
            </a:endParaRPr>
          </a:p>
          <a:p>
            <a:pPr marL="171450" lvl="0" indent="-171450">
              <a:buFont typeface="Arial" panose="020B0604020202020204" pitchFamily="34" charset="0"/>
              <a:buChar char="•"/>
            </a:pPr>
            <a:r>
              <a:rPr lang="en-IN" altLang="ko-KR" dirty="0">
                <a:solidFill>
                  <a:srgbClr val="000000"/>
                </a:solidFill>
                <a:latin typeface="+mj-lt"/>
                <a:cs typeface="Arial" charset="0"/>
              </a:rPr>
              <a:t>Application: In general for all LG device – connected with </a:t>
            </a:r>
            <a:r>
              <a:rPr lang="en-IN" altLang="ko-KR" dirty="0" err="1" smtClean="0">
                <a:solidFill>
                  <a:srgbClr val="000000"/>
                </a:solidFill>
                <a:latin typeface="+mj-lt"/>
                <a:cs typeface="Arial" charset="0"/>
              </a:rPr>
              <a:t>ThinQ</a:t>
            </a:r>
            <a:r>
              <a:rPr lang="en-IN" altLang="ko-KR" dirty="0" smtClean="0">
                <a:solidFill>
                  <a:srgbClr val="000000"/>
                </a:solidFill>
                <a:latin typeface="+mj-lt"/>
                <a:cs typeface="Arial" charset="0"/>
              </a:rPr>
              <a:t> </a:t>
            </a:r>
            <a:r>
              <a:rPr lang="en-IN" altLang="ko-KR" dirty="0">
                <a:solidFill>
                  <a:srgbClr val="000000"/>
                </a:solidFill>
                <a:latin typeface="+mj-lt"/>
                <a:cs typeface="Arial" charset="0"/>
              </a:rPr>
              <a:t>App</a:t>
            </a:r>
            <a:endParaRPr lang="en-US" altLang="ko-KR" dirty="0">
              <a:solidFill>
                <a:srgbClr val="000000"/>
              </a:solidFill>
              <a:latin typeface="+mj-lt"/>
              <a:cs typeface="Arial" charset="0"/>
            </a:endParaRPr>
          </a:p>
          <a:p>
            <a:pPr marL="171450" indent="-171450">
              <a:buFont typeface="Arial" panose="020B0604020202020204" pitchFamily="34" charset="0"/>
              <a:buChar char="•"/>
            </a:pPr>
            <a:endParaRPr lang="en-US" altLang="ko-KR" dirty="0" smtClean="0">
              <a:solidFill>
                <a:srgbClr val="000000"/>
              </a:solidFill>
              <a:cs typeface="Arial" charset="0"/>
            </a:endParaRPr>
          </a:p>
          <a:p>
            <a:pPr marL="171450" indent="-171450">
              <a:buFont typeface="Arial" panose="020B0604020202020204" pitchFamily="34" charset="0"/>
              <a:buChar char="•"/>
            </a:pPr>
            <a:endParaRPr lang="en-IN" dirty="0">
              <a:latin typeface="+mj-lt"/>
            </a:endParaRPr>
          </a:p>
        </p:txBody>
      </p:sp>
    </p:spTree>
    <p:extLst>
      <p:ext uri="{BB962C8B-B14F-4D97-AF65-F5344CB8AC3E}">
        <p14:creationId xmlns:p14="http://schemas.microsoft.com/office/powerpoint/2010/main" val="18331940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4"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7" name="Rectangle 6"/>
          <p:cNvSpPr/>
          <p:nvPr/>
        </p:nvSpPr>
        <p:spPr>
          <a:xfrm>
            <a:off x="341239" y="175846"/>
            <a:ext cx="2163489" cy="369332"/>
          </a:xfrm>
          <a:prstGeom prst="rect">
            <a:avLst/>
          </a:prstGeom>
        </p:spPr>
        <p:txBody>
          <a:bodyPr wrap="square">
            <a:spAutoFit/>
          </a:bodyPr>
          <a:lstStyle/>
          <a:p>
            <a:r>
              <a:rPr lang="en-IN" b="1" dirty="0" smtClean="0">
                <a:latin typeface="+mj-lt"/>
              </a:rPr>
              <a:t>Architecture Diagram</a:t>
            </a:r>
            <a:endParaRPr lang="en-IN" b="1" dirty="0">
              <a:latin typeface="+mj-lt"/>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0512" y="839718"/>
            <a:ext cx="9057703" cy="5178563"/>
          </a:xfrm>
          <a:prstGeom prst="rect">
            <a:avLst/>
          </a:prstGeom>
        </p:spPr>
      </p:pic>
    </p:spTree>
    <p:extLst>
      <p:ext uri="{BB962C8B-B14F-4D97-AF65-F5344CB8AC3E}">
        <p14:creationId xmlns:p14="http://schemas.microsoft.com/office/powerpoint/2010/main" val="4598092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4"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5" name="TextBox 4"/>
          <p:cNvSpPr txBox="1"/>
          <p:nvPr/>
        </p:nvSpPr>
        <p:spPr>
          <a:xfrm>
            <a:off x="488504" y="874568"/>
            <a:ext cx="2782300" cy="369332"/>
          </a:xfrm>
          <a:prstGeom prst="rect">
            <a:avLst/>
          </a:prstGeom>
          <a:noFill/>
        </p:spPr>
        <p:txBody>
          <a:bodyPr wrap="none" rtlCol="0">
            <a:spAutoFit/>
          </a:bodyPr>
          <a:lstStyle/>
          <a:p>
            <a:r>
              <a:rPr lang="en-US" dirty="0" smtClean="0"/>
              <a:t>Triple Extraction Module:</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536" y="1243900"/>
            <a:ext cx="7776864" cy="3731139"/>
          </a:xfrm>
          <a:prstGeom prst="rect">
            <a:avLst/>
          </a:prstGeom>
        </p:spPr>
      </p:pic>
    </p:spTree>
    <p:extLst>
      <p:ext uri="{BB962C8B-B14F-4D97-AF65-F5344CB8AC3E}">
        <p14:creationId xmlns:p14="http://schemas.microsoft.com/office/powerpoint/2010/main" val="8773138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4"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5" name="TextBox 4"/>
          <p:cNvSpPr txBox="1"/>
          <p:nvPr/>
        </p:nvSpPr>
        <p:spPr>
          <a:xfrm>
            <a:off x="488504" y="874568"/>
            <a:ext cx="2445734" cy="369332"/>
          </a:xfrm>
          <a:prstGeom prst="rect">
            <a:avLst/>
          </a:prstGeom>
          <a:noFill/>
        </p:spPr>
        <p:txBody>
          <a:bodyPr wrap="none" rtlCol="0">
            <a:spAutoFit/>
          </a:bodyPr>
          <a:lstStyle/>
          <a:p>
            <a:r>
              <a:rPr lang="en-US" b="1" dirty="0" smtClean="0">
                <a:latin typeface="+mn-lt"/>
              </a:rPr>
              <a:t>Triple Extraction Module</a:t>
            </a:r>
            <a:r>
              <a:rPr lang="en-US" b="1" dirty="0" smtClean="0"/>
              <a:t>:</a:t>
            </a:r>
            <a:endParaRPr lang="en-US" b="1" dirty="0"/>
          </a:p>
        </p:txBody>
      </p:sp>
      <p:sp>
        <p:nvSpPr>
          <p:cNvPr id="2" name="TextBox 1"/>
          <p:cNvSpPr txBox="1"/>
          <p:nvPr/>
        </p:nvSpPr>
        <p:spPr>
          <a:xfrm>
            <a:off x="632520" y="1547501"/>
            <a:ext cx="8496944" cy="4524315"/>
          </a:xfrm>
          <a:prstGeom prst="rect">
            <a:avLst/>
          </a:prstGeom>
          <a:noFill/>
        </p:spPr>
        <p:txBody>
          <a:bodyPr wrap="square" rtlCol="0">
            <a:spAutoFit/>
          </a:bodyPr>
          <a:lstStyle/>
          <a:p>
            <a:r>
              <a:rPr lang="en-US" dirty="0" smtClean="0">
                <a:latin typeface="+mn-lt"/>
              </a:rPr>
              <a:t>Extract Triples from Text</a:t>
            </a:r>
          </a:p>
          <a:p>
            <a:pPr marL="285750" indent="-285750">
              <a:buFont typeface="Arial" panose="020B0604020202020204" pitchFamily="34" charset="0"/>
              <a:buChar char="•"/>
            </a:pPr>
            <a:r>
              <a:rPr lang="en-US" dirty="0" smtClean="0">
                <a:latin typeface="+mn-lt"/>
              </a:rPr>
              <a:t>Named </a:t>
            </a:r>
            <a:r>
              <a:rPr lang="en-US" dirty="0">
                <a:latin typeface="+mn-lt"/>
              </a:rPr>
              <a:t>Entity </a:t>
            </a:r>
            <a:r>
              <a:rPr lang="en-US" dirty="0" smtClean="0">
                <a:latin typeface="+mn-lt"/>
              </a:rPr>
              <a:t>Extraction:</a:t>
            </a:r>
          </a:p>
          <a:p>
            <a:pPr marL="742950" lvl="1" indent="-285750">
              <a:buFont typeface="Arial" panose="020B0604020202020204" pitchFamily="34" charset="0"/>
              <a:buChar char="•"/>
            </a:pPr>
            <a:r>
              <a:rPr lang="en-US" dirty="0" smtClean="0">
                <a:latin typeface="+mn-lt"/>
              </a:rPr>
              <a:t>Text </a:t>
            </a:r>
            <a:r>
              <a:rPr lang="en-US" dirty="0">
                <a:latin typeface="+mn-lt"/>
              </a:rPr>
              <a:t>is passed through Named Entity Recognition system to identify Named Entities </a:t>
            </a:r>
            <a:r>
              <a:rPr lang="en-US" dirty="0" smtClean="0">
                <a:latin typeface="+mn-lt"/>
              </a:rPr>
              <a:t>(</a:t>
            </a:r>
            <a:r>
              <a:rPr lang="en-US" dirty="0">
                <a:latin typeface="+mn-lt"/>
              </a:rPr>
              <a:t>Stanford NER or Spacy NER </a:t>
            </a:r>
            <a:r>
              <a:rPr lang="en-US" dirty="0" smtClean="0">
                <a:latin typeface="+mn-lt"/>
              </a:rPr>
              <a:t>tools) or </a:t>
            </a:r>
            <a:r>
              <a:rPr lang="en-US" dirty="0">
                <a:latin typeface="+mn-lt"/>
              </a:rPr>
              <a:t>custom NER tools to be </a:t>
            </a:r>
            <a:r>
              <a:rPr lang="en-US" dirty="0" smtClean="0">
                <a:latin typeface="+mn-lt"/>
              </a:rPr>
              <a:t>fine-tuned </a:t>
            </a:r>
            <a:r>
              <a:rPr lang="en-US" dirty="0">
                <a:latin typeface="+mn-lt"/>
              </a:rPr>
              <a:t>on Domain Specific(LG Product </a:t>
            </a:r>
            <a:r>
              <a:rPr lang="en-US" dirty="0" smtClean="0">
                <a:latin typeface="+mn-lt"/>
              </a:rPr>
              <a:t>Manuals) . Named Entity </a:t>
            </a:r>
            <a:r>
              <a:rPr lang="en-US" dirty="0" err="1" smtClean="0">
                <a:latin typeface="+mn-lt"/>
              </a:rPr>
              <a:t>eg</a:t>
            </a:r>
            <a:r>
              <a:rPr lang="en-US" dirty="0" smtClean="0">
                <a:latin typeface="+mn-lt"/>
              </a:rPr>
              <a:t>.  </a:t>
            </a:r>
            <a:r>
              <a:rPr lang="en-US" dirty="0">
                <a:latin typeface="+mn-lt"/>
              </a:rPr>
              <a:t>IE Error, Ice Plus </a:t>
            </a:r>
            <a:r>
              <a:rPr lang="en-US" dirty="0" smtClean="0">
                <a:latin typeface="+mn-lt"/>
              </a:rPr>
              <a:t>Function.</a:t>
            </a:r>
          </a:p>
          <a:p>
            <a:pPr marL="742950" lvl="1" indent="-285750">
              <a:buFont typeface="Arial" panose="020B0604020202020204" pitchFamily="34" charset="0"/>
              <a:buChar char="•"/>
            </a:pPr>
            <a:r>
              <a:rPr lang="en-US" dirty="0" smtClean="0">
                <a:latin typeface="+mn-lt"/>
              </a:rPr>
              <a:t>Resultant </a:t>
            </a:r>
            <a:r>
              <a:rPr lang="en-US" dirty="0">
                <a:latin typeface="+mn-lt"/>
              </a:rPr>
              <a:t>NER </a:t>
            </a:r>
            <a:r>
              <a:rPr lang="en-US" dirty="0" smtClean="0">
                <a:latin typeface="+mn-lt"/>
              </a:rPr>
              <a:t>Triple (Output of triple builder): </a:t>
            </a:r>
            <a:r>
              <a:rPr lang="en-US" dirty="0">
                <a:latin typeface="+mn-lt"/>
              </a:rPr>
              <a:t>(Topic, </a:t>
            </a:r>
            <a:r>
              <a:rPr lang="en-US" dirty="0" err="1">
                <a:latin typeface="+mn-lt"/>
              </a:rPr>
              <a:t>has_type</a:t>
            </a:r>
            <a:r>
              <a:rPr lang="en-US" dirty="0">
                <a:latin typeface="+mn-lt"/>
              </a:rPr>
              <a:t>, IE Error), (Topic , </a:t>
            </a:r>
            <a:r>
              <a:rPr lang="en-US" dirty="0" err="1">
                <a:latin typeface="+mn-lt"/>
              </a:rPr>
              <a:t>has_type</a:t>
            </a:r>
            <a:r>
              <a:rPr lang="en-US" dirty="0">
                <a:latin typeface="+mn-lt"/>
              </a:rPr>
              <a:t>, Ice Plus Function) </a:t>
            </a:r>
          </a:p>
          <a:p>
            <a:endParaRPr lang="en-US" dirty="0">
              <a:latin typeface="+mn-lt"/>
            </a:endParaRPr>
          </a:p>
          <a:p>
            <a:pPr marL="285750" indent="-285750">
              <a:buFont typeface="Arial" panose="020B0604020202020204" pitchFamily="34" charset="0"/>
              <a:buChar char="•"/>
            </a:pPr>
            <a:r>
              <a:rPr lang="en-US" dirty="0" smtClean="0">
                <a:latin typeface="+mn-lt"/>
              </a:rPr>
              <a:t>Relation </a:t>
            </a:r>
            <a:r>
              <a:rPr lang="en-US" dirty="0">
                <a:latin typeface="+mn-lt"/>
              </a:rPr>
              <a:t>Extraction </a:t>
            </a:r>
            <a:r>
              <a:rPr lang="en-US" dirty="0" smtClean="0">
                <a:latin typeface="+mn-lt"/>
              </a:rPr>
              <a:t>(RE)(Dependency </a:t>
            </a:r>
            <a:r>
              <a:rPr lang="en-US" dirty="0">
                <a:latin typeface="+mn-lt"/>
              </a:rPr>
              <a:t>Parsing and Information Extraction tools to Extract the relations</a:t>
            </a:r>
            <a:r>
              <a:rPr lang="en-US" dirty="0" smtClean="0">
                <a:latin typeface="+mn-lt"/>
              </a:rPr>
              <a:t>): </a:t>
            </a:r>
          </a:p>
          <a:p>
            <a:pPr marL="742950" lvl="1" indent="-285750">
              <a:buFont typeface="Arial" panose="020B0604020202020204" pitchFamily="34" charset="0"/>
              <a:buChar char="•"/>
            </a:pPr>
            <a:r>
              <a:rPr lang="en-US" dirty="0" err="1" smtClean="0">
                <a:latin typeface="+mn-lt"/>
              </a:rPr>
              <a:t>eg</a:t>
            </a:r>
            <a:r>
              <a:rPr lang="en-US" dirty="0" smtClean="0">
                <a:latin typeface="+mn-lt"/>
              </a:rPr>
              <a:t>. Query=How </a:t>
            </a:r>
            <a:r>
              <a:rPr lang="en-US" dirty="0">
                <a:latin typeface="+mn-lt"/>
              </a:rPr>
              <a:t>to fix IE Error </a:t>
            </a:r>
            <a:r>
              <a:rPr lang="en-US" dirty="0" smtClean="0">
                <a:latin typeface="+mn-lt"/>
              </a:rPr>
              <a:t>– (Relation Extraction)--&gt;(</a:t>
            </a:r>
            <a:r>
              <a:rPr lang="en-US" dirty="0">
                <a:latin typeface="+mn-lt"/>
              </a:rPr>
              <a:t>How to, fix, IE Error</a:t>
            </a:r>
            <a:r>
              <a:rPr lang="en-US" dirty="0" smtClean="0">
                <a:latin typeface="+mn-lt"/>
              </a:rPr>
              <a:t>)—Triple Builder-&gt;(</a:t>
            </a:r>
            <a:r>
              <a:rPr lang="en-US" dirty="0">
                <a:latin typeface="+mn-lt"/>
              </a:rPr>
              <a:t>Query, REL, fix</a:t>
            </a:r>
            <a:r>
              <a:rPr lang="en-US" dirty="0" smtClean="0">
                <a:latin typeface="+mn-lt"/>
              </a:rPr>
              <a:t>)</a:t>
            </a:r>
          </a:p>
          <a:p>
            <a:pPr marL="742950" lvl="1" indent="-285750">
              <a:buFont typeface="Arial" panose="020B0604020202020204" pitchFamily="34" charset="0"/>
              <a:buChar char="•"/>
            </a:pPr>
            <a:endParaRPr lang="en-US" dirty="0" smtClean="0">
              <a:latin typeface="+mn-lt"/>
            </a:endParaRPr>
          </a:p>
          <a:p>
            <a:pPr marL="285750" indent="-285750">
              <a:buFont typeface="Arial" panose="020B0604020202020204" pitchFamily="34" charset="0"/>
              <a:buChar char="•"/>
            </a:pPr>
            <a:r>
              <a:rPr lang="en-US" dirty="0">
                <a:latin typeface="+mn-lt"/>
              </a:rPr>
              <a:t>Rule based script/module to categorize the type of the </a:t>
            </a:r>
            <a:r>
              <a:rPr lang="en-US" dirty="0" smtClean="0">
                <a:latin typeface="+mn-lt"/>
              </a:rPr>
              <a:t>question types</a:t>
            </a:r>
            <a:r>
              <a:rPr lang="en-US" dirty="0">
                <a:latin typeface="+mn-lt"/>
              </a:rPr>
              <a:t>: How or </a:t>
            </a:r>
            <a:r>
              <a:rPr lang="en-US" dirty="0" smtClean="0">
                <a:latin typeface="+mn-lt"/>
              </a:rPr>
              <a:t>What.</a:t>
            </a:r>
          </a:p>
          <a:p>
            <a:pPr marL="742950" lvl="1" indent="-285750">
              <a:buFont typeface="Arial" panose="020B0604020202020204" pitchFamily="34" charset="0"/>
              <a:buChar char="•"/>
            </a:pPr>
            <a:r>
              <a:rPr lang="en-US" dirty="0" err="1">
                <a:latin typeface="+mn-lt"/>
              </a:rPr>
              <a:t>eg</a:t>
            </a:r>
            <a:r>
              <a:rPr lang="en-US" dirty="0">
                <a:latin typeface="+mn-lt"/>
              </a:rPr>
              <a:t>. Query= Please tell me how to use Ice Plus function</a:t>
            </a:r>
            <a:r>
              <a:rPr lang="en-US" dirty="0" smtClean="0">
                <a:latin typeface="+mn-lt"/>
              </a:rPr>
              <a:t>.—(</a:t>
            </a:r>
            <a:r>
              <a:rPr lang="en-US" dirty="0" err="1" smtClean="0">
                <a:latin typeface="+mn-lt"/>
              </a:rPr>
              <a:t>QuestionTypeClassifier</a:t>
            </a:r>
            <a:r>
              <a:rPr lang="en-US" dirty="0" smtClean="0">
                <a:latin typeface="+mn-lt"/>
              </a:rPr>
              <a:t>)--&gt;”how” type—Triple Builder</a:t>
            </a:r>
            <a:r>
              <a:rPr lang="en-US" dirty="0" smtClean="0">
                <a:latin typeface="+mn-lt"/>
                <a:sym typeface="Wingdings" panose="05000000000000000000" pitchFamily="2" charset="2"/>
              </a:rPr>
              <a:t></a:t>
            </a:r>
            <a:r>
              <a:rPr lang="en-US" dirty="0" smtClean="0">
                <a:latin typeface="+mn-lt"/>
              </a:rPr>
              <a:t>  </a:t>
            </a:r>
            <a:r>
              <a:rPr lang="en-US" dirty="0">
                <a:latin typeface="+mn-lt"/>
              </a:rPr>
              <a:t>(Query, </a:t>
            </a:r>
            <a:r>
              <a:rPr lang="en-US" dirty="0" err="1">
                <a:latin typeface="+mn-lt"/>
              </a:rPr>
              <a:t>quesntion_type</a:t>
            </a:r>
            <a:r>
              <a:rPr lang="en-US" dirty="0">
                <a:latin typeface="+mn-lt"/>
              </a:rPr>
              <a:t>, how)</a:t>
            </a:r>
          </a:p>
        </p:txBody>
      </p:sp>
    </p:spTree>
    <p:extLst>
      <p:ext uri="{BB962C8B-B14F-4D97-AF65-F5344CB8AC3E}">
        <p14:creationId xmlns:p14="http://schemas.microsoft.com/office/powerpoint/2010/main" val="28435468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4"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3" name="TextBox 2"/>
          <p:cNvSpPr txBox="1"/>
          <p:nvPr/>
        </p:nvSpPr>
        <p:spPr>
          <a:xfrm>
            <a:off x="272480" y="671691"/>
            <a:ext cx="9345735" cy="7017306"/>
          </a:xfrm>
          <a:prstGeom prst="rect">
            <a:avLst/>
          </a:prstGeom>
          <a:noFill/>
        </p:spPr>
        <p:txBody>
          <a:bodyPr wrap="square" rtlCol="0">
            <a:spAutoFit/>
          </a:bodyPr>
          <a:lstStyle/>
          <a:p>
            <a:pPr marL="1200150" lvl="2" indent="-285750">
              <a:buFont typeface="Arial" panose="020B0604020202020204" pitchFamily="34" charset="0"/>
              <a:buChar char="•"/>
            </a:pPr>
            <a:r>
              <a:rPr lang="en-US" dirty="0" err="1">
                <a:latin typeface="+mn-lt"/>
              </a:rPr>
              <a:t>eg</a:t>
            </a:r>
            <a:r>
              <a:rPr lang="en-US" dirty="0">
                <a:latin typeface="+mn-lt"/>
              </a:rPr>
              <a:t>. Query= Describe 3 Ice Mode.--&gt; (Query, </a:t>
            </a:r>
            <a:r>
              <a:rPr lang="en-US" dirty="0" err="1">
                <a:latin typeface="+mn-lt"/>
              </a:rPr>
              <a:t>question_type</a:t>
            </a:r>
            <a:r>
              <a:rPr lang="en-US" dirty="0">
                <a:latin typeface="+mn-lt"/>
              </a:rPr>
              <a:t>, what)</a:t>
            </a:r>
          </a:p>
          <a:p>
            <a:pPr marL="1200150" lvl="2" indent="-285750">
              <a:buFont typeface="Arial" panose="020B0604020202020204" pitchFamily="34" charset="0"/>
              <a:buChar char="•"/>
            </a:pPr>
            <a:r>
              <a:rPr lang="en-US" dirty="0" err="1">
                <a:latin typeface="+mn-lt"/>
              </a:rPr>
              <a:t>eg</a:t>
            </a:r>
            <a:r>
              <a:rPr lang="en-US" dirty="0">
                <a:latin typeface="+mn-lt"/>
              </a:rPr>
              <a:t>. Query= How to fix IE Error--&gt; (Query, </a:t>
            </a:r>
            <a:r>
              <a:rPr lang="en-US" dirty="0" err="1">
                <a:latin typeface="+mn-lt"/>
              </a:rPr>
              <a:t>question_type</a:t>
            </a:r>
            <a:r>
              <a:rPr lang="en-US" dirty="0">
                <a:latin typeface="+mn-lt"/>
              </a:rPr>
              <a:t>, how</a:t>
            </a:r>
            <a:r>
              <a:rPr lang="en-US" dirty="0" smtClean="0">
                <a:latin typeface="+mn-lt"/>
              </a:rPr>
              <a:t>)</a:t>
            </a:r>
          </a:p>
          <a:p>
            <a:pPr lvl="1"/>
            <a:endParaRPr lang="en-US" dirty="0" smtClean="0">
              <a:latin typeface="+mn-lt"/>
            </a:endParaRPr>
          </a:p>
          <a:p>
            <a:r>
              <a:rPr lang="en-US" dirty="0" smtClean="0">
                <a:latin typeface="+mn-lt"/>
              </a:rPr>
              <a:t>Extract </a:t>
            </a:r>
            <a:r>
              <a:rPr lang="en-US" dirty="0">
                <a:latin typeface="+mn-lt"/>
              </a:rPr>
              <a:t>Triples from </a:t>
            </a:r>
            <a:r>
              <a:rPr lang="en-US" dirty="0" smtClean="0">
                <a:latin typeface="+mn-lt"/>
              </a:rPr>
              <a:t>Images</a:t>
            </a:r>
          </a:p>
          <a:p>
            <a:pPr marL="742950" lvl="1" indent="-285750">
              <a:buFont typeface="Arial" panose="020B0604020202020204" pitchFamily="34" charset="0"/>
              <a:buChar char="•"/>
            </a:pPr>
            <a:r>
              <a:rPr lang="en-US" dirty="0" smtClean="0">
                <a:latin typeface="+mn-lt"/>
              </a:rPr>
              <a:t>Image </a:t>
            </a:r>
            <a:r>
              <a:rPr lang="en-US" dirty="0">
                <a:latin typeface="+mn-lt"/>
              </a:rPr>
              <a:t>Zone Segmentation and Object </a:t>
            </a:r>
            <a:r>
              <a:rPr lang="en-US" dirty="0" smtClean="0">
                <a:latin typeface="+mn-lt"/>
              </a:rPr>
              <a:t>Character Recognition:</a:t>
            </a:r>
          </a:p>
          <a:p>
            <a:pPr marL="1200150" lvl="2" indent="-285750">
              <a:buFont typeface="Arial" panose="020B0604020202020204" pitchFamily="34" charset="0"/>
              <a:buChar char="•"/>
            </a:pPr>
            <a:r>
              <a:rPr lang="en-US" dirty="0" smtClean="0">
                <a:latin typeface="+mn-lt"/>
              </a:rPr>
              <a:t>Images </a:t>
            </a:r>
            <a:r>
              <a:rPr lang="en-US" dirty="0">
                <a:latin typeface="+mn-lt"/>
              </a:rPr>
              <a:t>are divided into multiple zones (</a:t>
            </a:r>
            <a:r>
              <a:rPr lang="en-US" dirty="0" err="1">
                <a:latin typeface="+mn-lt"/>
              </a:rPr>
              <a:t>eg</a:t>
            </a:r>
            <a:r>
              <a:rPr lang="en-US" dirty="0">
                <a:latin typeface="+mn-lt"/>
              </a:rPr>
              <a:t>. "Temp" Zone, "</a:t>
            </a:r>
            <a:r>
              <a:rPr lang="en-US" dirty="0" smtClean="0">
                <a:latin typeface="+mn-lt"/>
              </a:rPr>
              <a:t>Spin” Zone</a:t>
            </a:r>
            <a:r>
              <a:rPr lang="en-US" dirty="0">
                <a:latin typeface="+mn-lt"/>
              </a:rPr>
              <a:t>, "Mode" </a:t>
            </a:r>
            <a:r>
              <a:rPr lang="en-US" dirty="0" smtClean="0">
                <a:latin typeface="+mn-lt"/>
              </a:rPr>
              <a:t>Zone). The OCR extracts text from </a:t>
            </a:r>
            <a:r>
              <a:rPr lang="en-US" dirty="0">
                <a:latin typeface="+mn-lt"/>
              </a:rPr>
              <a:t>the </a:t>
            </a:r>
            <a:r>
              <a:rPr lang="en-US" dirty="0" smtClean="0">
                <a:latin typeface="+mn-lt"/>
              </a:rPr>
              <a:t>zones</a:t>
            </a:r>
          </a:p>
          <a:p>
            <a:pPr marL="1200150" lvl="2" indent="-285750">
              <a:buFont typeface="Arial" panose="020B0604020202020204" pitchFamily="34" charset="0"/>
              <a:buChar char="•"/>
            </a:pPr>
            <a:endParaRPr lang="en-US" dirty="0" smtClean="0">
              <a:latin typeface="+mn-lt"/>
            </a:endParaRPr>
          </a:p>
          <a:p>
            <a:pPr marL="742950" lvl="1" indent="-285750">
              <a:buFont typeface="Arial" panose="020B0604020202020204" pitchFamily="34" charset="0"/>
              <a:buChar char="•"/>
            </a:pPr>
            <a:endParaRPr lang="en-US" dirty="0" smtClean="0">
              <a:latin typeface="+mn-lt"/>
            </a:endParaRPr>
          </a:p>
          <a:p>
            <a:pPr marL="742950" lvl="1" indent="-285750">
              <a:buFont typeface="Arial" panose="020B0604020202020204" pitchFamily="34" charset="0"/>
              <a:buChar char="•"/>
            </a:pPr>
            <a:endParaRPr lang="en-US" dirty="0">
              <a:latin typeface="+mn-lt"/>
            </a:endParaRPr>
          </a:p>
          <a:p>
            <a:pPr marL="742950" lvl="1" indent="-285750">
              <a:buFont typeface="Arial" panose="020B0604020202020204" pitchFamily="34" charset="0"/>
              <a:buChar char="•"/>
            </a:pPr>
            <a:r>
              <a:rPr lang="en-US" dirty="0" smtClean="0">
                <a:latin typeface="+mn-lt"/>
              </a:rPr>
              <a:t>Zone </a:t>
            </a:r>
            <a:r>
              <a:rPr lang="en-US" dirty="0">
                <a:latin typeface="+mn-lt"/>
              </a:rPr>
              <a:t>L</a:t>
            </a:r>
            <a:r>
              <a:rPr lang="en-US" dirty="0" smtClean="0">
                <a:latin typeface="+mn-lt"/>
              </a:rPr>
              <a:t>abel Value Extractor: </a:t>
            </a:r>
            <a:r>
              <a:rPr lang="en-US" dirty="0">
                <a:latin typeface="+mn-lt"/>
              </a:rPr>
              <a:t>A module labels Zone name and extracts the </a:t>
            </a:r>
            <a:r>
              <a:rPr lang="en-US" dirty="0" smtClean="0">
                <a:latin typeface="+mn-lt"/>
              </a:rPr>
              <a:t>associated value. </a:t>
            </a:r>
            <a:r>
              <a:rPr lang="en-US" dirty="0" err="1" smtClean="0">
                <a:latin typeface="+mn-lt"/>
              </a:rPr>
              <a:t>Eg</a:t>
            </a:r>
            <a:r>
              <a:rPr lang="en-US" dirty="0">
                <a:latin typeface="+mn-lt"/>
              </a:rPr>
              <a:t>. If OCR extracts "temp", "Cold", "20deg", "40deg", "60deg", 95deg" for a given zone. The module takes [ "temp", "Cold", "20deg", "40deg", "60deg", 95deg" ] as input and </a:t>
            </a:r>
            <a:r>
              <a:rPr lang="en-US" dirty="0" smtClean="0">
                <a:latin typeface="+mn-lt"/>
              </a:rPr>
              <a:t>outputs, </a:t>
            </a:r>
            <a:r>
              <a:rPr lang="en-US" dirty="0" err="1" smtClean="0">
                <a:latin typeface="+mn-lt"/>
              </a:rPr>
              <a:t>Zone_name</a:t>
            </a:r>
            <a:r>
              <a:rPr lang="en-US" dirty="0">
                <a:latin typeface="+mn-lt"/>
              </a:rPr>
              <a:t>= </a:t>
            </a:r>
            <a:r>
              <a:rPr lang="en-US" dirty="0" smtClean="0">
                <a:latin typeface="+mn-lt"/>
              </a:rPr>
              <a:t>temp and </a:t>
            </a:r>
            <a:r>
              <a:rPr lang="en-US" dirty="0" err="1" smtClean="0">
                <a:latin typeface="+mn-lt"/>
              </a:rPr>
              <a:t>Zone_value</a:t>
            </a:r>
            <a:r>
              <a:rPr lang="en-US" dirty="0" smtClean="0">
                <a:latin typeface="+mn-lt"/>
              </a:rPr>
              <a:t>=40 </a:t>
            </a:r>
            <a:r>
              <a:rPr lang="en-US" dirty="0" err="1">
                <a:latin typeface="+mn-lt"/>
              </a:rPr>
              <a:t>deg</a:t>
            </a:r>
            <a:r>
              <a:rPr lang="en-US" dirty="0">
                <a:latin typeface="+mn-lt"/>
              </a:rPr>
              <a:t> </a:t>
            </a:r>
            <a:endParaRPr lang="en-US" dirty="0" smtClean="0">
              <a:latin typeface="+mn-lt"/>
            </a:endParaRPr>
          </a:p>
          <a:p>
            <a:pPr marL="742950" lvl="1" indent="-285750">
              <a:buFont typeface="Arial" panose="020B0604020202020204" pitchFamily="34" charset="0"/>
              <a:buChar char="•"/>
            </a:pPr>
            <a:r>
              <a:rPr lang="en-US" dirty="0" smtClean="0">
                <a:latin typeface="+mn-lt"/>
              </a:rPr>
              <a:t>The Triple </a:t>
            </a:r>
            <a:r>
              <a:rPr lang="en-US" dirty="0">
                <a:latin typeface="+mn-lt"/>
              </a:rPr>
              <a:t>Builder module </a:t>
            </a:r>
            <a:r>
              <a:rPr lang="en-US" dirty="0" smtClean="0">
                <a:latin typeface="+mn-lt"/>
              </a:rPr>
              <a:t>processes </a:t>
            </a:r>
            <a:r>
              <a:rPr lang="en-US" dirty="0">
                <a:latin typeface="+mn-lt"/>
              </a:rPr>
              <a:t>the </a:t>
            </a:r>
            <a:r>
              <a:rPr lang="en-US" dirty="0" smtClean="0">
                <a:latin typeface="+mn-lt"/>
              </a:rPr>
              <a:t>output of Zone </a:t>
            </a:r>
            <a:r>
              <a:rPr lang="en-US" dirty="0">
                <a:latin typeface="+mn-lt"/>
              </a:rPr>
              <a:t>Label Value </a:t>
            </a:r>
            <a:r>
              <a:rPr lang="en-US" dirty="0" smtClean="0">
                <a:latin typeface="+mn-lt"/>
              </a:rPr>
              <a:t>Extractor  </a:t>
            </a:r>
            <a:r>
              <a:rPr lang="en-US" dirty="0">
                <a:latin typeface="+mn-lt"/>
              </a:rPr>
              <a:t>along </a:t>
            </a:r>
            <a:r>
              <a:rPr lang="en-US" dirty="0" smtClean="0">
                <a:latin typeface="+mn-lt"/>
              </a:rPr>
              <a:t> </a:t>
            </a:r>
            <a:r>
              <a:rPr lang="en-US" dirty="0">
                <a:latin typeface="+mn-lt"/>
              </a:rPr>
              <a:t>to construct triples</a:t>
            </a:r>
          </a:p>
          <a:p>
            <a:pPr marL="1200150" lvl="2" indent="-285750">
              <a:buFont typeface="Arial" panose="020B0604020202020204" pitchFamily="34" charset="0"/>
              <a:buChar char="•"/>
            </a:pPr>
            <a:r>
              <a:rPr lang="en-US" dirty="0" err="1">
                <a:latin typeface="+mn-lt"/>
              </a:rPr>
              <a:t>Eg</a:t>
            </a:r>
            <a:r>
              <a:rPr lang="en-US" dirty="0">
                <a:latin typeface="+mn-lt"/>
              </a:rPr>
              <a:t>.</a:t>
            </a:r>
          </a:p>
          <a:p>
            <a:pPr lvl="2"/>
            <a:r>
              <a:rPr lang="en-US" dirty="0">
                <a:latin typeface="+mn-lt"/>
              </a:rPr>
              <a:t>(Topic, </a:t>
            </a:r>
            <a:r>
              <a:rPr lang="en-US" dirty="0" err="1">
                <a:latin typeface="+mn-lt"/>
              </a:rPr>
              <a:t>has_temp</a:t>
            </a:r>
            <a:r>
              <a:rPr lang="en-US" dirty="0">
                <a:latin typeface="+mn-lt"/>
              </a:rPr>
              <a:t>, 40 </a:t>
            </a:r>
            <a:r>
              <a:rPr lang="en-US" dirty="0" err="1">
                <a:latin typeface="+mn-lt"/>
              </a:rPr>
              <a:t>deg</a:t>
            </a:r>
            <a:r>
              <a:rPr lang="en-US" dirty="0">
                <a:latin typeface="+mn-lt"/>
              </a:rPr>
              <a:t>)</a:t>
            </a:r>
          </a:p>
          <a:p>
            <a:pPr lvl="2"/>
            <a:r>
              <a:rPr lang="en-US" dirty="0">
                <a:latin typeface="+mn-lt"/>
              </a:rPr>
              <a:t>(Topic, </a:t>
            </a:r>
            <a:r>
              <a:rPr lang="en-US" dirty="0" err="1">
                <a:latin typeface="+mn-lt"/>
              </a:rPr>
              <a:t>has_spin</a:t>
            </a:r>
            <a:r>
              <a:rPr lang="en-US" dirty="0">
                <a:latin typeface="+mn-lt"/>
              </a:rPr>
              <a:t>, 1000)</a:t>
            </a:r>
          </a:p>
          <a:p>
            <a:pPr lvl="2"/>
            <a:r>
              <a:rPr lang="en-US" dirty="0">
                <a:latin typeface="+mn-lt"/>
              </a:rPr>
              <a:t>(Topic, </a:t>
            </a:r>
            <a:r>
              <a:rPr lang="en-US" dirty="0" err="1">
                <a:latin typeface="+mn-lt"/>
              </a:rPr>
              <a:t>has_mode</a:t>
            </a:r>
            <a:r>
              <a:rPr lang="en-US" dirty="0">
                <a:latin typeface="+mn-lt"/>
              </a:rPr>
              <a:t>, Mix)</a:t>
            </a:r>
          </a:p>
          <a:p>
            <a:pPr lvl="2"/>
            <a:r>
              <a:rPr lang="en-US" dirty="0">
                <a:latin typeface="+mn-lt"/>
              </a:rPr>
              <a:t>(Topic, </a:t>
            </a:r>
            <a:r>
              <a:rPr lang="en-US" dirty="0" err="1">
                <a:latin typeface="+mn-lt"/>
              </a:rPr>
              <a:t>has_type</a:t>
            </a:r>
            <a:r>
              <a:rPr lang="en-US" dirty="0">
                <a:latin typeface="+mn-lt"/>
              </a:rPr>
              <a:t>, IE error)</a:t>
            </a:r>
            <a:endParaRPr lang="en-US" dirty="0" smtClean="0">
              <a:latin typeface="+mn-lt"/>
            </a:endParaRP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endParaRPr lang="en-US" dirty="0"/>
          </a:p>
          <a:p>
            <a:endParaRPr lang="en-US" dirty="0"/>
          </a:p>
          <a:p>
            <a:endParaRPr lang="en-US" dirty="0"/>
          </a:p>
        </p:txBody>
      </p:sp>
      <p:pic>
        <p:nvPicPr>
          <p:cNvPr id="7" name="Picture 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16896" y="2354658"/>
            <a:ext cx="2263309" cy="12257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5148550" y="2564904"/>
            <a:ext cx="1028586" cy="40261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5148550" y="2967518"/>
            <a:ext cx="1028586" cy="31746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232920" y="2564904"/>
            <a:ext cx="915630" cy="720080"/>
          </a:xfrm>
          <a:prstGeom prst="rect">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75369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4"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5" name="TextBox 4"/>
          <p:cNvSpPr txBox="1"/>
          <p:nvPr/>
        </p:nvSpPr>
        <p:spPr>
          <a:xfrm>
            <a:off x="488504" y="874568"/>
            <a:ext cx="3488134" cy="369332"/>
          </a:xfrm>
          <a:prstGeom prst="rect">
            <a:avLst/>
          </a:prstGeom>
          <a:noFill/>
        </p:spPr>
        <p:txBody>
          <a:bodyPr wrap="none" rtlCol="0">
            <a:spAutoFit/>
          </a:bodyPr>
          <a:lstStyle/>
          <a:p>
            <a:r>
              <a:rPr lang="en-US" dirty="0" smtClean="0"/>
              <a:t>Graph Summarization Network:</a:t>
            </a:r>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528" y="1260567"/>
            <a:ext cx="6242317" cy="3041910"/>
          </a:xfrm>
          <a:prstGeom prst="rect">
            <a:avLst/>
          </a:prstGeom>
        </p:spPr>
      </p:pic>
      <p:sp>
        <p:nvSpPr>
          <p:cNvPr id="6" name="TextBox 5"/>
          <p:cNvSpPr txBox="1"/>
          <p:nvPr/>
        </p:nvSpPr>
        <p:spPr>
          <a:xfrm>
            <a:off x="488504" y="4445395"/>
            <a:ext cx="9129711" cy="1477328"/>
          </a:xfrm>
          <a:prstGeom prst="rect">
            <a:avLst/>
          </a:prstGeom>
          <a:noFill/>
        </p:spPr>
        <p:txBody>
          <a:bodyPr wrap="square" rtlCol="0">
            <a:spAutoFit/>
          </a:bodyPr>
          <a:lstStyle/>
          <a:p>
            <a:pPr marL="285750" indent="-285750">
              <a:buFont typeface="Arial" panose="020B0604020202020204" pitchFamily="34" charset="0"/>
              <a:buChar char="•"/>
            </a:pPr>
            <a:r>
              <a:rPr lang="en-US" dirty="0" smtClean="0">
                <a:latin typeface="+mn-lt"/>
              </a:rPr>
              <a:t>Trained </a:t>
            </a:r>
            <a:r>
              <a:rPr lang="en-US" dirty="0">
                <a:latin typeface="+mn-lt"/>
              </a:rPr>
              <a:t>deep Neural Network model takes N-triples and each triple is converted </a:t>
            </a:r>
            <a:r>
              <a:rPr lang="en-US" dirty="0" smtClean="0">
                <a:latin typeface="+mn-lt"/>
              </a:rPr>
              <a:t>into a d-dimensional </a:t>
            </a:r>
            <a:r>
              <a:rPr lang="en-US" dirty="0">
                <a:latin typeface="+mn-lt"/>
              </a:rPr>
              <a:t>vector, the network </a:t>
            </a:r>
            <a:r>
              <a:rPr lang="en-US" dirty="0" smtClean="0">
                <a:latin typeface="+mn-lt"/>
              </a:rPr>
              <a:t>outputs N-scores(S1,S2..,SN) </a:t>
            </a:r>
            <a:r>
              <a:rPr lang="en-US" dirty="0">
                <a:latin typeface="+mn-lt"/>
              </a:rPr>
              <a:t>which indicates the probability that a triple is </a:t>
            </a:r>
            <a:r>
              <a:rPr lang="en-US" dirty="0" smtClean="0">
                <a:latin typeface="+mn-lt"/>
              </a:rPr>
              <a:t>relevant, </a:t>
            </a:r>
            <a:r>
              <a:rPr lang="en-US" dirty="0">
                <a:latin typeface="+mn-lt"/>
              </a:rPr>
              <a:t>we take </a:t>
            </a:r>
            <a:r>
              <a:rPr lang="en-US" dirty="0" smtClean="0">
                <a:latin typeface="+mn-lt"/>
              </a:rPr>
              <a:t>triples with score </a:t>
            </a:r>
            <a:r>
              <a:rPr lang="en-US" dirty="0">
                <a:latin typeface="+mn-lt"/>
              </a:rPr>
              <a:t>greater than a </a:t>
            </a:r>
            <a:r>
              <a:rPr lang="en-US" dirty="0" smtClean="0">
                <a:latin typeface="+mn-lt"/>
              </a:rPr>
              <a:t>threshold </a:t>
            </a:r>
            <a:r>
              <a:rPr lang="en-US" dirty="0">
                <a:latin typeface="+mn-lt"/>
              </a:rPr>
              <a:t>value. </a:t>
            </a:r>
            <a:endParaRPr lang="en-US" dirty="0" smtClean="0">
              <a:latin typeface="+mn-lt"/>
            </a:endParaRPr>
          </a:p>
          <a:p>
            <a:pPr marL="285750" indent="-285750">
              <a:buFont typeface="Arial" panose="020B0604020202020204" pitchFamily="34" charset="0"/>
              <a:buChar char="•"/>
            </a:pPr>
            <a:r>
              <a:rPr lang="en-US" dirty="0" err="1" smtClean="0">
                <a:latin typeface="+mn-lt"/>
              </a:rPr>
              <a:t>Eg</a:t>
            </a:r>
            <a:r>
              <a:rPr lang="en-US" dirty="0" smtClean="0">
                <a:latin typeface="+mn-lt"/>
              </a:rPr>
              <a:t>. 10 </a:t>
            </a:r>
            <a:r>
              <a:rPr lang="en-US" dirty="0">
                <a:latin typeface="+mn-lt"/>
              </a:rPr>
              <a:t>triples are input to the Summarization model , out of which 6 triples have score greater than </a:t>
            </a:r>
            <a:r>
              <a:rPr lang="en-US" dirty="0" smtClean="0">
                <a:latin typeface="+mn-lt"/>
              </a:rPr>
              <a:t>threshold( </a:t>
            </a:r>
            <a:r>
              <a:rPr lang="en-US" dirty="0">
                <a:latin typeface="+mn-lt"/>
              </a:rPr>
              <a:t>say 0.8 in a scale 0-1), we discard rest of the </a:t>
            </a:r>
            <a:r>
              <a:rPr lang="en-US" dirty="0" smtClean="0">
                <a:latin typeface="+mn-lt"/>
              </a:rPr>
              <a:t>4 triples.</a:t>
            </a:r>
            <a:endParaRPr lang="en-US" dirty="0">
              <a:latin typeface="+mn-lt"/>
            </a:endParaRPr>
          </a:p>
        </p:txBody>
      </p:sp>
    </p:spTree>
    <p:extLst>
      <p:ext uri="{BB962C8B-B14F-4D97-AF65-F5344CB8AC3E}">
        <p14:creationId xmlns:p14="http://schemas.microsoft.com/office/powerpoint/2010/main" val="19785524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4"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5" name="TextBox 4"/>
          <p:cNvSpPr txBox="1"/>
          <p:nvPr/>
        </p:nvSpPr>
        <p:spPr>
          <a:xfrm>
            <a:off x="488504" y="874568"/>
            <a:ext cx="3146631" cy="369332"/>
          </a:xfrm>
          <a:prstGeom prst="rect">
            <a:avLst/>
          </a:prstGeom>
          <a:noFill/>
        </p:spPr>
        <p:txBody>
          <a:bodyPr wrap="none" rtlCol="0">
            <a:spAutoFit/>
          </a:bodyPr>
          <a:lstStyle/>
          <a:p>
            <a:r>
              <a:rPr lang="en-US" dirty="0" smtClean="0"/>
              <a:t>Intelligent Query Formation:</a:t>
            </a:r>
            <a:endParaRPr lang="en-US"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3857" y="1547501"/>
            <a:ext cx="6001524" cy="3148590"/>
          </a:xfrm>
          <a:prstGeom prst="rect">
            <a:avLst/>
          </a:prstGeom>
        </p:spPr>
      </p:pic>
      <p:sp>
        <p:nvSpPr>
          <p:cNvPr id="6" name="TextBox 5"/>
          <p:cNvSpPr txBox="1"/>
          <p:nvPr/>
        </p:nvSpPr>
        <p:spPr>
          <a:xfrm>
            <a:off x="350313" y="4999692"/>
            <a:ext cx="9139191" cy="1200329"/>
          </a:xfrm>
          <a:prstGeom prst="rect">
            <a:avLst/>
          </a:prstGeom>
          <a:noFill/>
        </p:spPr>
        <p:txBody>
          <a:bodyPr wrap="square" rtlCol="0">
            <a:spAutoFit/>
          </a:bodyPr>
          <a:lstStyle/>
          <a:p>
            <a:r>
              <a:rPr lang="en-US" dirty="0"/>
              <a:t>Intelligent Query formation network </a:t>
            </a:r>
            <a:r>
              <a:rPr lang="en-US" dirty="0" smtClean="0"/>
              <a:t>is a </a:t>
            </a:r>
            <a:r>
              <a:rPr lang="en-US" dirty="0"/>
              <a:t>GPT/Transformer- based network fine tuned </a:t>
            </a:r>
            <a:r>
              <a:rPr lang="en-US" dirty="0" smtClean="0"/>
              <a:t>to generate </a:t>
            </a:r>
            <a:r>
              <a:rPr lang="en-US" dirty="0"/>
              <a:t>natural language query from selected </a:t>
            </a:r>
            <a:r>
              <a:rPr lang="en-US" dirty="0" smtClean="0"/>
              <a:t>triples M triples from total N-1 triples. Triples </a:t>
            </a:r>
            <a:r>
              <a:rPr lang="en-US" dirty="0"/>
              <a:t>are converted to </a:t>
            </a:r>
            <a:r>
              <a:rPr lang="en-US" dirty="0" err="1"/>
              <a:t>embeddings</a:t>
            </a:r>
            <a:r>
              <a:rPr lang="en-US" dirty="0"/>
              <a:t> and feed to Generative network which </a:t>
            </a:r>
            <a:r>
              <a:rPr lang="en-US" dirty="0" smtClean="0"/>
              <a:t>generates </a:t>
            </a:r>
            <a:r>
              <a:rPr lang="en-US" dirty="0"/>
              <a:t>natural language query.</a:t>
            </a:r>
          </a:p>
        </p:txBody>
      </p:sp>
    </p:spTree>
    <p:extLst>
      <p:ext uri="{BB962C8B-B14F-4D97-AF65-F5344CB8AC3E}">
        <p14:creationId xmlns:p14="http://schemas.microsoft.com/office/powerpoint/2010/main" val="194633001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32520" y="692696"/>
            <a:ext cx="8856984" cy="1477328"/>
          </a:xfrm>
          <a:prstGeom prst="rect">
            <a:avLst/>
          </a:prstGeom>
          <a:noFill/>
        </p:spPr>
        <p:txBody>
          <a:bodyPr wrap="square" rtlCol="0">
            <a:spAutoFit/>
          </a:bodyPr>
          <a:lstStyle/>
          <a:p>
            <a:r>
              <a:rPr lang="en-US" b="1" dirty="0" smtClean="0">
                <a:latin typeface="+mn-lt"/>
              </a:rPr>
              <a:t>Database:</a:t>
            </a:r>
          </a:p>
          <a:p>
            <a:pPr marL="285750" indent="-285750">
              <a:buFont typeface="Arial" panose="020B0604020202020204" pitchFamily="34" charset="0"/>
              <a:buChar char="•"/>
            </a:pPr>
            <a:r>
              <a:rPr lang="en-US" dirty="0">
                <a:latin typeface="+mn-lt"/>
              </a:rPr>
              <a:t>LG manual is extracted and stored as Knowledge Graph.</a:t>
            </a:r>
          </a:p>
          <a:p>
            <a:pPr marL="285750" indent="-285750">
              <a:buFont typeface="Arial" panose="020B0604020202020204" pitchFamily="34" charset="0"/>
              <a:buChar char="•"/>
            </a:pPr>
            <a:r>
              <a:rPr lang="en-US" dirty="0">
                <a:latin typeface="+mn-lt"/>
              </a:rPr>
              <a:t>User can ask queries to </a:t>
            </a:r>
            <a:r>
              <a:rPr lang="en-US" dirty="0" err="1" smtClean="0">
                <a:latin typeface="+mn-lt"/>
              </a:rPr>
              <a:t>thinQ</a:t>
            </a:r>
            <a:r>
              <a:rPr lang="en-US" dirty="0" smtClean="0">
                <a:latin typeface="+mn-lt"/>
              </a:rPr>
              <a:t> </a:t>
            </a:r>
            <a:r>
              <a:rPr lang="en-US" dirty="0">
                <a:latin typeface="+mn-lt"/>
              </a:rPr>
              <a:t>app related to manual</a:t>
            </a:r>
          </a:p>
          <a:p>
            <a:pPr marL="285750" indent="-285750">
              <a:buFont typeface="Arial" panose="020B0604020202020204" pitchFamily="34" charset="0"/>
              <a:buChar char="•"/>
            </a:pPr>
            <a:r>
              <a:rPr lang="en-US" dirty="0">
                <a:latin typeface="+mn-lt"/>
              </a:rPr>
              <a:t>Our pipeline needs to understand different queries from different users to accurately fetch the content from KG and present to the </a:t>
            </a:r>
            <a:r>
              <a:rPr lang="en-US" dirty="0" smtClean="0">
                <a:latin typeface="+mn-lt"/>
              </a:rPr>
              <a:t>user</a:t>
            </a:r>
          </a:p>
        </p:txBody>
      </p:sp>
      <p:pic>
        <p:nvPicPr>
          <p:cNvPr id="4" name="Picture 3"/>
          <p:cNvPicPr>
            <a:picLocks noChangeAspect="1"/>
          </p:cNvPicPr>
          <p:nvPr/>
        </p:nvPicPr>
        <p:blipFill>
          <a:blip r:embed="rId2"/>
          <a:stretch>
            <a:fillRect/>
          </a:stretch>
        </p:blipFill>
        <p:spPr>
          <a:xfrm>
            <a:off x="1009650" y="2204865"/>
            <a:ext cx="7471742" cy="4484850"/>
          </a:xfrm>
          <a:prstGeom prst="rect">
            <a:avLst/>
          </a:prstGeom>
          <a:noFill/>
          <a:ln>
            <a:solidFill>
              <a:schemeClr val="tx1"/>
            </a:solidFill>
          </a:ln>
          <a:effectLst>
            <a:softEdge rad="12700"/>
          </a:effectLst>
        </p:spPr>
      </p:pic>
    </p:spTree>
    <p:extLst>
      <p:ext uri="{BB962C8B-B14F-4D97-AF65-F5344CB8AC3E}">
        <p14:creationId xmlns:p14="http://schemas.microsoft.com/office/powerpoint/2010/main" val="39946164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1981" y="764704"/>
            <a:ext cx="7628242" cy="3693319"/>
          </a:xfrm>
          <a:prstGeom prst="rect">
            <a:avLst/>
          </a:prstGeom>
          <a:noFill/>
        </p:spPr>
        <p:txBody>
          <a:bodyPr wrap="none" rtlCol="0">
            <a:spAutoFit/>
          </a:bodyPr>
          <a:lstStyle/>
          <a:p>
            <a:r>
              <a:rPr lang="en-US" b="1" dirty="0">
                <a:latin typeface="+mn-lt"/>
              </a:rPr>
              <a:t>Question Answering Module:</a:t>
            </a:r>
          </a:p>
          <a:p>
            <a:r>
              <a:rPr lang="en-US" dirty="0">
                <a:latin typeface="+mn-lt"/>
              </a:rPr>
              <a:t>Question answering is a very popular natural language understanding task. </a:t>
            </a:r>
            <a:endParaRPr lang="en-US" dirty="0" smtClean="0">
              <a:latin typeface="+mn-lt"/>
            </a:endParaRPr>
          </a:p>
          <a:p>
            <a:r>
              <a:rPr lang="en-US" dirty="0" smtClean="0">
                <a:latin typeface="+mn-lt"/>
              </a:rPr>
              <a:t>It </a:t>
            </a:r>
            <a:r>
              <a:rPr lang="en-US" dirty="0">
                <a:latin typeface="+mn-lt"/>
              </a:rPr>
              <a:t>has applications in a wide variety of fields such as dialog interfaces, </a:t>
            </a:r>
            <a:r>
              <a:rPr lang="en-US" dirty="0" smtClean="0">
                <a:latin typeface="+mn-lt"/>
              </a:rPr>
              <a:t>chat bots,</a:t>
            </a:r>
          </a:p>
          <a:p>
            <a:r>
              <a:rPr lang="en-US" dirty="0" smtClean="0">
                <a:latin typeface="+mn-lt"/>
              </a:rPr>
              <a:t>and </a:t>
            </a:r>
            <a:r>
              <a:rPr lang="en-US" dirty="0">
                <a:latin typeface="+mn-lt"/>
              </a:rPr>
              <a:t>various information retrieval systems. Answering questions using knowledge graphs </a:t>
            </a:r>
            <a:r>
              <a:rPr lang="en-US" dirty="0" smtClean="0">
                <a:latin typeface="+mn-lt"/>
              </a:rPr>
              <a:t/>
            </a:r>
            <a:br>
              <a:rPr lang="en-US" dirty="0" smtClean="0">
                <a:latin typeface="+mn-lt"/>
              </a:rPr>
            </a:br>
            <a:r>
              <a:rPr lang="en-US" dirty="0" smtClean="0">
                <a:latin typeface="+mn-lt"/>
              </a:rPr>
              <a:t>adds a </a:t>
            </a:r>
            <a:r>
              <a:rPr lang="en-US" dirty="0">
                <a:latin typeface="+mn-lt"/>
              </a:rPr>
              <a:t>new dimension to these fields. </a:t>
            </a:r>
            <a:endParaRPr lang="en-US" dirty="0" smtClean="0">
              <a:latin typeface="+mn-lt"/>
            </a:endParaRPr>
          </a:p>
          <a:p>
            <a:r>
              <a:rPr lang="en-US" dirty="0" smtClean="0">
                <a:latin typeface="+mn-lt"/>
              </a:rPr>
              <a:t>It </a:t>
            </a:r>
            <a:r>
              <a:rPr lang="en-US" dirty="0">
                <a:latin typeface="+mn-lt"/>
              </a:rPr>
              <a:t>has many components in the pipeline</a:t>
            </a:r>
            <a:r>
              <a:rPr lang="en-US" dirty="0" smtClean="0">
                <a:latin typeface="+mn-lt"/>
              </a:rPr>
              <a:t>, </a:t>
            </a:r>
          </a:p>
          <a:p>
            <a:pPr marL="742950" lvl="1" indent="-285750">
              <a:buFont typeface="Arial" panose="020B0604020202020204" pitchFamily="34" charset="0"/>
              <a:buChar char="•"/>
            </a:pPr>
            <a:r>
              <a:rPr lang="en-US" dirty="0" smtClean="0">
                <a:latin typeface="+mn-lt"/>
              </a:rPr>
              <a:t>Classifier, </a:t>
            </a:r>
          </a:p>
          <a:p>
            <a:pPr marL="742950" lvl="1" indent="-285750">
              <a:buFont typeface="Arial" panose="020B0604020202020204" pitchFamily="34" charset="0"/>
              <a:buChar char="•"/>
            </a:pPr>
            <a:r>
              <a:rPr lang="en-US" dirty="0" smtClean="0">
                <a:latin typeface="+mn-lt"/>
              </a:rPr>
              <a:t>text similarity mapper,</a:t>
            </a:r>
          </a:p>
          <a:p>
            <a:pPr marL="742950" lvl="1" indent="-285750">
              <a:buFont typeface="Arial" panose="020B0604020202020204" pitchFamily="34" charset="0"/>
              <a:buChar char="•"/>
            </a:pPr>
            <a:r>
              <a:rPr lang="en-US" dirty="0" smtClean="0">
                <a:latin typeface="+mn-lt"/>
              </a:rPr>
              <a:t>Knowledge Graph</a:t>
            </a:r>
          </a:p>
          <a:p>
            <a:pPr marL="742950" lvl="1" indent="-285750">
              <a:buFont typeface="Arial" panose="020B0604020202020204" pitchFamily="34" charset="0"/>
              <a:buChar char="•"/>
            </a:pPr>
            <a:r>
              <a:rPr lang="en-US" dirty="0" smtClean="0">
                <a:latin typeface="+mn-lt"/>
              </a:rPr>
              <a:t>Natural answer generation (NLG)</a:t>
            </a:r>
          </a:p>
          <a:p>
            <a:endParaRPr lang="en-US" dirty="0"/>
          </a:p>
          <a:p>
            <a:endParaRPr lang="en-US" dirty="0"/>
          </a:p>
          <a:p>
            <a:endParaRPr lang="en-US" dirty="0"/>
          </a:p>
        </p:txBody>
      </p:sp>
    </p:spTree>
    <p:extLst>
      <p:ext uri="{BB962C8B-B14F-4D97-AF65-F5344CB8AC3E}">
        <p14:creationId xmlns:p14="http://schemas.microsoft.com/office/powerpoint/2010/main" val="33581053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2480" y="894958"/>
            <a:ext cx="9289032" cy="6206450"/>
          </a:xfrm>
          <a:prstGeom prst="rect">
            <a:avLst/>
          </a:prstGeom>
        </p:spPr>
      </p:pic>
      <p:sp>
        <p:nvSpPr>
          <p:cNvPr id="3" name="TextBox 2"/>
          <p:cNvSpPr txBox="1"/>
          <p:nvPr/>
        </p:nvSpPr>
        <p:spPr>
          <a:xfrm>
            <a:off x="632520" y="548680"/>
            <a:ext cx="8136904" cy="369332"/>
          </a:xfrm>
          <a:prstGeom prst="rect">
            <a:avLst/>
          </a:prstGeom>
          <a:noFill/>
        </p:spPr>
        <p:txBody>
          <a:bodyPr wrap="square" rtlCol="0">
            <a:spAutoFit/>
          </a:bodyPr>
          <a:lstStyle/>
          <a:p>
            <a:r>
              <a:rPr lang="en-US" b="1" dirty="0" smtClean="0">
                <a:latin typeface="+mj-lt"/>
              </a:rPr>
              <a:t>Question Answering Module </a:t>
            </a:r>
            <a:r>
              <a:rPr lang="en-US" dirty="0" err="1" smtClean="0"/>
              <a:t>Contd</a:t>
            </a:r>
            <a:r>
              <a:rPr lang="en-US" dirty="0" smtClean="0"/>
              <a:t>…</a:t>
            </a:r>
            <a:endParaRPr lang="en-US" dirty="0"/>
          </a:p>
        </p:txBody>
      </p:sp>
    </p:spTree>
    <p:extLst>
      <p:ext uri="{BB962C8B-B14F-4D97-AF65-F5344CB8AC3E}">
        <p14:creationId xmlns:p14="http://schemas.microsoft.com/office/powerpoint/2010/main" val="3483780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04528" y="908720"/>
            <a:ext cx="8424936" cy="2585323"/>
          </a:xfrm>
          <a:prstGeom prst="rect">
            <a:avLst/>
          </a:prstGeom>
          <a:noFill/>
        </p:spPr>
        <p:txBody>
          <a:bodyPr wrap="square" rtlCol="0">
            <a:spAutoFit/>
          </a:bodyPr>
          <a:lstStyle/>
          <a:p>
            <a:r>
              <a:rPr lang="en-US" b="1" dirty="0" smtClean="0">
                <a:latin typeface="+mn-lt"/>
              </a:rPr>
              <a:t>Issue Classifier</a:t>
            </a:r>
          </a:p>
          <a:p>
            <a:r>
              <a:rPr lang="en-US" dirty="0" smtClean="0">
                <a:latin typeface="+mn-lt"/>
              </a:rPr>
              <a:t>This module classifies the user problem to error, noise, problem and feature</a:t>
            </a:r>
            <a:endParaRPr lang="en-US" dirty="0">
              <a:latin typeface="+mn-lt"/>
            </a:endParaRPr>
          </a:p>
          <a:p>
            <a:r>
              <a:rPr lang="en-US" dirty="0">
                <a:latin typeface="+mn-lt"/>
              </a:rPr>
              <a:t>Following types of classifier are required. Each classifier is trained for a particular purpose for better accuracy</a:t>
            </a:r>
          </a:p>
          <a:p>
            <a:pPr marL="742950" lvl="1" indent="-285750">
              <a:buFont typeface="Arial" panose="020B0604020202020204" pitchFamily="34" charset="0"/>
              <a:buChar char="•"/>
            </a:pPr>
            <a:r>
              <a:rPr lang="en-US" dirty="0">
                <a:latin typeface="+mn-lt"/>
              </a:rPr>
              <a:t>Topic classifier :  Classifies a given query into one of Troubleshooting , Specification, Operation (or) Installation</a:t>
            </a:r>
          </a:p>
          <a:p>
            <a:pPr marL="742950" lvl="1" indent="-285750">
              <a:buFont typeface="Arial" panose="020B0604020202020204" pitchFamily="34" charset="0"/>
              <a:buChar char="•"/>
            </a:pPr>
            <a:r>
              <a:rPr lang="en-US" dirty="0" smtClean="0">
                <a:latin typeface="+mn-lt"/>
              </a:rPr>
              <a:t>Type </a:t>
            </a:r>
            <a:r>
              <a:rPr lang="en-US" dirty="0">
                <a:latin typeface="+mn-lt"/>
              </a:rPr>
              <a:t>classifier </a:t>
            </a:r>
            <a:r>
              <a:rPr lang="en-US" dirty="0" smtClean="0">
                <a:latin typeface="+mn-lt"/>
              </a:rPr>
              <a:t>:If </a:t>
            </a:r>
            <a:r>
              <a:rPr lang="en-US" dirty="0">
                <a:latin typeface="+mn-lt"/>
              </a:rPr>
              <a:t>the query for troubleshooting section, then identifies the problem </a:t>
            </a:r>
            <a:r>
              <a:rPr lang="en-US" dirty="0" smtClean="0">
                <a:latin typeface="+mn-lt"/>
              </a:rPr>
              <a:t>type(error/noise/problem). If </a:t>
            </a:r>
            <a:r>
              <a:rPr lang="en-US" dirty="0">
                <a:latin typeface="+mn-lt"/>
              </a:rPr>
              <a:t>the query for operation section, then  </a:t>
            </a:r>
            <a:r>
              <a:rPr lang="en-US" dirty="0" smtClean="0">
                <a:latin typeface="+mn-lt"/>
              </a:rPr>
              <a:t>identifies the specific feature</a:t>
            </a:r>
            <a:endParaRPr lang="en-US" dirty="0">
              <a:latin typeface="+mn-lt"/>
            </a:endParaRPr>
          </a:p>
          <a:p>
            <a:endParaRPr lang="en-US" dirty="0" smtClean="0">
              <a:latin typeface="+mn-lt"/>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4608" y="3832051"/>
            <a:ext cx="5905500" cy="2981325"/>
          </a:xfrm>
          <a:prstGeom prst="rect">
            <a:avLst/>
          </a:prstGeom>
          <a:ln>
            <a:solidFill>
              <a:schemeClr val="tx1"/>
            </a:solidFill>
          </a:ln>
        </p:spPr>
      </p:pic>
    </p:spTree>
    <p:extLst>
      <p:ext uri="{BB962C8B-B14F-4D97-AF65-F5344CB8AC3E}">
        <p14:creationId xmlns:p14="http://schemas.microsoft.com/office/powerpoint/2010/main" val="1378769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0512" y="908720"/>
            <a:ext cx="8712968" cy="1754326"/>
          </a:xfrm>
          <a:prstGeom prst="rect">
            <a:avLst/>
          </a:prstGeom>
          <a:noFill/>
        </p:spPr>
        <p:txBody>
          <a:bodyPr wrap="square" rtlCol="0">
            <a:spAutoFit/>
          </a:bodyPr>
          <a:lstStyle/>
          <a:p>
            <a:r>
              <a:rPr lang="en-US" b="1" dirty="0" smtClean="0">
                <a:latin typeface="+mn-lt"/>
              </a:rPr>
              <a:t>Feature Classifier:</a:t>
            </a:r>
          </a:p>
          <a:p>
            <a:r>
              <a:rPr lang="en-US" dirty="0" smtClean="0">
                <a:latin typeface="+mn-lt"/>
              </a:rPr>
              <a:t>This classifier helps us to extract main feature/issue from the user query. It will  use  info extraction to extract specific feature information and issue information</a:t>
            </a:r>
          </a:p>
          <a:p>
            <a:endParaRPr lang="en-US" dirty="0"/>
          </a:p>
          <a:p>
            <a:endParaRPr lang="en-US" dirty="0" smtClean="0"/>
          </a:p>
          <a:p>
            <a:endParaRPr lang="en-US"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4648" y="2049626"/>
            <a:ext cx="6689768" cy="3971662"/>
          </a:xfrm>
          <a:prstGeom prst="rect">
            <a:avLst/>
          </a:prstGeom>
          <a:ln>
            <a:solidFill>
              <a:schemeClr val="tx1"/>
            </a:solidFill>
          </a:ln>
        </p:spPr>
      </p:pic>
    </p:spTree>
    <p:extLst>
      <p:ext uri="{BB962C8B-B14F-4D97-AF65-F5344CB8AC3E}">
        <p14:creationId xmlns:p14="http://schemas.microsoft.com/office/powerpoint/2010/main" val="4103710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496" y="980728"/>
            <a:ext cx="8352928" cy="2585323"/>
          </a:xfrm>
          <a:prstGeom prst="rect">
            <a:avLst/>
          </a:prstGeom>
          <a:noFill/>
        </p:spPr>
        <p:txBody>
          <a:bodyPr wrap="square" rtlCol="0">
            <a:spAutoFit/>
          </a:bodyPr>
          <a:lstStyle/>
          <a:p>
            <a:r>
              <a:rPr lang="en-US" b="1" dirty="0" smtClean="0">
                <a:latin typeface="+mn-lt"/>
              </a:rPr>
              <a:t>Statistical analysis:</a:t>
            </a:r>
          </a:p>
          <a:p>
            <a:r>
              <a:rPr lang="en-US" dirty="0" smtClean="0">
                <a:latin typeface="+mn-lt"/>
              </a:rPr>
              <a:t>This module uses AI models to take insights from the user query and </a:t>
            </a:r>
            <a:r>
              <a:rPr lang="en-US" dirty="0">
                <a:latin typeface="+mn-lt"/>
              </a:rPr>
              <a:t> examine sets of </a:t>
            </a:r>
            <a:r>
              <a:rPr lang="en-US" dirty="0" smtClean="0">
                <a:latin typeface="+mn-lt"/>
              </a:rPr>
              <a:t>data to find the most occurrence/frequency, patterns of user interested areas.</a:t>
            </a:r>
          </a:p>
          <a:p>
            <a:r>
              <a:rPr lang="en-US" dirty="0" smtClean="0">
                <a:latin typeface="+mn-lt"/>
              </a:rPr>
              <a:t>As shown in below figure, this module extracts features and holds the frequency of every issues/features.</a:t>
            </a:r>
          </a:p>
          <a:p>
            <a:endParaRPr lang="en-US" dirty="0"/>
          </a:p>
          <a:p>
            <a:endParaRPr lang="en-US" dirty="0" smtClean="0"/>
          </a:p>
          <a:p>
            <a:endParaRPr lang="en-US" dirty="0"/>
          </a:p>
          <a:p>
            <a:endParaRPr lang="en-US" dirty="0"/>
          </a:p>
        </p:txBody>
      </p:sp>
      <p:grpSp>
        <p:nvGrpSpPr>
          <p:cNvPr id="24" name="Group 23"/>
          <p:cNvGrpSpPr/>
          <p:nvPr/>
        </p:nvGrpSpPr>
        <p:grpSpPr>
          <a:xfrm>
            <a:off x="632520" y="2755098"/>
            <a:ext cx="9001000" cy="3194182"/>
            <a:chOff x="776536" y="2683090"/>
            <a:chExt cx="9001000" cy="3194182"/>
          </a:xfrm>
        </p:grpSpPr>
        <p:sp>
          <p:nvSpPr>
            <p:cNvPr id="3" name="Oval 2"/>
            <p:cNvSpPr/>
            <p:nvPr/>
          </p:nvSpPr>
          <p:spPr>
            <a:xfrm>
              <a:off x="776536" y="3550809"/>
              <a:ext cx="1584176" cy="108012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920552" y="3910849"/>
              <a:ext cx="1656183" cy="369332"/>
            </a:xfrm>
            <a:prstGeom prst="rect">
              <a:avLst/>
            </a:prstGeom>
            <a:noFill/>
          </p:spPr>
          <p:txBody>
            <a:bodyPr wrap="square" rtlCol="0">
              <a:spAutoFit/>
            </a:bodyPr>
            <a:lstStyle/>
            <a:p>
              <a:r>
                <a:rPr lang="en-US" dirty="0" smtClean="0"/>
                <a:t>User query </a:t>
              </a:r>
              <a:endParaRPr lang="en-US" dirty="0"/>
            </a:p>
          </p:txBody>
        </p:sp>
        <p:sp>
          <p:nvSpPr>
            <p:cNvPr id="7" name="Rounded Rectangle 6"/>
            <p:cNvSpPr/>
            <p:nvPr/>
          </p:nvSpPr>
          <p:spPr>
            <a:xfrm>
              <a:off x="3152800" y="3550809"/>
              <a:ext cx="1944216" cy="108012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3152800" y="3766833"/>
              <a:ext cx="1656184" cy="646331"/>
            </a:xfrm>
            <a:prstGeom prst="rect">
              <a:avLst/>
            </a:prstGeom>
            <a:noFill/>
          </p:spPr>
          <p:txBody>
            <a:bodyPr wrap="square" rtlCol="0">
              <a:spAutoFit/>
            </a:bodyPr>
            <a:lstStyle/>
            <a:p>
              <a:r>
                <a:rPr lang="en-US" dirty="0" smtClean="0"/>
                <a:t>Statistical AI model</a:t>
              </a:r>
              <a:endParaRPr lang="en-US" dirty="0"/>
            </a:p>
          </p:txBody>
        </p:sp>
        <p:cxnSp>
          <p:nvCxnSpPr>
            <p:cNvPr id="14" name="Straight Arrow Connector 13"/>
            <p:cNvCxnSpPr>
              <a:endCxn id="8" idx="1"/>
            </p:cNvCxnSpPr>
            <p:nvPr/>
          </p:nvCxnSpPr>
          <p:spPr>
            <a:xfrm>
              <a:off x="2360712" y="4054865"/>
              <a:ext cx="792088" cy="351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61111" y="2683090"/>
              <a:ext cx="3816425" cy="3194182"/>
            </a:xfrm>
            <a:prstGeom prst="rect">
              <a:avLst/>
            </a:prstGeom>
            <a:ln>
              <a:solidFill>
                <a:schemeClr val="accent1">
                  <a:shade val="50000"/>
                </a:schemeClr>
              </a:solidFill>
            </a:ln>
          </p:spPr>
        </p:pic>
        <p:cxnSp>
          <p:nvCxnSpPr>
            <p:cNvPr id="22" name="Straight Arrow Connector 21"/>
            <p:cNvCxnSpPr>
              <a:stCxn id="7" idx="3"/>
            </p:cNvCxnSpPr>
            <p:nvPr/>
          </p:nvCxnSpPr>
          <p:spPr>
            <a:xfrm flipV="1">
              <a:off x="5097016" y="4089999"/>
              <a:ext cx="864096" cy="87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416496" y="4869160"/>
            <a:ext cx="2169184" cy="1231106"/>
          </a:xfrm>
          <a:prstGeom prst="rect">
            <a:avLst/>
          </a:prstGeom>
          <a:noFill/>
          <a:ln>
            <a:solidFill>
              <a:schemeClr val="tx1"/>
            </a:solidFill>
          </a:ln>
        </p:spPr>
        <p:txBody>
          <a:bodyPr wrap="none" rtlCol="0">
            <a:spAutoFit/>
          </a:bodyPr>
          <a:lstStyle/>
          <a:p>
            <a:r>
              <a:rPr lang="en-US" dirty="0" smtClean="0"/>
              <a:t>Examples: </a:t>
            </a:r>
            <a:br>
              <a:rPr lang="en-US" dirty="0" smtClean="0"/>
            </a:br>
            <a:r>
              <a:rPr lang="en-US" sz="1400" dirty="0" smtClean="0">
                <a:latin typeface="+mn-lt"/>
              </a:rPr>
              <a:t>1.I am facing IE error. </a:t>
            </a:r>
            <a:br>
              <a:rPr lang="en-US" sz="1400" dirty="0" smtClean="0">
                <a:latin typeface="+mn-lt"/>
              </a:rPr>
            </a:br>
            <a:r>
              <a:rPr lang="en-US" sz="1400" dirty="0" smtClean="0">
                <a:latin typeface="+mn-lt"/>
              </a:rPr>
              <a:t>what should I do?</a:t>
            </a:r>
            <a:br>
              <a:rPr lang="en-US" sz="1400" dirty="0" smtClean="0">
                <a:latin typeface="+mn-lt"/>
              </a:rPr>
            </a:br>
            <a:r>
              <a:rPr lang="en-US" sz="1400" dirty="0" smtClean="0">
                <a:latin typeface="+mn-lt"/>
              </a:rPr>
              <a:t>2.How can I resolve OE error?</a:t>
            </a:r>
            <a:br>
              <a:rPr lang="en-US" sz="1400" dirty="0" smtClean="0">
                <a:latin typeface="+mn-lt"/>
              </a:rPr>
            </a:br>
            <a:r>
              <a:rPr lang="en-US" sz="1400" dirty="0" smtClean="0">
                <a:latin typeface="+mn-lt"/>
              </a:rPr>
              <a:t>3. what is ice plus feature?</a:t>
            </a:r>
            <a:endParaRPr lang="en-US" sz="1400" dirty="0">
              <a:latin typeface="+mn-lt"/>
            </a:endParaRPr>
          </a:p>
        </p:txBody>
      </p:sp>
      <p:sp>
        <p:nvSpPr>
          <p:cNvPr id="28" name="TextBox 27"/>
          <p:cNvSpPr txBox="1"/>
          <p:nvPr/>
        </p:nvSpPr>
        <p:spPr>
          <a:xfrm>
            <a:off x="2999840" y="4923745"/>
            <a:ext cx="2097176" cy="1169551"/>
          </a:xfrm>
          <a:prstGeom prst="rect">
            <a:avLst/>
          </a:prstGeom>
          <a:noFill/>
          <a:ln>
            <a:solidFill>
              <a:schemeClr val="tx1"/>
            </a:solidFill>
          </a:ln>
        </p:spPr>
        <p:txBody>
          <a:bodyPr wrap="square" rtlCol="0">
            <a:spAutoFit/>
          </a:bodyPr>
          <a:lstStyle/>
          <a:p>
            <a:r>
              <a:rPr lang="en-US" sz="1400" dirty="0" smtClean="0">
                <a:latin typeface="+mn-lt"/>
              </a:rPr>
              <a:t>Using info extraction module it extracts feature and maintains frequency</a:t>
            </a:r>
          </a:p>
          <a:p>
            <a:endParaRPr lang="en-US" sz="1400" dirty="0">
              <a:latin typeface="+mn-lt"/>
            </a:endParaRPr>
          </a:p>
          <a:p>
            <a:endParaRPr lang="en-US" sz="1400" dirty="0" smtClean="0">
              <a:latin typeface="+mn-lt"/>
            </a:endParaRPr>
          </a:p>
        </p:txBody>
      </p:sp>
    </p:spTree>
    <p:extLst>
      <p:ext uri="{BB962C8B-B14F-4D97-AF65-F5344CB8AC3E}">
        <p14:creationId xmlns:p14="http://schemas.microsoft.com/office/powerpoint/2010/main" val="1716780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4" name="직사각형 64"/>
          <p:cNvSpPr>
            <a:spLocks noChangeArrowheads="1"/>
          </p:cNvSpPr>
          <p:nvPr/>
        </p:nvSpPr>
        <p:spPr bwMode="auto">
          <a:xfrm>
            <a:off x="272480" y="570967"/>
            <a:ext cx="9345735" cy="6048672"/>
          </a:xfrm>
          <a:prstGeom prst="rect">
            <a:avLst/>
          </a:prstGeom>
          <a:noFill/>
          <a:ln w="9525" algn="ctr">
            <a:solidFill>
              <a:schemeClr val="tx1"/>
            </a:solidFill>
            <a:round/>
            <a:headEnd/>
            <a:tailEnd/>
          </a:ln>
        </p:spPr>
        <p:txBody>
          <a:bodyPr anchor="ctr"/>
          <a:lstStyle/>
          <a:p>
            <a:endParaRPr lang="en-US" altLang="ko-KR" sz="1200" dirty="0">
              <a:solidFill>
                <a:srgbClr val="000000"/>
              </a:solidFill>
              <a:latin typeface="+mj-lt"/>
              <a:ea typeface="+mn-ea"/>
              <a:cs typeface="Arial" charset="0"/>
            </a:endParaRPr>
          </a:p>
        </p:txBody>
      </p:sp>
      <p:sp>
        <p:nvSpPr>
          <p:cNvPr id="7" name="Rectangle 6"/>
          <p:cNvSpPr/>
          <p:nvPr/>
        </p:nvSpPr>
        <p:spPr>
          <a:xfrm>
            <a:off x="341239" y="175846"/>
            <a:ext cx="2163489" cy="369332"/>
          </a:xfrm>
          <a:prstGeom prst="rect">
            <a:avLst/>
          </a:prstGeom>
        </p:spPr>
        <p:txBody>
          <a:bodyPr wrap="square">
            <a:spAutoFit/>
          </a:bodyPr>
          <a:lstStyle/>
          <a:p>
            <a:r>
              <a:rPr lang="en-IN" b="1" dirty="0" smtClean="0">
                <a:latin typeface="+mj-lt"/>
              </a:rPr>
              <a:t>Flow Diagram</a:t>
            </a:r>
            <a:endParaRPr lang="en-IN" b="1" dirty="0">
              <a:latin typeface="+mj-lt"/>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4528" y="583580"/>
            <a:ext cx="8712968" cy="5564791"/>
          </a:xfrm>
          <a:prstGeom prst="rect">
            <a:avLst/>
          </a:prstGeom>
        </p:spPr>
      </p:pic>
    </p:spTree>
    <p:extLst>
      <p:ext uri="{BB962C8B-B14F-4D97-AF65-F5344CB8AC3E}">
        <p14:creationId xmlns:p14="http://schemas.microsoft.com/office/powerpoint/2010/main" val="16663463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999952" y="5791772"/>
            <a:ext cx="1430135" cy="307777"/>
          </a:xfrm>
          <a:prstGeom prst="rect">
            <a:avLst/>
          </a:prstGeom>
          <a:noFill/>
        </p:spPr>
        <p:txBody>
          <a:bodyPr wrap="none" rtlCol="0">
            <a:spAutoFit/>
          </a:bodyPr>
          <a:lstStyle/>
          <a:p>
            <a:r>
              <a:rPr lang="en-US" sz="1400" dirty="0" smtClean="0">
                <a:latin typeface="+mj-lt"/>
              </a:rPr>
              <a:t>Statistical AI model</a:t>
            </a:r>
            <a:endParaRPr lang="en-US" sz="1400" dirty="0">
              <a:latin typeface="+mj-lt"/>
            </a:endParaRPr>
          </a:p>
        </p:txBody>
      </p:sp>
      <p:grpSp>
        <p:nvGrpSpPr>
          <p:cNvPr id="28" name="Group 27"/>
          <p:cNvGrpSpPr/>
          <p:nvPr/>
        </p:nvGrpSpPr>
        <p:grpSpPr>
          <a:xfrm>
            <a:off x="395434" y="198545"/>
            <a:ext cx="9420466" cy="6491390"/>
            <a:chOff x="34726" y="279349"/>
            <a:chExt cx="9420466" cy="6491390"/>
          </a:xfrm>
        </p:grpSpPr>
        <p:sp>
          <p:nvSpPr>
            <p:cNvPr id="49" name="TextBox 48"/>
            <p:cNvSpPr txBox="1"/>
            <p:nvPr/>
          </p:nvSpPr>
          <p:spPr>
            <a:xfrm>
              <a:off x="34726" y="4526008"/>
              <a:ext cx="1184602" cy="461665"/>
            </a:xfrm>
            <a:prstGeom prst="rect">
              <a:avLst/>
            </a:prstGeom>
            <a:noFill/>
            <a:ln>
              <a:noFill/>
            </a:ln>
          </p:spPr>
          <p:txBody>
            <a:bodyPr wrap="square" rtlCol="0">
              <a:spAutoFit/>
            </a:bodyPr>
            <a:lstStyle/>
            <a:p>
              <a:r>
                <a:rPr lang="en-IN" sz="1200" b="1" dirty="0" smtClean="0">
                  <a:latin typeface="+mj-lt"/>
                </a:rPr>
                <a:t>Question Answering Subsystem</a:t>
              </a:r>
            </a:p>
          </p:txBody>
        </p:sp>
        <p:grpSp>
          <p:nvGrpSpPr>
            <p:cNvPr id="27" name="Group 26"/>
            <p:cNvGrpSpPr/>
            <p:nvPr/>
          </p:nvGrpSpPr>
          <p:grpSpPr>
            <a:xfrm>
              <a:off x="1182798" y="279349"/>
              <a:ext cx="8272394" cy="6491390"/>
              <a:chOff x="1182798" y="279349"/>
              <a:chExt cx="8272394" cy="6491390"/>
            </a:xfrm>
          </p:grpSpPr>
          <p:sp>
            <p:nvSpPr>
              <p:cNvPr id="4" name="AutoShape 2" descr="https://i.ytimg.com/an_webp/dqmFhKN8Z50/mqdefault_6s.webp?du=3000&amp;sqp=CLOagoYG&amp;rs=AOn4CLABnG04Gb6Wu_nrIF9nXbpaFuJoSA"/>
              <p:cNvSpPr>
                <a:spLocks noChangeAspect="1" noChangeArrowheads="1"/>
              </p:cNvSpPr>
              <p:nvPr/>
            </p:nvSpPr>
            <p:spPr bwMode="auto">
              <a:xfrm>
                <a:off x="4690975" y="86112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6624" y="1765715"/>
                <a:ext cx="1819854" cy="652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flipV="1">
                <a:off x="1712640" y="1636469"/>
                <a:ext cx="484402" cy="46038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1029" idx="1"/>
              </p:cNvCxnSpPr>
              <p:nvPr/>
            </p:nvCxnSpPr>
            <p:spPr>
              <a:xfrm>
                <a:off x="1712640" y="1553756"/>
                <a:ext cx="483984" cy="53819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275596" y="2765295"/>
                <a:ext cx="1124026" cy="276999"/>
              </a:xfrm>
              <a:prstGeom prst="rect">
                <a:avLst/>
              </a:prstGeom>
              <a:noFill/>
              <a:ln>
                <a:solidFill>
                  <a:schemeClr val="tx1"/>
                </a:solidFill>
              </a:ln>
            </p:spPr>
            <p:txBody>
              <a:bodyPr wrap="none" rtlCol="0">
                <a:spAutoFit/>
              </a:bodyPr>
              <a:lstStyle/>
              <a:p>
                <a:r>
                  <a:rPr lang="en-IN" sz="1200" b="1" dirty="0" smtClean="0">
                    <a:latin typeface="+mj-lt"/>
                  </a:rPr>
                  <a:t>How to fix </a:t>
                </a:r>
                <a:r>
                  <a:rPr lang="en-IN" sz="1200" b="1" dirty="0" smtClean="0">
                    <a:solidFill>
                      <a:srgbClr val="FF0000"/>
                    </a:solidFill>
                    <a:latin typeface="+mj-lt"/>
                  </a:rPr>
                  <a:t>this</a:t>
                </a:r>
                <a:r>
                  <a:rPr lang="en-IN" sz="1200" b="1" dirty="0" smtClean="0">
                    <a:latin typeface="+mj-lt"/>
                  </a:rPr>
                  <a:t>?</a:t>
                </a:r>
                <a:endParaRPr lang="en-IN" sz="1200" b="1" dirty="0">
                  <a:latin typeface="+mj-lt"/>
                </a:endParaRPr>
              </a:p>
            </p:txBody>
          </p:sp>
          <p:sp>
            <p:nvSpPr>
              <p:cNvPr id="16" name="TextBox 15"/>
              <p:cNvSpPr txBox="1"/>
              <p:nvPr/>
            </p:nvSpPr>
            <p:spPr>
              <a:xfrm>
                <a:off x="2108724" y="479823"/>
                <a:ext cx="1531188" cy="261610"/>
              </a:xfrm>
              <a:prstGeom prst="rect">
                <a:avLst/>
              </a:prstGeom>
              <a:noFill/>
            </p:spPr>
            <p:txBody>
              <a:bodyPr wrap="none" rtlCol="0">
                <a:spAutoFit/>
              </a:bodyPr>
              <a:lstStyle/>
              <a:p>
                <a:r>
                  <a:rPr lang="en-IN" sz="1100" b="1" u="sng" dirty="0" smtClean="0">
                    <a:latin typeface="+mj-lt"/>
                  </a:rPr>
                  <a:t>Images- Multiple Frames</a:t>
                </a:r>
                <a:endParaRPr lang="en-IN" sz="1100" b="1" u="sng" dirty="0">
                  <a:latin typeface="+mj-lt"/>
                </a:endParaRPr>
              </a:p>
            </p:txBody>
          </p:sp>
          <p:sp>
            <p:nvSpPr>
              <p:cNvPr id="20" name="TextBox 19"/>
              <p:cNvSpPr txBox="1"/>
              <p:nvPr/>
            </p:nvSpPr>
            <p:spPr>
              <a:xfrm>
                <a:off x="2108530" y="1487935"/>
                <a:ext cx="2050561" cy="261610"/>
              </a:xfrm>
              <a:prstGeom prst="rect">
                <a:avLst/>
              </a:prstGeom>
              <a:noFill/>
            </p:spPr>
            <p:txBody>
              <a:bodyPr wrap="none" rtlCol="0">
                <a:spAutoFit/>
              </a:bodyPr>
              <a:lstStyle/>
              <a:p>
                <a:r>
                  <a:rPr lang="en-IN" sz="1100" b="1" u="sng" dirty="0" smtClean="0">
                    <a:latin typeface="+mj-lt"/>
                  </a:rPr>
                  <a:t>Audio – if available(Audio or Text)</a:t>
                </a:r>
                <a:endParaRPr lang="en-IN" sz="1100" b="1" u="sng" dirty="0">
                  <a:latin typeface="+mj-lt"/>
                </a:endParaRPr>
              </a:p>
            </p:txBody>
          </p:sp>
          <p:sp>
            <p:nvSpPr>
              <p:cNvPr id="21" name="TextBox 20"/>
              <p:cNvSpPr txBox="1"/>
              <p:nvPr/>
            </p:nvSpPr>
            <p:spPr>
              <a:xfrm>
                <a:off x="2118469" y="2496047"/>
                <a:ext cx="1960793" cy="261610"/>
              </a:xfrm>
              <a:prstGeom prst="rect">
                <a:avLst/>
              </a:prstGeom>
              <a:noFill/>
            </p:spPr>
            <p:txBody>
              <a:bodyPr wrap="none" rtlCol="0">
                <a:spAutoFit/>
              </a:bodyPr>
              <a:lstStyle/>
              <a:p>
                <a:r>
                  <a:rPr lang="en-IN" sz="1100" b="1" u="sng" dirty="0" smtClean="0">
                    <a:latin typeface="+mj-lt"/>
                  </a:rPr>
                  <a:t>Text – if available (Audio or text)</a:t>
                </a:r>
                <a:endParaRPr lang="en-IN" sz="1100" b="1" u="sng" dirty="0">
                  <a:latin typeface="+mj-lt"/>
                </a:endParaRPr>
              </a:p>
            </p:txBody>
          </p:sp>
          <p:cxnSp>
            <p:nvCxnSpPr>
              <p:cNvPr id="24" name="Straight Arrow Connector 23"/>
              <p:cNvCxnSpPr>
                <a:endCxn id="10" idx="1"/>
              </p:cNvCxnSpPr>
              <p:nvPr/>
            </p:nvCxnSpPr>
            <p:spPr>
              <a:xfrm>
                <a:off x="1712640" y="1523939"/>
                <a:ext cx="562956" cy="137985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1712640" y="279349"/>
                <a:ext cx="0" cy="276294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4520952" y="1665050"/>
                <a:ext cx="1152128" cy="276999"/>
              </a:xfrm>
              <a:prstGeom prst="rect">
                <a:avLst/>
              </a:prstGeom>
              <a:noFill/>
              <a:ln>
                <a:solidFill>
                  <a:schemeClr val="tx1"/>
                </a:solidFill>
              </a:ln>
            </p:spPr>
            <p:txBody>
              <a:bodyPr wrap="square" rtlCol="0">
                <a:spAutoFit/>
              </a:bodyPr>
              <a:lstStyle/>
              <a:p>
                <a:r>
                  <a:rPr lang="en-IN" sz="1200" b="1" dirty="0" smtClean="0">
                    <a:latin typeface="+mj-lt"/>
                  </a:rPr>
                  <a:t>How to fix </a:t>
                </a:r>
                <a:r>
                  <a:rPr lang="en-IN" sz="1200" b="1" dirty="0" smtClean="0">
                    <a:solidFill>
                      <a:srgbClr val="FF0000"/>
                    </a:solidFill>
                    <a:latin typeface="+mj-lt"/>
                  </a:rPr>
                  <a:t>this</a:t>
                </a:r>
                <a:r>
                  <a:rPr lang="en-IN" sz="1200" b="1" dirty="0" smtClean="0">
                    <a:latin typeface="+mj-lt"/>
                  </a:rPr>
                  <a:t>?</a:t>
                </a:r>
                <a:endParaRPr lang="en-IN" sz="1200" b="1" dirty="0">
                  <a:latin typeface="+mj-lt"/>
                </a:endParaRPr>
              </a:p>
            </p:txBody>
          </p:sp>
          <p:sp>
            <p:nvSpPr>
              <p:cNvPr id="46" name="TextBox 45"/>
              <p:cNvSpPr txBox="1"/>
              <p:nvPr/>
            </p:nvSpPr>
            <p:spPr>
              <a:xfrm>
                <a:off x="5663769" y="2629296"/>
                <a:ext cx="3791423" cy="307777"/>
              </a:xfrm>
              <a:prstGeom prst="rect">
                <a:avLst/>
              </a:prstGeom>
              <a:noFill/>
            </p:spPr>
            <p:txBody>
              <a:bodyPr wrap="none" rtlCol="0">
                <a:spAutoFit/>
              </a:bodyPr>
              <a:lstStyle/>
              <a:p>
                <a:r>
                  <a:rPr lang="en-IN" sz="1400" b="1" u="sng" dirty="0" smtClean="0">
                    <a:latin typeface="+mj-lt"/>
                  </a:rPr>
                  <a:t>OCR, Image Zone Segmentation &amp; Entity </a:t>
                </a:r>
                <a:r>
                  <a:rPr lang="en-IN" sz="1400" b="1" u="sng" dirty="0" smtClean="0">
                    <a:latin typeface="+mj-lt"/>
                  </a:rPr>
                  <a:t>Extraction</a:t>
                </a:r>
                <a:endParaRPr lang="en-IN" sz="1400" b="1" u="sng" dirty="0">
                  <a:latin typeface="+mj-lt"/>
                </a:endParaRPr>
              </a:p>
            </p:txBody>
          </p:sp>
          <p:cxnSp>
            <p:nvCxnSpPr>
              <p:cNvPr id="47" name="Straight Arrow Connector 46"/>
              <p:cNvCxnSpPr/>
              <p:nvPr/>
            </p:nvCxnSpPr>
            <p:spPr>
              <a:xfrm flipH="1" flipV="1">
                <a:off x="1182798" y="5399436"/>
                <a:ext cx="422296" cy="431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035"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7042" y="759415"/>
                <a:ext cx="1314648" cy="71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6"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94030" y="759415"/>
                <a:ext cx="1249345" cy="7119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5"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6075" y="2888226"/>
                <a:ext cx="2263309" cy="12257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9" name="TextBox 58"/>
              <p:cNvSpPr txBox="1"/>
              <p:nvPr/>
            </p:nvSpPr>
            <p:spPr>
              <a:xfrm>
                <a:off x="1618319" y="3397046"/>
                <a:ext cx="3153556" cy="2308324"/>
              </a:xfrm>
              <a:prstGeom prst="rect">
                <a:avLst/>
              </a:prstGeom>
              <a:noFill/>
              <a:ln>
                <a:noFill/>
              </a:ln>
            </p:spPr>
            <p:txBody>
              <a:bodyPr wrap="none" rtlCol="0">
                <a:spAutoFit/>
              </a:bodyPr>
              <a:lstStyle/>
              <a:p>
                <a:endParaRPr lang="en-IN" sz="1200" b="1" dirty="0">
                  <a:latin typeface="+mj-lt"/>
                </a:endParaRPr>
              </a:p>
              <a:p>
                <a:r>
                  <a:rPr lang="en-IN" sz="1200" b="1" dirty="0">
                    <a:latin typeface="+mj-lt"/>
                  </a:rPr>
                  <a:t>Which </a:t>
                </a:r>
                <a:r>
                  <a:rPr lang="en-IN" sz="1200" b="1" dirty="0" smtClean="0">
                    <a:latin typeface="+mj-lt"/>
                  </a:rPr>
                  <a:t>topic:   IE Error    </a:t>
                </a:r>
              </a:p>
              <a:p>
                <a:r>
                  <a:rPr lang="en-IN" sz="1200" b="1" dirty="0">
                    <a:latin typeface="+mj-lt"/>
                  </a:rPr>
                  <a:t>t</a:t>
                </a:r>
                <a:r>
                  <a:rPr lang="en-IN" sz="1200" b="1" dirty="0" smtClean="0">
                    <a:latin typeface="+mj-lt"/>
                  </a:rPr>
                  <a:t>riples: (</a:t>
                </a:r>
                <a:r>
                  <a:rPr lang="en-IN" sz="1200" dirty="0" smtClean="0">
                    <a:latin typeface="+mj-lt"/>
                  </a:rPr>
                  <a:t>topic, </a:t>
                </a:r>
                <a:r>
                  <a:rPr lang="en-IN" sz="1200" dirty="0" err="1" smtClean="0">
                    <a:latin typeface="+mj-lt"/>
                  </a:rPr>
                  <a:t>has_specific_type</a:t>
                </a:r>
                <a:r>
                  <a:rPr lang="en-IN" sz="1200" dirty="0" smtClean="0">
                    <a:latin typeface="+mj-lt"/>
                  </a:rPr>
                  <a:t>, IE error)</a:t>
                </a:r>
                <a:endParaRPr lang="en-IN" sz="1200" dirty="0">
                  <a:latin typeface="+mj-lt"/>
                </a:endParaRPr>
              </a:p>
              <a:p>
                <a:endParaRPr lang="en-IN" sz="1200" b="1" dirty="0">
                  <a:latin typeface="+mj-lt"/>
                </a:endParaRPr>
              </a:p>
              <a:p>
                <a:pPr lvl="0"/>
                <a:r>
                  <a:rPr lang="en-IN" sz="1200" b="1" dirty="0" smtClean="0">
                    <a:solidFill>
                      <a:prstClr val="black"/>
                    </a:solidFill>
                    <a:latin typeface="+mj-lt"/>
                  </a:rPr>
                  <a:t>From Settings </a:t>
                </a:r>
                <a:r>
                  <a:rPr lang="en-IN" sz="1200" b="1" dirty="0">
                    <a:solidFill>
                      <a:prstClr val="black"/>
                    </a:solidFill>
                    <a:latin typeface="+mj-lt"/>
                  </a:rPr>
                  <a:t>on the </a:t>
                </a:r>
                <a:r>
                  <a:rPr lang="en-IN" sz="1200" b="1" dirty="0" smtClean="0">
                    <a:solidFill>
                      <a:prstClr val="black"/>
                    </a:solidFill>
                    <a:latin typeface="+mj-lt"/>
                  </a:rPr>
                  <a:t>panel triples:  </a:t>
                </a:r>
                <a:endParaRPr lang="en-IN" sz="1200" b="1" dirty="0">
                  <a:solidFill>
                    <a:prstClr val="black"/>
                  </a:solidFill>
                  <a:latin typeface="+mj-lt"/>
                </a:endParaRPr>
              </a:p>
              <a:p>
                <a:pPr marL="171450" lvl="0" indent="-171450">
                  <a:buFontTx/>
                  <a:buChar char="-"/>
                </a:pPr>
                <a:r>
                  <a:rPr lang="en-IN" sz="1200" dirty="0" smtClean="0">
                    <a:solidFill>
                      <a:prstClr val="black"/>
                    </a:solidFill>
                    <a:latin typeface="+mj-lt"/>
                  </a:rPr>
                  <a:t>(topic, </a:t>
                </a:r>
                <a:r>
                  <a:rPr lang="en-IN" sz="1200" dirty="0" err="1" smtClean="0">
                    <a:solidFill>
                      <a:prstClr val="black"/>
                    </a:solidFill>
                    <a:latin typeface="+mj-lt"/>
                  </a:rPr>
                  <a:t>state_mode</a:t>
                </a:r>
                <a:r>
                  <a:rPr lang="en-IN" sz="1200" dirty="0" smtClean="0">
                    <a:solidFill>
                      <a:prstClr val="black"/>
                    </a:solidFill>
                    <a:latin typeface="+mj-lt"/>
                  </a:rPr>
                  <a:t> , Mix)</a:t>
                </a:r>
              </a:p>
              <a:p>
                <a:pPr marL="171450" lvl="0" indent="-171450">
                  <a:buFontTx/>
                  <a:buChar char="-"/>
                </a:pPr>
                <a:r>
                  <a:rPr lang="en-IN" sz="1200" dirty="0" smtClean="0">
                    <a:solidFill>
                      <a:prstClr val="black"/>
                    </a:solidFill>
                    <a:latin typeface="+mj-lt"/>
                  </a:rPr>
                  <a:t>(topic, </a:t>
                </a:r>
                <a:r>
                  <a:rPr lang="en-IN" sz="1200" dirty="0" err="1" smtClean="0">
                    <a:solidFill>
                      <a:prstClr val="black"/>
                    </a:solidFill>
                    <a:latin typeface="+mj-lt"/>
                  </a:rPr>
                  <a:t>state_temp</a:t>
                </a:r>
                <a:r>
                  <a:rPr lang="en-IN" sz="1200" dirty="0" smtClean="0">
                    <a:solidFill>
                      <a:prstClr val="black"/>
                    </a:solidFill>
                    <a:latin typeface="+mj-lt"/>
                  </a:rPr>
                  <a:t>, 40 </a:t>
                </a:r>
                <a:r>
                  <a:rPr lang="en-IN" sz="1200" dirty="0" err="1" smtClean="0">
                    <a:solidFill>
                      <a:prstClr val="black"/>
                    </a:solidFill>
                    <a:latin typeface="+mj-lt"/>
                  </a:rPr>
                  <a:t>deg</a:t>
                </a:r>
                <a:r>
                  <a:rPr lang="en-IN" sz="1200" dirty="0" smtClean="0">
                    <a:solidFill>
                      <a:prstClr val="black"/>
                    </a:solidFill>
                    <a:latin typeface="+mj-lt"/>
                  </a:rPr>
                  <a:t>)</a:t>
                </a:r>
              </a:p>
              <a:p>
                <a:pPr marL="171450" lvl="0" indent="-171450">
                  <a:buFontTx/>
                  <a:buChar char="-"/>
                </a:pPr>
                <a:r>
                  <a:rPr lang="en-IN" sz="1200" dirty="0" smtClean="0">
                    <a:solidFill>
                      <a:prstClr val="black"/>
                    </a:solidFill>
                    <a:latin typeface="+mj-lt"/>
                  </a:rPr>
                  <a:t>(topic, </a:t>
                </a:r>
                <a:r>
                  <a:rPr lang="en-IN" sz="1200" dirty="0" err="1" smtClean="0">
                    <a:solidFill>
                      <a:prstClr val="black"/>
                    </a:solidFill>
                    <a:latin typeface="+mj-lt"/>
                  </a:rPr>
                  <a:t>has_spin</a:t>
                </a:r>
                <a:r>
                  <a:rPr lang="en-IN" sz="1200" dirty="0" smtClean="0">
                    <a:solidFill>
                      <a:prstClr val="black"/>
                    </a:solidFill>
                    <a:latin typeface="+mj-lt"/>
                  </a:rPr>
                  <a:t> </a:t>
                </a:r>
                <a:r>
                  <a:rPr lang="en-IN" sz="1200" dirty="0">
                    <a:solidFill>
                      <a:prstClr val="black"/>
                    </a:solidFill>
                    <a:latin typeface="+mj-lt"/>
                  </a:rPr>
                  <a:t>,</a:t>
                </a:r>
                <a:r>
                  <a:rPr lang="en-IN" sz="1200" dirty="0" smtClean="0">
                    <a:solidFill>
                      <a:prstClr val="black"/>
                    </a:solidFill>
                    <a:latin typeface="+mj-lt"/>
                  </a:rPr>
                  <a:t> 1000)</a:t>
                </a:r>
                <a:endParaRPr lang="en-IN" sz="1200" dirty="0">
                  <a:solidFill>
                    <a:prstClr val="black"/>
                  </a:solidFill>
                  <a:latin typeface="+mj-lt"/>
                </a:endParaRPr>
              </a:p>
              <a:p>
                <a:endParaRPr lang="en-IN" sz="1200" b="1" dirty="0" smtClean="0"/>
              </a:p>
              <a:p>
                <a:r>
                  <a:rPr lang="en-IN" sz="1200" b="1" dirty="0" smtClean="0"/>
                  <a:t>Final Complete Query(NLG):</a:t>
                </a:r>
                <a:endParaRPr lang="en-IN" sz="1200" b="1" dirty="0"/>
              </a:p>
              <a:p>
                <a:r>
                  <a:rPr lang="en-IN" sz="1200" b="1" dirty="0" smtClean="0">
                    <a:solidFill>
                      <a:srgbClr val="595959"/>
                    </a:solidFill>
                  </a:rPr>
                  <a:t>How to fix</a:t>
                </a:r>
                <a:r>
                  <a:rPr lang="en-IN" sz="1200" b="1" dirty="0" smtClean="0"/>
                  <a:t> </a:t>
                </a:r>
                <a:r>
                  <a:rPr lang="en-IN" sz="1200" b="1" dirty="0">
                    <a:solidFill>
                      <a:srgbClr val="0070C0"/>
                    </a:solidFill>
                  </a:rPr>
                  <a:t>IE </a:t>
                </a:r>
                <a:r>
                  <a:rPr lang="en-IN" sz="1200" b="1" dirty="0" smtClean="0">
                    <a:solidFill>
                      <a:srgbClr val="0070C0"/>
                    </a:solidFill>
                  </a:rPr>
                  <a:t>Error </a:t>
                </a:r>
                <a:r>
                  <a:rPr lang="en-IN" sz="1200" b="1" dirty="0" smtClean="0"/>
                  <a:t>with mode as </a:t>
                </a:r>
                <a:r>
                  <a:rPr lang="en-IN" sz="1200" b="1" dirty="0" smtClean="0">
                    <a:solidFill>
                      <a:srgbClr val="0070C0"/>
                    </a:solidFill>
                  </a:rPr>
                  <a:t>Mix</a:t>
                </a:r>
                <a:r>
                  <a:rPr lang="en-IN" sz="1200" b="1" dirty="0" smtClean="0"/>
                  <a:t>, </a:t>
                </a:r>
              </a:p>
              <a:p>
                <a:r>
                  <a:rPr lang="en-IN" sz="1200" b="1" dirty="0" smtClean="0"/>
                  <a:t>at temp </a:t>
                </a:r>
                <a:r>
                  <a:rPr lang="en-IN" sz="1200" b="1" dirty="0" smtClean="0">
                    <a:solidFill>
                      <a:srgbClr val="0070C0"/>
                    </a:solidFill>
                  </a:rPr>
                  <a:t>40 degree</a:t>
                </a:r>
                <a:r>
                  <a:rPr lang="en-IN" sz="1200" b="1" dirty="0" smtClean="0"/>
                  <a:t>, Spin </a:t>
                </a:r>
                <a:r>
                  <a:rPr lang="en-IN" sz="1200" b="1" dirty="0" smtClean="0">
                    <a:solidFill>
                      <a:srgbClr val="0070C0"/>
                    </a:solidFill>
                  </a:rPr>
                  <a:t>1000</a:t>
                </a:r>
                <a:r>
                  <a:rPr lang="en-IN" sz="1200" b="1" dirty="0" smtClean="0">
                    <a:solidFill>
                      <a:schemeClr val="tx1">
                        <a:lumMod val="95000"/>
                        <a:lumOff val="5000"/>
                      </a:schemeClr>
                    </a:solidFill>
                  </a:rPr>
                  <a:t>?</a:t>
                </a:r>
                <a:endParaRPr lang="en-IN" sz="1200" b="1" dirty="0">
                  <a:solidFill>
                    <a:schemeClr val="tx1">
                      <a:lumMod val="95000"/>
                      <a:lumOff val="5000"/>
                    </a:schemeClr>
                  </a:solidFill>
                  <a:latin typeface="+mj-lt"/>
                </a:endParaRPr>
              </a:p>
            </p:txBody>
          </p:sp>
          <p:sp>
            <p:nvSpPr>
              <p:cNvPr id="60" name="TextBox 59"/>
              <p:cNvSpPr txBox="1"/>
              <p:nvPr/>
            </p:nvSpPr>
            <p:spPr>
              <a:xfrm>
                <a:off x="5673080" y="651660"/>
                <a:ext cx="1136850" cy="307777"/>
              </a:xfrm>
              <a:prstGeom prst="rect">
                <a:avLst/>
              </a:prstGeom>
              <a:noFill/>
            </p:spPr>
            <p:txBody>
              <a:bodyPr wrap="none" rtlCol="0">
                <a:spAutoFit/>
              </a:bodyPr>
              <a:lstStyle/>
              <a:p>
                <a:r>
                  <a:rPr lang="en-IN" sz="1400" b="1" u="sng" dirty="0" smtClean="0">
                    <a:latin typeface="+mj-lt"/>
                  </a:rPr>
                  <a:t>Image Inputs</a:t>
                </a:r>
                <a:endParaRPr lang="en-IN" sz="1400" b="1" u="sng" dirty="0">
                  <a:latin typeface="+mj-lt"/>
                </a:endParaRPr>
              </a:p>
            </p:txBody>
          </p:sp>
          <p:sp>
            <p:nvSpPr>
              <p:cNvPr id="1039" name="Rectangle 1038"/>
              <p:cNvSpPr/>
              <p:nvPr/>
            </p:nvSpPr>
            <p:spPr>
              <a:xfrm>
                <a:off x="1496616" y="3325037"/>
                <a:ext cx="3398562" cy="247035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0" name="Rounded Rectangle 1039"/>
              <p:cNvSpPr/>
              <p:nvPr/>
            </p:nvSpPr>
            <p:spPr>
              <a:xfrm>
                <a:off x="6681192" y="3140968"/>
                <a:ext cx="432048" cy="432048"/>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4" name="Picture 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3387" y="4411896"/>
                <a:ext cx="1732925" cy="9875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41" name="Down Arrow 1040"/>
              <p:cNvSpPr/>
              <p:nvPr/>
            </p:nvSpPr>
            <p:spPr>
              <a:xfrm rot="18626228">
                <a:off x="6154675" y="804163"/>
                <a:ext cx="421507" cy="1984617"/>
              </a:xfrm>
              <a:prstGeom prst="downArrow">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Rounded Rectangle 65"/>
              <p:cNvSpPr/>
              <p:nvPr/>
            </p:nvSpPr>
            <p:spPr>
              <a:xfrm>
                <a:off x="6545560" y="4573326"/>
                <a:ext cx="650992" cy="294027"/>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Rounded Rectangle 66"/>
              <p:cNvSpPr/>
              <p:nvPr/>
            </p:nvSpPr>
            <p:spPr>
              <a:xfrm>
                <a:off x="7369849" y="3068960"/>
                <a:ext cx="702104" cy="306854"/>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8" name="Rounded Rectangle 67"/>
              <p:cNvSpPr/>
              <p:nvPr/>
            </p:nvSpPr>
            <p:spPr>
              <a:xfrm>
                <a:off x="7369848" y="3501008"/>
                <a:ext cx="702104" cy="328086"/>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69" name="Straight Arrow Connector 68"/>
              <p:cNvCxnSpPr/>
              <p:nvPr/>
            </p:nvCxnSpPr>
            <p:spPr>
              <a:xfrm flipH="1">
                <a:off x="3011924" y="3343839"/>
                <a:ext cx="4042850" cy="378741"/>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76" name="Straight Arrow Connector 75"/>
              <p:cNvCxnSpPr/>
              <p:nvPr/>
            </p:nvCxnSpPr>
            <p:spPr>
              <a:xfrm flipH="1">
                <a:off x="3421438" y="3301722"/>
                <a:ext cx="4081924" cy="1300398"/>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78"/>
              <p:cNvCxnSpPr/>
              <p:nvPr/>
            </p:nvCxnSpPr>
            <p:spPr>
              <a:xfrm flipH="1">
                <a:off x="3421438" y="4758651"/>
                <a:ext cx="3124122" cy="100707"/>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8625408" y="3221926"/>
                <a:ext cx="769517" cy="307777"/>
              </a:xfrm>
              <a:prstGeom prst="rect">
                <a:avLst/>
              </a:prstGeom>
              <a:noFill/>
            </p:spPr>
            <p:txBody>
              <a:bodyPr wrap="square" rtlCol="0">
                <a:spAutoFit/>
              </a:bodyPr>
              <a:lstStyle/>
              <a:p>
                <a:r>
                  <a:rPr lang="en-IN" sz="1400" dirty="0" smtClean="0">
                    <a:latin typeface="+mj-lt"/>
                  </a:rPr>
                  <a:t>Vision AI</a:t>
                </a:r>
                <a:endParaRPr lang="en-IN" sz="1400" dirty="0">
                  <a:latin typeface="+mj-lt"/>
                </a:endParaRPr>
              </a:p>
            </p:txBody>
          </p:sp>
          <p:cxnSp>
            <p:nvCxnSpPr>
              <p:cNvPr id="5" name="Straight Arrow Connector 4"/>
              <p:cNvCxnSpPr>
                <a:stCxn id="1029" idx="3"/>
                <a:endCxn id="38" idx="1"/>
              </p:cNvCxnSpPr>
              <p:nvPr/>
            </p:nvCxnSpPr>
            <p:spPr>
              <a:xfrm flipV="1">
                <a:off x="4016478" y="1803550"/>
                <a:ext cx="504474" cy="28839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496616" y="6050659"/>
                <a:ext cx="2332465" cy="720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p:cNvSpPr txBox="1"/>
              <p:nvPr/>
            </p:nvSpPr>
            <p:spPr>
              <a:xfrm>
                <a:off x="1623286" y="6100433"/>
                <a:ext cx="1990747" cy="646331"/>
              </a:xfrm>
              <a:prstGeom prst="rect">
                <a:avLst/>
              </a:prstGeom>
              <a:noFill/>
            </p:spPr>
            <p:txBody>
              <a:bodyPr wrap="square" rtlCol="0">
                <a:spAutoFit/>
              </a:bodyPr>
              <a:lstStyle/>
              <a:p>
                <a:pPr lvl="0"/>
                <a:r>
                  <a:rPr lang="en-IN" altLang="ko-KR" sz="1200" b="1" dirty="0" smtClean="0">
                    <a:solidFill>
                      <a:srgbClr val="000000"/>
                    </a:solidFill>
                    <a:latin typeface="+mj-lt"/>
                    <a:cs typeface="Arial" charset="0"/>
                  </a:rPr>
                  <a:t>AI model sub system </a:t>
                </a:r>
                <a:r>
                  <a:rPr lang="en-IN" altLang="ko-KR" sz="1200" b="1" dirty="0" err="1" smtClean="0">
                    <a:solidFill>
                      <a:srgbClr val="000000"/>
                    </a:solidFill>
                    <a:latin typeface="+mj-lt"/>
                    <a:cs typeface="Arial" charset="0"/>
                  </a:rPr>
                  <a:t>analyze</a:t>
                </a:r>
                <a:r>
                  <a:rPr lang="en-IN" altLang="ko-KR" sz="1200" b="1" dirty="0">
                    <a:solidFill>
                      <a:srgbClr val="000000"/>
                    </a:solidFill>
                    <a:latin typeface="+mj-lt"/>
                    <a:cs typeface="Arial" charset="0"/>
                  </a:rPr>
                  <a:t>, categorize and keeps the track of count of all issues</a:t>
                </a:r>
                <a:r>
                  <a:rPr lang="en-IN" altLang="ko-KR" sz="1200" dirty="0">
                    <a:solidFill>
                      <a:srgbClr val="000000"/>
                    </a:solidFill>
                    <a:latin typeface="+mj-lt"/>
                    <a:cs typeface="Arial" charset="0"/>
                  </a:rPr>
                  <a:t>. </a:t>
                </a:r>
              </a:p>
            </p:txBody>
          </p:sp>
        </p:grpSp>
      </p:grpSp>
      <p:sp>
        <p:nvSpPr>
          <p:cNvPr id="50" name="TextBox 49"/>
          <p:cNvSpPr txBox="1"/>
          <p:nvPr/>
        </p:nvSpPr>
        <p:spPr>
          <a:xfrm>
            <a:off x="4473890" y="1935510"/>
            <a:ext cx="986167" cy="261610"/>
          </a:xfrm>
          <a:prstGeom prst="rect">
            <a:avLst/>
          </a:prstGeom>
          <a:noFill/>
        </p:spPr>
        <p:txBody>
          <a:bodyPr wrap="none" rtlCol="0">
            <a:spAutoFit/>
          </a:bodyPr>
          <a:lstStyle/>
          <a:p>
            <a:r>
              <a:rPr lang="en-IN" sz="1100" b="1" u="sng" dirty="0" smtClean="0">
                <a:latin typeface="+mj-lt"/>
              </a:rPr>
              <a:t>Speech-to-text</a:t>
            </a:r>
            <a:endParaRPr lang="en-IN" sz="1100" b="1" u="sng" dirty="0">
              <a:latin typeface="+mj-lt"/>
            </a:endParaRPr>
          </a:p>
        </p:txBody>
      </p:sp>
      <p:sp>
        <p:nvSpPr>
          <p:cNvPr id="54" name="TextBox 53"/>
          <p:cNvSpPr txBox="1"/>
          <p:nvPr/>
        </p:nvSpPr>
        <p:spPr>
          <a:xfrm>
            <a:off x="4432485" y="3869311"/>
            <a:ext cx="1701488" cy="276999"/>
          </a:xfrm>
          <a:prstGeom prst="rect">
            <a:avLst/>
          </a:prstGeom>
          <a:noFill/>
          <a:ln>
            <a:solidFill>
              <a:schemeClr val="tx1"/>
            </a:solidFill>
          </a:ln>
        </p:spPr>
        <p:txBody>
          <a:bodyPr wrap="square" rtlCol="0">
            <a:spAutoFit/>
          </a:bodyPr>
          <a:lstStyle/>
          <a:p>
            <a:r>
              <a:rPr lang="en-IN" sz="1200" b="1" dirty="0" smtClean="0">
                <a:latin typeface="+mj-lt"/>
              </a:rPr>
              <a:t>Entity &amp; Triple Extraction</a:t>
            </a:r>
            <a:endParaRPr lang="en-IN" sz="1200" b="1" dirty="0">
              <a:latin typeface="+mj-lt"/>
            </a:endParaRPr>
          </a:p>
        </p:txBody>
      </p:sp>
      <p:sp>
        <p:nvSpPr>
          <p:cNvPr id="56" name="Rectangle 55"/>
          <p:cNvSpPr/>
          <p:nvPr/>
        </p:nvSpPr>
        <p:spPr>
          <a:xfrm>
            <a:off x="350990" y="4380858"/>
            <a:ext cx="1166410" cy="11720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2005350" y="5193087"/>
            <a:ext cx="2978335" cy="3997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Arrow Connector 60"/>
          <p:cNvCxnSpPr/>
          <p:nvPr/>
        </p:nvCxnSpPr>
        <p:spPr>
          <a:xfrm flipH="1" flipV="1">
            <a:off x="850124" y="1938832"/>
            <a:ext cx="213" cy="239226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3" name="Straight Arrow Connector 62"/>
          <p:cNvCxnSpPr/>
          <p:nvPr/>
        </p:nvCxnSpPr>
        <p:spPr>
          <a:xfrm>
            <a:off x="2196549" y="4293096"/>
            <a:ext cx="272021" cy="929457"/>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H="1">
            <a:off x="2805192" y="3928466"/>
            <a:ext cx="72755" cy="1264621"/>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V="1">
            <a:off x="4250028" y="6196841"/>
            <a:ext cx="630964" cy="1077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4914261" y="6052595"/>
            <a:ext cx="2127639" cy="461665"/>
          </a:xfrm>
          <a:prstGeom prst="rect">
            <a:avLst/>
          </a:prstGeom>
          <a:noFill/>
          <a:ln>
            <a:solidFill>
              <a:schemeClr val="tx1"/>
            </a:solidFill>
          </a:ln>
        </p:spPr>
        <p:txBody>
          <a:bodyPr wrap="square" rtlCol="0">
            <a:spAutoFit/>
          </a:bodyPr>
          <a:lstStyle/>
          <a:p>
            <a:r>
              <a:rPr lang="en-IN" sz="1200" b="1" dirty="0" smtClean="0">
                <a:latin typeface="+mj-lt"/>
              </a:rPr>
              <a:t>Issue type: </a:t>
            </a:r>
            <a:r>
              <a:rPr lang="en-IN" sz="1200" b="1" dirty="0" smtClean="0">
                <a:solidFill>
                  <a:srgbClr val="0070C0"/>
                </a:solidFill>
                <a:latin typeface="+mj-lt"/>
              </a:rPr>
              <a:t>IE</a:t>
            </a:r>
            <a:r>
              <a:rPr lang="en-IN" sz="1200" b="1" dirty="0" smtClean="0">
                <a:latin typeface="+mj-lt"/>
              </a:rPr>
              <a:t>, Mode: </a:t>
            </a:r>
            <a:r>
              <a:rPr lang="en-IN" sz="1200" b="1" dirty="0" smtClean="0">
                <a:solidFill>
                  <a:srgbClr val="0070C0"/>
                </a:solidFill>
                <a:latin typeface="+mj-lt"/>
              </a:rPr>
              <a:t>Mix</a:t>
            </a:r>
            <a:r>
              <a:rPr lang="en-IN" sz="1200" b="1" dirty="0" smtClean="0">
                <a:latin typeface="+mj-lt"/>
              </a:rPr>
              <a:t>, Feature: </a:t>
            </a:r>
            <a:r>
              <a:rPr lang="en-IN" sz="1200" b="1" dirty="0" smtClean="0">
                <a:solidFill>
                  <a:srgbClr val="0070C0"/>
                </a:solidFill>
                <a:latin typeface="+mj-lt"/>
              </a:rPr>
              <a:t>N/A</a:t>
            </a:r>
            <a:r>
              <a:rPr lang="en-IN" sz="1200" b="1" dirty="0" smtClean="0">
                <a:latin typeface="+mj-lt"/>
              </a:rPr>
              <a:t>, </a:t>
            </a:r>
            <a:r>
              <a:rPr lang="en-IN" sz="1200" b="1" dirty="0" smtClean="0">
                <a:latin typeface="+mj-lt"/>
              </a:rPr>
              <a:t>Frequency: </a:t>
            </a:r>
            <a:r>
              <a:rPr lang="en-IN" sz="1200" b="1" dirty="0" smtClean="0">
                <a:solidFill>
                  <a:srgbClr val="FF0000"/>
                </a:solidFill>
                <a:latin typeface="+mj-lt"/>
              </a:rPr>
              <a:t>Very High</a:t>
            </a:r>
            <a:endParaRPr lang="en-IN" sz="1200" b="1" dirty="0">
              <a:solidFill>
                <a:srgbClr val="FF0000"/>
              </a:solidFill>
              <a:latin typeface="+mj-lt"/>
            </a:endParaRPr>
          </a:p>
        </p:txBody>
      </p:sp>
      <p:cxnSp>
        <p:nvCxnSpPr>
          <p:cNvPr id="78" name="Straight Arrow Connector 77"/>
          <p:cNvCxnSpPr/>
          <p:nvPr/>
        </p:nvCxnSpPr>
        <p:spPr>
          <a:xfrm flipV="1">
            <a:off x="7042113" y="6226782"/>
            <a:ext cx="630964" cy="1077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5" name="Rectangle 84"/>
          <p:cNvSpPr/>
          <p:nvPr/>
        </p:nvSpPr>
        <p:spPr>
          <a:xfrm>
            <a:off x="7766372" y="5924247"/>
            <a:ext cx="1828722" cy="6822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p:cNvSpPr txBox="1"/>
          <p:nvPr/>
        </p:nvSpPr>
        <p:spPr>
          <a:xfrm>
            <a:off x="7722417" y="5909004"/>
            <a:ext cx="1990747" cy="646331"/>
          </a:xfrm>
          <a:prstGeom prst="rect">
            <a:avLst/>
          </a:prstGeom>
          <a:noFill/>
        </p:spPr>
        <p:txBody>
          <a:bodyPr wrap="square" rtlCol="0">
            <a:spAutoFit/>
          </a:bodyPr>
          <a:lstStyle/>
          <a:p>
            <a:pPr lvl="0"/>
            <a:r>
              <a:rPr lang="en-IN" altLang="ko-KR" sz="1200" b="1" dirty="0" smtClean="0">
                <a:solidFill>
                  <a:srgbClr val="000000"/>
                </a:solidFill>
                <a:latin typeface="+mj-lt"/>
                <a:cs typeface="Arial" charset="0"/>
              </a:rPr>
              <a:t>Report Production System to </a:t>
            </a:r>
            <a:r>
              <a:rPr lang="en-IN" altLang="ko-KR" sz="1200" b="1" dirty="0" smtClean="0">
                <a:solidFill>
                  <a:srgbClr val="FF0000"/>
                </a:solidFill>
                <a:latin typeface="+mj-lt"/>
                <a:cs typeface="Arial" charset="0"/>
              </a:rPr>
              <a:t>provide permanent fix </a:t>
            </a:r>
            <a:r>
              <a:rPr lang="en-IN" altLang="ko-KR" sz="1200" b="1" dirty="0" smtClean="0">
                <a:solidFill>
                  <a:srgbClr val="000000"/>
                </a:solidFill>
                <a:latin typeface="+mj-lt"/>
                <a:cs typeface="Arial" charset="0"/>
              </a:rPr>
              <a:t>in the next release</a:t>
            </a:r>
            <a:r>
              <a:rPr lang="en-IN" altLang="ko-KR" sz="1200" dirty="0" smtClean="0">
                <a:solidFill>
                  <a:srgbClr val="000000"/>
                </a:solidFill>
                <a:latin typeface="+mj-lt"/>
                <a:cs typeface="Arial" charset="0"/>
              </a:rPr>
              <a:t> </a:t>
            </a:r>
            <a:endParaRPr lang="en-IN" altLang="ko-KR" sz="1200" dirty="0">
              <a:solidFill>
                <a:srgbClr val="000000"/>
              </a:solidFill>
              <a:latin typeface="+mj-lt"/>
              <a:cs typeface="Arial" charset="0"/>
            </a:endParaRPr>
          </a:p>
        </p:txBody>
      </p:sp>
      <p:pic>
        <p:nvPicPr>
          <p:cNvPr id="36" name="Picture 3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0101" y="972089"/>
            <a:ext cx="732065" cy="902397"/>
          </a:xfrm>
          <a:prstGeom prst="rect">
            <a:avLst/>
          </a:prstGeom>
        </p:spPr>
      </p:pic>
      <p:cxnSp>
        <p:nvCxnSpPr>
          <p:cNvPr id="91" name="Straight Arrow Connector 90"/>
          <p:cNvCxnSpPr/>
          <p:nvPr/>
        </p:nvCxnSpPr>
        <p:spPr>
          <a:xfrm flipH="1">
            <a:off x="1219147" y="2011142"/>
            <a:ext cx="5347" cy="228195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488504" y="2637988"/>
            <a:ext cx="641522" cy="276999"/>
          </a:xfrm>
          <a:prstGeom prst="rect">
            <a:avLst/>
          </a:prstGeom>
          <a:noFill/>
        </p:spPr>
        <p:txBody>
          <a:bodyPr wrap="none" rtlCol="0">
            <a:spAutoFit/>
          </a:bodyPr>
          <a:lstStyle/>
          <a:p>
            <a:r>
              <a:rPr lang="en-US" sz="1200" b="1" dirty="0" smtClean="0">
                <a:latin typeface="+mj-lt"/>
              </a:rPr>
              <a:t>Answer</a:t>
            </a:r>
            <a:endParaRPr lang="en-US" sz="1200" b="1" dirty="0">
              <a:latin typeface="+mj-lt"/>
            </a:endParaRPr>
          </a:p>
        </p:txBody>
      </p:sp>
      <p:sp>
        <p:nvSpPr>
          <p:cNvPr id="97" name="TextBox 96"/>
          <p:cNvSpPr txBox="1"/>
          <p:nvPr/>
        </p:nvSpPr>
        <p:spPr>
          <a:xfrm>
            <a:off x="1064373" y="2637987"/>
            <a:ext cx="768159" cy="276999"/>
          </a:xfrm>
          <a:prstGeom prst="rect">
            <a:avLst/>
          </a:prstGeom>
          <a:noFill/>
        </p:spPr>
        <p:txBody>
          <a:bodyPr wrap="none" rtlCol="0">
            <a:spAutoFit/>
          </a:bodyPr>
          <a:lstStyle/>
          <a:p>
            <a:r>
              <a:rPr lang="en-US" sz="1200" b="1" dirty="0" smtClean="0">
                <a:latin typeface="+mj-lt"/>
              </a:rPr>
              <a:t>Feedback</a:t>
            </a:r>
            <a:endParaRPr lang="en-US" sz="1200" b="1" dirty="0">
              <a:latin typeface="+mj-lt"/>
            </a:endParaRPr>
          </a:p>
        </p:txBody>
      </p:sp>
      <p:cxnSp>
        <p:nvCxnSpPr>
          <p:cNvPr id="98" name="Straight Arrow Connector 97"/>
          <p:cNvCxnSpPr>
            <a:stCxn id="56" idx="2"/>
          </p:cNvCxnSpPr>
          <p:nvPr/>
        </p:nvCxnSpPr>
        <p:spPr>
          <a:xfrm>
            <a:off x="934195" y="5552864"/>
            <a:ext cx="895786" cy="64397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522772" y="5812179"/>
            <a:ext cx="1253869" cy="276999"/>
          </a:xfrm>
          <a:prstGeom prst="rect">
            <a:avLst/>
          </a:prstGeom>
          <a:noFill/>
        </p:spPr>
        <p:txBody>
          <a:bodyPr wrap="none" rtlCol="0">
            <a:spAutoFit/>
          </a:bodyPr>
          <a:lstStyle/>
          <a:p>
            <a:r>
              <a:rPr lang="en-US" sz="1200" b="1" dirty="0" smtClean="0">
                <a:latin typeface="+mj-lt"/>
              </a:rPr>
              <a:t>System Feedback</a:t>
            </a:r>
            <a:endParaRPr lang="en-US" sz="1200" b="1" dirty="0">
              <a:latin typeface="+mj-lt"/>
            </a:endParaRPr>
          </a:p>
        </p:txBody>
      </p:sp>
      <p:sp>
        <p:nvSpPr>
          <p:cNvPr id="90" name="Rectangle 89"/>
          <p:cNvSpPr/>
          <p:nvPr/>
        </p:nvSpPr>
        <p:spPr>
          <a:xfrm>
            <a:off x="48928" y="2592"/>
            <a:ext cx="2081852" cy="646331"/>
          </a:xfrm>
          <a:prstGeom prst="rect">
            <a:avLst/>
          </a:prstGeom>
        </p:spPr>
        <p:txBody>
          <a:bodyPr wrap="none">
            <a:spAutoFit/>
          </a:bodyPr>
          <a:lstStyle/>
          <a:p>
            <a:r>
              <a:rPr lang="en-US" altLang="ko-KR" b="1" u="sng" dirty="0">
                <a:solidFill>
                  <a:srgbClr val="000000"/>
                </a:solidFill>
                <a:cs typeface="Arial" charset="0"/>
              </a:rPr>
              <a:t>Use Case </a:t>
            </a:r>
            <a:r>
              <a:rPr lang="en-US" altLang="ko-KR" b="1" u="sng" dirty="0" smtClean="0">
                <a:solidFill>
                  <a:srgbClr val="000000"/>
                </a:solidFill>
                <a:cs typeface="Arial" charset="0"/>
              </a:rPr>
              <a:t>1 </a:t>
            </a:r>
          </a:p>
          <a:p>
            <a:r>
              <a:rPr lang="en-US" altLang="ko-KR" b="1" u="sng" dirty="0" smtClean="0">
                <a:solidFill>
                  <a:srgbClr val="000000"/>
                </a:solidFill>
                <a:cs typeface="Arial" charset="0"/>
              </a:rPr>
              <a:t>(Issue Reporting)</a:t>
            </a:r>
            <a:endParaRPr lang="en-US" dirty="0"/>
          </a:p>
        </p:txBody>
      </p:sp>
      <p:cxnSp>
        <p:nvCxnSpPr>
          <p:cNvPr id="103" name="Straight Arrow Connector 102"/>
          <p:cNvCxnSpPr/>
          <p:nvPr/>
        </p:nvCxnSpPr>
        <p:spPr>
          <a:xfrm flipH="1">
            <a:off x="3113996" y="1933254"/>
            <a:ext cx="2443838" cy="3259833"/>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4103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1054" y="476672"/>
            <a:ext cx="9489504" cy="5632311"/>
          </a:xfrm>
          <a:prstGeom prst="rect">
            <a:avLst/>
          </a:prstGeom>
          <a:noFill/>
        </p:spPr>
        <p:txBody>
          <a:bodyPr wrap="square" rtlCol="0">
            <a:spAutoFit/>
          </a:bodyPr>
          <a:lstStyle/>
          <a:p>
            <a:r>
              <a:rPr lang="en-US" b="1" dirty="0" smtClean="0">
                <a:latin typeface="+mn-lt"/>
              </a:rPr>
              <a:t>Use Case 1</a:t>
            </a:r>
            <a:r>
              <a:rPr lang="en-US" b="1" dirty="0" smtClean="0">
                <a:latin typeface="+mn-lt"/>
              </a:rPr>
              <a:t>:</a:t>
            </a:r>
            <a:endParaRPr lang="en-US" b="1" dirty="0" smtClean="0">
              <a:latin typeface="+mn-lt"/>
            </a:endParaRPr>
          </a:p>
          <a:p>
            <a:pPr marL="285750" indent="-285750">
              <a:buFont typeface="Arial" panose="020B0604020202020204" pitchFamily="34" charset="0"/>
              <a:buChar char="•"/>
            </a:pPr>
            <a:r>
              <a:rPr lang="en-US" dirty="0" smtClean="0">
                <a:latin typeface="+mn-lt"/>
              </a:rPr>
              <a:t>The User asks a question through </a:t>
            </a:r>
            <a:r>
              <a:rPr lang="en-US" dirty="0" err="1" smtClean="0">
                <a:latin typeface="+mn-lt"/>
              </a:rPr>
              <a:t>chatbot</a:t>
            </a:r>
            <a:r>
              <a:rPr lang="en-US" dirty="0" smtClean="0">
                <a:latin typeface="+mn-lt"/>
              </a:rPr>
              <a:t> application (Image, Text, Audio). At least one modality (say text) and at most three modalities ( Image, Text, Audio) could be the inputs to the application for a single query.</a:t>
            </a:r>
          </a:p>
          <a:p>
            <a:pPr marL="285750" indent="-285750">
              <a:buFont typeface="Arial" panose="020B0604020202020204" pitchFamily="34" charset="0"/>
              <a:buChar char="•"/>
            </a:pPr>
            <a:r>
              <a:rPr lang="en-US" dirty="0" smtClean="0">
                <a:latin typeface="+mn-lt"/>
              </a:rPr>
              <a:t>In this use case the user ask using either text “How to fix this?” or uses audio “How to fix this”?. </a:t>
            </a:r>
            <a:endParaRPr lang="en-US" dirty="0">
              <a:latin typeface="+mn-lt"/>
            </a:endParaRPr>
          </a:p>
          <a:p>
            <a:pPr marL="285750" indent="-285750">
              <a:buFont typeface="Arial" panose="020B0604020202020204" pitchFamily="34" charset="0"/>
              <a:buChar char="•"/>
            </a:pPr>
            <a:r>
              <a:rPr lang="en-US" dirty="0" smtClean="0">
                <a:latin typeface="+mn-lt"/>
              </a:rPr>
              <a:t>If the input is audio, the audio is converted to text using existing speech-to-text system.</a:t>
            </a:r>
          </a:p>
          <a:p>
            <a:pPr marL="285750" indent="-285750">
              <a:buFont typeface="Arial" panose="020B0604020202020204" pitchFamily="34" charset="0"/>
              <a:buChar char="•"/>
            </a:pPr>
            <a:r>
              <a:rPr lang="en-US" dirty="0" smtClean="0">
                <a:latin typeface="+mn-lt"/>
              </a:rPr>
              <a:t>Image is segmented into zones by Image Zone </a:t>
            </a:r>
            <a:r>
              <a:rPr lang="en-US" dirty="0">
                <a:latin typeface="+mn-lt"/>
              </a:rPr>
              <a:t>Segmentation Module. (</a:t>
            </a:r>
            <a:r>
              <a:rPr lang="en-US" dirty="0" err="1">
                <a:latin typeface="+mn-lt"/>
              </a:rPr>
              <a:t>eg</a:t>
            </a:r>
            <a:r>
              <a:rPr lang="en-US" dirty="0">
                <a:latin typeface="+mn-lt"/>
              </a:rPr>
              <a:t>. "Temp" Zone, "Spin" Zone, "Mode" Zone</a:t>
            </a:r>
            <a:r>
              <a:rPr lang="en-US" dirty="0" smtClean="0">
                <a:latin typeface="+mn-lt"/>
              </a:rPr>
              <a:t>) and OCR extracts the relevant text from each zones</a:t>
            </a:r>
          </a:p>
          <a:p>
            <a:pPr marL="285750" indent="-285750">
              <a:buFont typeface="Arial" panose="020B0604020202020204" pitchFamily="34" charset="0"/>
              <a:buChar char="•"/>
            </a:pPr>
            <a:r>
              <a:rPr lang="en-US" dirty="0" smtClean="0">
                <a:latin typeface="+mn-lt"/>
              </a:rPr>
              <a:t>From the text information such as , question type, Relation, Named Entity Extracted</a:t>
            </a:r>
          </a:p>
          <a:p>
            <a:pPr marL="285750" indent="-285750">
              <a:buFont typeface="Arial" panose="020B0604020202020204" pitchFamily="34" charset="0"/>
              <a:buChar char="•"/>
            </a:pPr>
            <a:r>
              <a:rPr lang="en-US" dirty="0" smtClean="0">
                <a:latin typeface="+mn-lt"/>
              </a:rPr>
              <a:t>Triple builder module processes the information extracted from text and images and build triples. </a:t>
            </a:r>
            <a:r>
              <a:rPr lang="en-US" dirty="0" err="1" smtClean="0">
                <a:latin typeface="+mn-lt"/>
              </a:rPr>
              <a:t>Eg</a:t>
            </a:r>
            <a:r>
              <a:rPr lang="en-US" dirty="0" smtClean="0">
                <a:latin typeface="+mn-lt"/>
              </a:rPr>
              <a:t>.</a:t>
            </a:r>
          </a:p>
          <a:p>
            <a:pPr marL="742950" lvl="1" indent="-285750">
              <a:buFont typeface="Arial" panose="020B0604020202020204" pitchFamily="34" charset="0"/>
              <a:buChar char="•"/>
            </a:pPr>
            <a:r>
              <a:rPr lang="en-US" dirty="0">
                <a:latin typeface="+mn-lt"/>
              </a:rPr>
              <a:t>(Query, </a:t>
            </a:r>
            <a:r>
              <a:rPr lang="en-US" dirty="0" err="1">
                <a:latin typeface="+mn-lt"/>
              </a:rPr>
              <a:t>question_type</a:t>
            </a:r>
            <a:r>
              <a:rPr lang="en-US" dirty="0">
                <a:latin typeface="+mn-lt"/>
              </a:rPr>
              <a:t>, how)</a:t>
            </a:r>
          </a:p>
          <a:p>
            <a:pPr marL="742950" lvl="1" indent="-285750">
              <a:buFont typeface="Arial" panose="020B0604020202020204" pitchFamily="34" charset="0"/>
              <a:buChar char="•"/>
            </a:pPr>
            <a:r>
              <a:rPr lang="en-US" dirty="0">
                <a:latin typeface="+mn-lt"/>
              </a:rPr>
              <a:t>(Query, REL, fix)</a:t>
            </a:r>
          </a:p>
          <a:p>
            <a:pPr marL="742950" lvl="1" indent="-285750">
              <a:buFont typeface="Arial" panose="020B0604020202020204" pitchFamily="34" charset="0"/>
              <a:buChar char="•"/>
            </a:pPr>
            <a:r>
              <a:rPr lang="en-US" dirty="0">
                <a:latin typeface="+mn-lt"/>
              </a:rPr>
              <a:t>(topic, </a:t>
            </a:r>
            <a:r>
              <a:rPr lang="en-US" dirty="0" err="1">
                <a:latin typeface="+mn-lt"/>
              </a:rPr>
              <a:t>has_specific_type</a:t>
            </a:r>
            <a:r>
              <a:rPr lang="en-US" dirty="0">
                <a:latin typeface="+mn-lt"/>
              </a:rPr>
              <a:t>, IE error)</a:t>
            </a:r>
          </a:p>
          <a:p>
            <a:pPr marL="742950" lvl="1" indent="-285750">
              <a:buFont typeface="Arial" panose="020B0604020202020204" pitchFamily="34" charset="0"/>
              <a:buChar char="•"/>
            </a:pPr>
            <a:r>
              <a:rPr lang="en-US" dirty="0">
                <a:latin typeface="+mn-lt"/>
              </a:rPr>
              <a:t>(topic, </a:t>
            </a:r>
            <a:r>
              <a:rPr lang="en-US" dirty="0" err="1">
                <a:latin typeface="+mn-lt"/>
              </a:rPr>
              <a:t>state_mode</a:t>
            </a:r>
            <a:r>
              <a:rPr lang="en-US" dirty="0">
                <a:latin typeface="+mn-lt"/>
              </a:rPr>
              <a:t> , Mix)</a:t>
            </a:r>
          </a:p>
          <a:p>
            <a:pPr marL="742950" lvl="1" indent="-285750">
              <a:buFont typeface="Arial" panose="020B0604020202020204" pitchFamily="34" charset="0"/>
              <a:buChar char="•"/>
            </a:pPr>
            <a:r>
              <a:rPr lang="en-US" dirty="0">
                <a:latin typeface="+mn-lt"/>
              </a:rPr>
              <a:t>(topic, </a:t>
            </a:r>
            <a:r>
              <a:rPr lang="en-US" dirty="0" err="1">
                <a:latin typeface="+mn-lt"/>
              </a:rPr>
              <a:t>state_temp</a:t>
            </a:r>
            <a:r>
              <a:rPr lang="en-US" dirty="0">
                <a:latin typeface="+mn-lt"/>
              </a:rPr>
              <a:t>, 40 </a:t>
            </a:r>
            <a:r>
              <a:rPr lang="en-US" dirty="0" err="1">
                <a:latin typeface="+mn-lt"/>
              </a:rPr>
              <a:t>deg</a:t>
            </a:r>
            <a:r>
              <a:rPr lang="en-US" dirty="0">
                <a:latin typeface="+mn-lt"/>
              </a:rPr>
              <a:t>)</a:t>
            </a:r>
          </a:p>
          <a:p>
            <a:pPr marL="742950" lvl="1" indent="-285750">
              <a:buFont typeface="Arial" panose="020B0604020202020204" pitchFamily="34" charset="0"/>
              <a:buChar char="•"/>
            </a:pPr>
            <a:r>
              <a:rPr lang="en-US" dirty="0">
                <a:latin typeface="+mn-lt"/>
              </a:rPr>
              <a:t>(topic, </a:t>
            </a:r>
            <a:r>
              <a:rPr lang="en-US" dirty="0" err="1">
                <a:latin typeface="+mn-lt"/>
              </a:rPr>
              <a:t>has_spin</a:t>
            </a:r>
            <a:r>
              <a:rPr lang="en-US" dirty="0">
                <a:latin typeface="+mn-lt"/>
              </a:rPr>
              <a:t> , 1000)</a:t>
            </a:r>
            <a:endParaRPr lang="en-US" dirty="0" smtClean="0">
              <a:latin typeface="+mn-lt"/>
            </a:endParaRP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3150995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1054" y="476672"/>
            <a:ext cx="9130458" cy="7017306"/>
          </a:xfrm>
          <a:prstGeom prst="rect">
            <a:avLst/>
          </a:prstGeom>
          <a:noFill/>
        </p:spPr>
        <p:txBody>
          <a:bodyPr wrap="square" rtlCol="0">
            <a:spAutoFit/>
          </a:bodyPr>
          <a:lstStyle/>
          <a:p>
            <a:r>
              <a:rPr lang="en-US" b="1" dirty="0" smtClean="0">
                <a:latin typeface="+mn-lt"/>
              </a:rPr>
              <a:t>Use Case 1</a:t>
            </a:r>
            <a:r>
              <a:rPr lang="en-US" b="1" dirty="0" smtClean="0">
                <a:latin typeface="+mn-lt"/>
              </a:rPr>
              <a:t>:</a:t>
            </a:r>
            <a:endParaRPr lang="en-US" b="1" dirty="0" smtClean="0">
              <a:latin typeface="+mn-lt"/>
            </a:endParaRPr>
          </a:p>
          <a:p>
            <a:pPr marL="285750" indent="-285750">
              <a:buFont typeface="Arial" panose="020B0604020202020204" pitchFamily="34" charset="0"/>
              <a:buChar char="•"/>
            </a:pPr>
            <a:r>
              <a:rPr lang="en-US" dirty="0" smtClean="0">
                <a:latin typeface="+mn-lt"/>
              </a:rPr>
              <a:t>All the extracted triples might not be relevant to form the Complete Query(Intelligent Query). A deep learning based module selects the triples with score greater than the some empirical threshold.</a:t>
            </a:r>
          </a:p>
          <a:p>
            <a:pPr marL="285750" indent="-285750">
              <a:buFont typeface="Arial" panose="020B0604020202020204" pitchFamily="34" charset="0"/>
              <a:buChar char="•"/>
            </a:pPr>
            <a:r>
              <a:rPr lang="en-US" dirty="0" smtClean="0">
                <a:latin typeface="+mn-lt"/>
              </a:rPr>
              <a:t>These shortlisted triples are used to generate Intelligent Query. In this case, the generated query should be “</a:t>
            </a:r>
            <a:r>
              <a:rPr lang="en-IN" b="1" dirty="0">
                <a:latin typeface="+mn-lt"/>
              </a:rPr>
              <a:t>How to fix IE Error with mode as Mix, </a:t>
            </a:r>
            <a:r>
              <a:rPr lang="en-IN" b="1" dirty="0" smtClean="0">
                <a:latin typeface="+mn-lt"/>
              </a:rPr>
              <a:t> at </a:t>
            </a:r>
            <a:r>
              <a:rPr lang="en-IN" b="1" dirty="0">
                <a:latin typeface="+mn-lt"/>
              </a:rPr>
              <a:t>temp 40 degree, Spin 1000</a:t>
            </a:r>
            <a:r>
              <a:rPr lang="en-IN" b="1" dirty="0" smtClean="0">
                <a:latin typeface="+mn-lt"/>
              </a:rPr>
              <a:t>?</a:t>
            </a:r>
            <a:r>
              <a:rPr lang="en-US" dirty="0" smtClean="0">
                <a:latin typeface="+mn-lt"/>
              </a:rPr>
              <a:t>“</a:t>
            </a:r>
          </a:p>
          <a:p>
            <a:pPr marL="285750" indent="-285750">
              <a:buFont typeface="Arial" panose="020B0604020202020204" pitchFamily="34" charset="0"/>
              <a:buChar char="•"/>
            </a:pPr>
            <a:r>
              <a:rPr lang="en-US" dirty="0" smtClean="0">
                <a:latin typeface="+mn-lt"/>
              </a:rPr>
              <a:t>The Intelligent Query gets processed by the Question Answering subsystem and the subsystem provides the answer to the user.</a:t>
            </a:r>
          </a:p>
          <a:p>
            <a:pPr marL="285750" indent="-285750">
              <a:buFont typeface="Arial" panose="020B0604020202020204" pitchFamily="34" charset="0"/>
              <a:buChar char="•"/>
            </a:pPr>
            <a:r>
              <a:rPr lang="en-US" dirty="0" smtClean="0">
                <a:latin typeface="+mn-lt"/>
              </a:rPr>
              <a:t>Based on the answer, the user provides a feedback to the QA subsystem.</a:t>
            </a:r>
          </a:p>
          <a:p>
            <a:pPr marL="285750" indent="-285750">
              <a:buFont typeface="Arial" panose="020B0604020202020204" pitchFamily="34" charset="0"/>
              <a:buChar char="•"/>
            </a:pPr>
            <a:r>
              <a:rPr lang="en-US" dirty="0" smtClean="0">
                <a:latin typeface="+mn-lt"/>
              </a:rPr>
              <a:t>The QA subsystem receives the feedback and analyze the query to identify if the query is an “Issue” or a “Feature”, In this particular example. </a:t>
            </a:r>
            <a:r>
              <a:rPr lang="en-US" dirty="0">
                <a:latin typeface="+mn-lt"/>
              </a:rPr>
              <a:t>“</a:t>
            </a:r>
            <a:r>
              <a:rPr lang="en-IN" b="1" dirty="0">
                <a:latin typeface="+mn-lt"/>
              </a:rPr>
              <a:t>How to fix IE Error with mode as Mix,  at temp 40 degree, Spin 1000?</a:t>
            </a:r>
            <a:r>
              <a:rPr lang="en-US" dirty="0" smtClean="0">
                <a:latin typeface="+mn-lt"/>
              </a:rPr>
              <a:t>“, is an issue. It will also categorize the issue based on frequency (“Low”, “Medium”, “High”, “Very High”)</a:t>
            </a:r>
          </a:p>
          <a:p>
            <a:pPr marL="285750" indent="-285750">
              <a:buFont typeface="Arial" panose="020B0604020202020204" pitchFamily="34" charset="0"/>
              <a:buChar char="•"/>
            </a:pPr>
            <a:r>
              <a:rPr lang="en-US" dirty="0" smtClean="0">
                <a:latin typeface="+mn-lt"/>
              </a:rPr>
              <a:t>As this is an “Issue” not a “Feature” . So the Feature tag will be set as “NA” while the issue type would be “IE” . </a:t>
            </a:r>
            <a:r>
              <a:rPr lang="en-US" dirty="0" err="1" smtClean="0">
                <a:latin typeface="+mn-lt"/>
              </a:rPr>
              <a:t>Eg</a:t>
            </a:r>
            <a:r>
              <a:rPr lang="en-US" dirty="0" smtClean="0">
                <a:latin typeface="+mn-lt"/>
              </a:rPr>
              <a:t> the following properties are identified by the Statistical Analysis Module: </a:t>
            </a:r>
          </a:p>
          <a:p>
            <a:pPr marL="742950" lvl="1" indent="-285750">
              <a:buFont typeface="Arial" panose="020B0604020202020204" pitchFamily="34" charset="0"/>
              <a:buChar char="•"/>
            </a:pPr>
            <a:r>
              <a:rPr lang="en-IN" b="1" dirty="0" smtClean="0">
                <a:latin typeface="+mn-lt"/>
              </a:rPr>
              <a:t>Issue </a:t>
            </a:r>
            <a:r>
              <a:rPr lang="en-IN" b="1" dirty="0">
                <a:latin typeface="+mn-lt"/>
              </a:rPr>
              <a:t>type: IE, Mode: Mix, Feature: N/A, </a:t>
            </a:r>
            <a:r>
              <a:rPr lang="en-IN" b="1" dirty="0" smtClean="0">
                <a:latin typeface="+mn-lt"/>
              </a:rPr>
              <a:t>Frequency: Very High</a:t>
            </a:r>
          </a:p>
          <a:p>
            <a:pPr marL="285750" indent="-285750">
              <a:buFont typeface="Arial" panose="020B0604020202020204" pitchFamily="34" charset="0"/>
              <a:buChar char="•"/>
            </a:pPr>
            <a:r>
              <a:rPr lang="en-IN" dirty="0" smtClean="0">
                <a:latin typeface="+mn-lt"/>
              </a:rPr>
              <a:t>Based on the Severity and Frequency the system reports to the production system so that the product solution which require hardware/software fix, could be given in the next release.</a:t>
            </a:r>
            <a:endParaRPr lang="en-IN" dirty="0">
              <a:latin typeface="+mn-lt"/>
            </a:endParaRPr>
          </a:p>
          <a:p>
            <a:r>
              <a:rPr lang="en-US" dirty="0" smtClean="0">
                <a:latin typeface="+mn-lt"/>
              </a:rPr>
              <a:t> </a:t>
            </a:r>
            <a:endParaRPr lang="en-US" dirty="0">
              <a:latin typeface="+mn-lt"/>
            </a:endParaRP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3080861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3662118" y="5698778"/>
            <a:ext cx="1430135" cy="307777"/>
          </a:xfrm>
          <a:prstGeom prst="rect">
            <a:avLst/>
          </a:prstGeom>
          <a:noFill/>
        </p:spPr>
        <p:txBody>
          <a:bodyPr wrap="none" rtlCol="0">
            <a:spAutoFit/>
          </a:bodyPr>
          <a:lstStyle/>
          <a:p>
            <a:r>
              <a:rPr lang="en-US" sz="1400" dirty="0" smtClean="0">
                <a:latin typeface="+mj-lt"/>
              </a:rPr>
              <a:t>Statistical AI model</a:t>
            </a:r>
            <a:endParaRPr lang="en-US" sz="1400" dirty="0">
              <a:latin typeface="+mj-lt"/>
            </a:endParaRPr>
          </a:p>
        </p:txBody>
      </p:sp>
      <p:grpSp>
        <p:nvGrpSpPr>
          <p:cNvPr id="28" name="Group 27"/>
          <p:cNvGrpSpPr/>
          <p:nvPr/>
        </p:nvGrpSpPr>
        <p:grpSpPr>
          <a:xfrm>
            <a:off x="395434" y="198545"/>
            <a:ext cx="8215537" cy="6491390"/>
            <a:chOff x="34726" y="279349"/>
            <a:chExt cx="8215537" cy="6491390"/>
          </a:xfrm>
        </p:grpSpPr>
        <p:sp>
          <p:nvSpPr>
            <p:cNvPr id="49" name="TextBox 48"/>
            <p:cNvSpPr txBox="1"/>
            <p:nvPr/>
          </p:nvSpPr>
          <p:spPr>
            <a:xfrm>
              <a:off x="34726" y="4526008"/>
              <a:ext cx="1184602" cy="461665"/>
            </a:xfrm>
            <a:prstGeom prst="rect">
              <a:avLst/>
            </a:prstGeom>
            <a:noFill/>
            <a:ln>
              <a:noFill/>
            </a:ln>
          </p:spPr>
          <p:txBody>
            <a:bodyPr wrap="square" rtlCol="0">
              <a:spAutoFit/>
            </a:bodyPr>
            <a:lstStyle/>
            <a:p>
              <a:r>
                <a:rPr lang="en-IN" sz="1200" b="1" dirty="0" smtClean="0">
                  <a:latin typeface="+mj-lt"/>
                </a:rPr>
                <a:t>Question Answering Subsystem</a:t>
              </a:r>
            </a:p>
          </p:txBody>
        </p:sp>
        <p:grpSp>
          <p:nvGrpSpPr>
            <p:cNvPr id="27" name="Group 26"/>
            <p:cNvGrpSpPr/>
            <p:nvPr/>
          </p:nvGrpSpPr>
          <p:grpSpPr>
            <a:xfrm>
              <a:off x="1182798" y="279349"/>
              <a:ext cx="7067465" cy="6491390"/>
              <a:chOff x="1182798" y="279349"/>
              <a:chExt cx="7067465" cy="6491390"/>
            </a:xfrm>
          </p:grpSpPr>
          <p:sp>
            <p:nvSpPr>
              <p:cNvPr id="4" name="AutoShape 2" descr="https://i.ytimg.com/an_webp/dqmFhKN8Z50/mqdefault_6s.webp?du=3000&amp;sqp=CLOagoYG&amp;rs=AOn4CLABnG04Gb6Wu_nrIF9nXbpaFuJoSA"/>
              <p:cNvSpPr>
                <a:spLocks noChangeAspect="1" noChangeArrowheads="1"/>
              </p:cNvSpPr>
              <p:nvPr/>
            </p:nvSpPr>
            <p:spPr bwMode="auto">
              <a:xfrm>
                <a:off x="4690975" y="861126"/>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6624" y="1765715"/>
                <a:ext cx="1819854" cy="6524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Straight Arrow Connector 5"/>
              <p:cNvCxnSpPr/>
              <p:nvPr/>
            </p:nvCxnSpPr>
            <p:spPr>
              <a:xfrm flipV="1">
                <a:off x="1712640" y="1636469"/>
                <a:ext cx="484402" cy="460383"/>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275596" y="2765295"/>
                <a:ext cx="1981633" cy="276999"/>
              </a:xfrm>
              <a:prstGeom prst="rect">
                <a:avLst/>
              </a:prstGeom>
              <a:noFill/>
              <a:ln>
                <a:solidFill>
                  <a:schemeClr val="tx1"/>
                </a:solidFill>
              </a:ln>
            </p:spPr>
            <p:txBody>
              <a:bodyPr wrap="none" rtlCol="0">
                <a:spAutoFit/>
              </a:bodyPr>
              <a:lstStyle/>
              <a:p>
                <a:r>
                  <a:rPr lang="en-IN" sz="1200" b="1" dirty="0">
                    <a:latin typeface="+mj-lt"/>
                  </a:rPr>
                  <a:t>How to use Ice Plus function?</a:t>
                </a:r>
              </a:p>
            </p:txBody>
          </p:sp>
          <p:sp>
            <p:nvSpPr>
              <p:cNvPr id="20" name="TextBox 19"/>
              <p:cNvSpPr txBox="1"/>
              <p:nvPr/>
            </p:nvSpPr>
            <p:spPr>
              <a:xfrm>
                <a:off x="2108530" y="1487935"/>
                <a:ext cx="2050561" cy="261610"/>
              </a:xfrm>
              <a:prstGeom prst="rect">
                <a:avLst/>
              </a:prstGeom>
              <a:noFill/>
            </p:spPr>
            <p:txBody>
              <a:bodyPr wrap="none" rtlCol="0">
                <a:spAutoFit/>
              </a:bodyPr>
              <a:lstStyle/>
              <a:p>
                <a:r>
                  <a:rPr lang="en-IN" sz="1100" b="1" u="sng" dirty="0" smtClean="0">
                    <a:latin typeface="+mj-lt"/>
                  </a:rPr>
                  <a:t>Audio – if available(Audio or Text)</a:t>
                </a:r>
                <a:endParaRPr lang="en-IN" sz="1100" b="1" u="sng" dirty="0">
                  <a:latin typeface="+mj-lt"/>
                </a:endParaRPr>
              </a:p>
            </p:txBody>
          </p:sp>
          <p:sp>
            <p:nvSpPr>
              <p:cNvPr id="21" name="TextBox 20"/>
              <p:cNvSpPr txBox="1"/>
              <p:nvPr/>
            </p:nvSpPr>
            <p:spPr>
              <a:xfrm>
                <a:off x="2118469" y="2496047"/>
                <a:ext cx="1960793" cy="261610"/>
              </a:xfrm>
              <a:prstGeom prst="rect">
                <a:avLst/>
              </a:prstGeom>
              <a:noFill/>
            </p:spPr>
            <p:txBody>
              <a:bodyPr wrap="none" rtlCol="0">
                <a:spAutoFit/>
              </a:bodyPr>
              <a:lstStyle/>
              <a:p>
                <a:r>
                  <a:rPr lang="en-IN" sz="1100" b="1" u="sng" dirty="0" smtClean="0">
                    <a:latin typeface="+mj-lt"/>
                  </a:rPr>
                  <a:t>Text – if available (Audio or text)</a:t>
                </a:r>
                <a:endParaRPr lang="en-IN" sz="1100" b="1" u="sng" dirty="0">
                  <a:latin typeface="+mj-lt"/>
                </a:endParaRPr>
              </a:p>
            </p:txBody>
          </p:sp>
          <p:cxnSp>
            <p:nvCxnSpPr>
              <p:cNvPr id="31" name="Straight Connector 30"/>
              <p:cNvCxnSpPr/>
              <p:nvPr/>
            </p:nvCxnSpPr>
            <p:spPr>
              <a:xfrm>
                <a:off x="1712640" y="279349"/>
                <a:ext cx="0" cy="2762945"/>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4520952" y="1665050"/>
                <a:ext cx="1152128" cy="461665"/>
              </a:xfrm>
              <a:prstGeom prst="rect">
                <a:avLst/>
              </a:prstGeom>
              <a:noFill/>
              <a:ln>
                <a:solidFill>
                  <a:schemeClr val="tx1"/>
                </a:solidFill>
              </a:ln>
            </p:spPr>
            <p:txBody>
              <a:bodyPr wrap="square" rtlCol="0">
                <a:spAutoFit/>
              </a:bodyPr>
              <a:lstStyle/>
              <a:p>
                <a:r>
                  <a:rPr lang="en-IN" sz="1200" b="1" dirty="0" smtClean="0">
                    <a:latin typeface="+mj-lt"/>
                  </a:rPr>
                  <a:t>How to use Ice Plus function?</a:t>
                </a:r>
                <a:endParaRPr lang="en-IN" sz="1200" b="1" dirty="0">
                  <a:latin typeface="+mj-lt"/>
                </a:endParaRPr>
              </a:p>
            </p:txBody>
          </p:sp>
          <p:cxnSp>
            <p:nvCxnSpPr>
              <p:cNvPr id="47" name="Straight Arrow Connector 46"/>
              <p:cNvCxnSpPr/>
              <p:nvPr/>
            </p:nvCxnSpPr>
            <p:spPr>
              <a:xfrm flipH="1" flipV="1">
                <a:off x="1182798" y="5399436"/>
                <a:ext cx="422296" cy="431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9" name="TextBox 58"/>
              <p:cNvSpPr txBox="1"/>
              <p:nvPr/>
            </p:nvSpPr>
            <p:spPr>
              <a:xfrm>
                <a:off x="1618319" y="3397046"/>
                <a:ext cx="6631944" cy="2123658"/>
              </a:xfrm>
              <a:prstGeom prst="rect">
                <a:avLst/>
              </a:prstGeom>
              <a:noFill/>
              <a:ln>
                <a:noFill/>
              </a:ln>
            </p:spPr>
            <p:txBody>
              <a:bodyPr wrap="none" rtlCol="0">
                <a:spAutoFit/>
              </a:bodyPr>
              <a:lstStyle/>
              <a:p>
                <a:endParaRPr lang="en-IN" sz="1200" b="1" dirty="0">
                  <a:latin typeface="+mj-lt"/>
                </a:endParaRPr>
              </a:p>
              <a:p>
                <a:r>
                  <a:rPr lang="en-IN" sz="1200" b="1" dirty="0">
                    <a:latin typeface="+mj-lt"/>
                  </a:rPr>
                  <a:t>Which </a:t>
                </a:r>
                <a:r>
                  <a:rPr lang="en-IN" sz="1200" b="1" dirty="0" smtClean="0">
                    <a:latin typeface="+mj-lt"/>
                  </a:rPr>
                  <a:t>topic:   Ice Plus function   </a:t>
                </a:r>
              </a:p>
              <a:p>
                <a:r>
                  <a:rPr lang="en-IN" sz="1200" b="1" dirty="0">
                    <a:latin typeface="+mj-lt"/>
                  </a:rPr>
                  <a:t>t</a:t>
                </a:r>
                <a:r>
                  <a:rPr lang="en-IN" sz="1200" b="1" dirty="0" smtClean="0">
                    <a:latin typeface="+mj-lt"/>
                  </a:rPr>
                  <a:t>riples: (</a:t>
                </a:r>
                <a:r>
                  <a:rPr lang="en-IN" sz="1200" dirty="0" smtClean="0">
                    <a:latin typeface="+mj-lt"/>
                  </a:rPr>
                  <a:t>topic </a:t>
                </a:r>
                <a:r>
                  <a:rPr lang="en-IN" sz="1200" dirty="0" err="1" smtClean="0">
                    <a:latin typeface="+mj-lt"/>
                  </a:rPr>
                  <a:t>has_specific_type</a:t>
                </a:r>
                <a:r>
                  <a:rPr lang="en-IN" sz="1200" dirty="0" smtClean="0">
                    <a:latin typeface="+mj-lt"/>
                  </a:rPr>
                  <a:t>, Ice Plus function)</a:t>
                </a:r>
              </a:p>
              <a:p>
                <a:r>
                  <a:rPr lang="en-IN" sz="1200" dirty="0" smtClean="0">
                    <a:latin typeface="+mj-lt"/>
                  </a:rPr>
                  <a:t>(topic, </a:t>
                </a:r>
                <a:r>
                  <a:rPr lang="en-IN" sz="1200" dirty="0" err="1" smtClean="0">
                    <a:latin typeface="+mj-lt"/>
                  </a:rPr>
                  <a:t>has_query_objective</a:t>
                </a:r>
                <a:r>
                  <a:rPr lang="en-IN" sz="1200" dirty="0" smtClean="0">
                    <a:latin typeface="+mj-lt"/>
                  </a:rPr>
                  <a:t>, usage)</a:t>
                </a:r>
                <a:endParaRPr lang="en-IN" sz="1200" dirty="0">
                  <a:latin typeface="+mj-lt"/>
                </a:endParaRPr>
              </a:p>
              <a:p>
                <a:endParaRPr lang="en-IN" sz="1200" b="1" dirty="0">
                  <a:latin typeface="+mj-lt"/>
                </a:endParaRPr>
              </a:p>
              <a:p>
                <a:endParaRPr lang="en-IN" sz="1200" b="1" dirty="0" smtClean="0"/>
              </a:p>
              <a:p>
                <a:endParaRPr lang="en-IN" sz="1200" b="1" dirty="0"/>
              </a:p>
              <a:p>
                <a:endParaRPr lang="en-IN" sz="1200" b="1" dirty="0" smtClean="0"/>
              </a:p>
              <a:p>
                <a:endParaRPr lang="en-IN" sz="1200" b="1" dirty="0" smtClean="0"/>
              </a:p>
              <a:p>
                <a:r>
                  <a:rPr lang="en-IN" sz="1200" b="1" dirty="0" smtClean="0"/>
                  <a:t>Final Complete Query(NLG): (Note: Final Query completion is same as original question)</a:t>
                </a:r>
                <a:endParaRPr lang="en-IN" sz="1200" b="1" dirty="0"/>
              </a:p>
              <a:p>
                <a:r>
                  <a:rPr lang="en-IN" sz="1200" b="1" dirty="0" smtClean="0">
                    <a:solidFill>
                      <a:srgbClr val="595959"/>
                    </a:solidFill>
                  </a:rPr>
                  <a:t>How to use Ice Plus function?</a:t>
                </a:r>
                <a:endParaRPr lang="en-IN" sz="1200" b="1" dirty="0" smtClean="0"/>
              </a:p>
            </p:txBody>
          </p:sp>
          <p:sp>
            <p:nvSpPr>
              <p:cNvPr id="1039" name="Rectangle 1038"/>
              <p:cNvSpPr/>
              <p:nvPr/>
            </p:nvSpPr>
            <p:spPr>
              <a:xfrm>
                <a:off x="1496616" y="3325037"/>
                <a:ext cx="3398562" cy="2470355"/>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5" name="Straight Arrow Connector 4"/>
              <p:cNvCxnSpPr>
                <a:stCxn id="1029" idx="3"/>
                <a:endCxn id="38" idx="1"/>
              </p:cNvCxnSpPr>
              <p:nvPr/>
            </p:nvCxnSpPr>
            <p:spPr>
              <a:xfrm flipV="1">
                <a:off x="4016478" y="1895883"/>
                <a:ext cx="504474" cy="19606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1496616" y="6050659"/>
                <a:ext cx="2332465" cy="7200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p:cNvSpPr txBox="1"/>
              <p:nvPr/>
            </p:nvSpPr>
            <p:spPr>
              <a:xfrm>
                <a:off x="1623286" y="6100433"/>
                <a:ext cx="1990747" cy="646331"/>
              </a:xfrm>
              <a:prstGeom prst="rect">
                <a:avLst/>
              </a:prstGeom>
              <a:noFill/>
            </p:spPr>
            <p:txBody>
              <a:bodyPr wrap="square" rtlCol="0">
                <a:spAutoFit/>
              </a:bodyPr>
              <a:lstStyle/>
              <a:p>
                <a:pPr lvl="0"/>
                <a:r>
                  <a:rPr lang="en-IN" altLang="ko-KR" sz="1200" b="1" dirty="0" smtClean="0">
                    <a:solidFill>
                      <a:srgbClr val="000000"/>
                    </a:solidFill>
                    <a:latin typeface="+mj-lt"/>
                    <a:cs typeface="Arial" charset="0"/>
                  </a:rPr>
                  <a:t>AI model sub system </a:t>
                </a:r>
                <a:r>
                  <a:rPr lang="en-IN" altLang="ko-KR" sz="1200" b="1" dirty="0" err="1" smtClean="0">
                    <a:solidFill>
                      <a:srgbClr val="000000"/>
                    </a:solidFill>
                    <a:latin typeface="+mj-lt"/>
                    <a:cs typeface="Arial" charset="0"/>
                  </a:rPr>
                  <a:t>analyze</a:t>
                </a:r>
                <a:r>
                  <a:rPr lang="en-IN" altLang="ko-KR" sz="1200" b="1" dirty="0">
                    <a:solidFill>
                      <a:srgbClr val="000000"/>
                    </a:solidFill>
                    <a:latin typeface="+mj-lt"/>
                    <a:cs typeface="Arial" charset="0"/>
                  </a:rPr>
                  <a:t>, categorize and keeps the track of count of all issues</a:t>
                </a:r>
                <a:r>
                  <a:rPr lang="en-IN" altLang="ko-KR" sz="1200" dirty="0">
                    <a:solidFill>
                      <a:srgbClr val="000000"/>
                    </a:solidFill>
                    <a:latin typeface="+mj-lt"/>
                    <a:cs typeface="Arial" charset="0"/>
                  </a:rPr>
                  <a:t>. </a:t>
                </a:r>
              </a:p>
            </p:txBody>
          </p:sp>
        </p:grpSp>
      </p:grpSp>
      <p:sp>
        <p:nvSpPr>
          <p:cNvPr id="50" name="TextBox 49"/>
          <p:cNvSpPr txBox="1"/>
          <p:nvPr/>
        </p:nvSpPr>
        <p:spPr>
          <a:xfrm>
            <a:off x="4407082" y="2000532"/>
            <a:ext cx="986167" cy="261610"/>
          </a:xfrm>
          <a:prstGeom prst="rect">
            <a:avLst/>
          </a:prstGeom>
          <a:noFill/>
        </p:spPr>
        <p:txBody>
          <a:bodyPr wrap="none" rtlCol="0">
            <a:spAutoFit/>
          </a:bodyPr>
          <a:lstStyle/>
          <a:p>
            <a:r>
              <a:rPr lang="en-IN" sz="1100" b="1" u="sng" dirty="0" smtClean="0">
                <a:latin typeface="+mj-lt"/>
              </a:rPr>
              <a:t>Speech-to-text</a:t>
            </a:r>
            <a:endParaRPr lang="en-IN" sz="1100" b="1" u="sng" dirty="0">
              <a:latin typeface="+mj-lt"/>
            </a:endParaRPr>
          </a:p>
        </p:txBody>
      </p:sp>
      <p:sp>
        <p:nvSpPr>
          <p:cNvPr id="54" name="TextBox 53"/>
          <p:cNvSpPr txBox="1"/>
          <p:nvPr/>
        </p:nvSpPr>
        <p:spPr>
          <a:xfrm>
            <a:off x="4914261" y="2850466"/>
            <a:ext cx="1701488" cy="276999"/>
          </a:xfrm>
          <a:prstGeom prst="rect">
            <a:avLst/>
          </a:prstGeom>
          <a:noFill/>
          <a:ln>
            <a:solidFill>
              <a:schemeClr val="tx1"/>
            </a:solidFill>
          </a:ln>
        </p:spPr>
        <p:txBody>
          <a:bodyPr wrap="square" rtlCol="0">
            <a:spAutoFit/>
          </a:bodyPr>
          <a:lstStyle/>
          <a:p>
            <a:r>
              <a:rPr lang="en-IN" sz="1200" b="1" dirty="0" smtClean="0">
                <a:latin typeface="+mj-lt"/>
              </a:rPr>
              <a:t>Entity &amp; Triple Extraction</a:t>
            </a:r>
            <a:endParaRPr lang="en-IN" sz="1200" b="1" dirty="0">
              <a:latin typeface="+mj-lt"/>
            </a:endParaRPr>
          </a:p>
        </p:txBody>
      </p:sp>
      <p:sp>
        <p:nvSpPr>
          <p:cNvPr id="56" name="Rectangle 55"/>
          <p:cNvSpPr/>
          <p:nvPr/>
        </p:nvSpPr>
        <p:spPr>
          <a:xfrm>
            <a:off x="350990" y="4380858"/>
            <a:ext cx="1166410" cy="117200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p:cNvSpPr/>
          <p:nvPr/>
        </p:nvSpPr>
        <p:spPr>
          <a:xfrm>
            <a:off x="2005350" y="5193087"/>
            <a:ext cx="2978335" cy="39972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Arrow Connector 60"/>
          <p:cNvCxnSpPr/>
          <p:nvPr/>
        </p:nvCxnSpPr>
        <p:spPr>
          <a:xfrm flipH="1" flipV="1">
            <a:off x="850124" y="1938832"/>
            <a:ext cx="213" cy="2392260"/>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p:nvPr/>
        </p:nvCxnSpPr>
        <p:spPr>
          <a:xfrm flipH="1">
            <a:off x="2805192" y="3928466"/>
            <a:ext cx="72755" cy="1264621"/>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flipV="1">
            <a:off x="4250028" y="6196841"/>
            <a:ext cx="630964" cy="1077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4914261" y="6052595"/>
            <a:ext cx="2127639" cy="461665"/>
          </a:xfrm>
          <a:prstGeom prst="rect">
            <a:avLst/>
          </a:prstGeom>
          <a:noFill/>
          <a:ln>
            <a:solidFill>
              <a:schemeClr val="tx1"/>
            </a:solidFill>
          </a:ln>
        </p:spPr>
        <p:txBody>
          <a:bodyPr wrap="square" rtlCol="0">
            <a:spAutoFit/>
          </a:bodyPr>
          <a:lstStyle/>
          <a:p>
            <a:r>
              <a:rPr lang="en-IN" sz="1200" b="1" dirty="0" smtClean="0">
                <a:latin typeface="+mj-lt"/>
              </a:rPr>
              <a:t>Issue type: </a:t>
            </a:r>
            <a:r>
              <a:rPr lang="en-IN" sz="1200" b="1" dirty="0" smtClean="0">
                <a:solidFill>
                  <a:srgbClr val="0070C0"/>
                </a:solidFill>
                <a:latin typeface="+mj-lt"/>
              </a:rPr>
              <a:t>N/A</a:t>
            </a:r>
            <a:r>
              <a:rPr lang="en-IN" sz="1200" b="1" dirty="0" smtClean="0">
                <a:latin typeface="+mj-lt"/>
              </a:rPr>
              <a:t>, Mode: </a:t>
            </a:r>
            <a:r>
              <a:rPr lang="en-IN" sz="1200" b="1" dirty="0" smtClean="0">
                <a:solidFill>
                  <a:srgbClr val="0070C0"/>
                </a:solidFill>
                <a:latin typeface="+mj-lt"/>
              </a:rPr>
              <a:t>N/A</a:t>
            </a:r>
            <a:r>
              <a:rPr lang="en-IN" sz="1200" b="1" dirty="0" smtClean="0">
                <a:latin typeface="+mj-lt"/>
              </a:rPr>
              <a:t>, Feature: </a:t>
            </a:r>
            <a:r>
              <a:rPr lang="en-IN" sz="1200" b="1" dirty="0" smtClean="0">
                <a:solidFill>
                  <a:srgbClr val="0070C0"/>
                </a:solidFill>
                <a:latin typeface="+mj-lt"/>
              </a:rPr>
              <a:t>Ice Plus</a:t>
            </a:r>
            <a:r>
              <a:rPr lang="en-IN" sz="1200" b="1" dirty="0" smtClean="0">
                <a:latin typeface="+mj-lt"/>
              </a:rPr>
              <a:t>, </a:t>
            </a:r>
            <a:r>
              <a:rPr lang="en-IN" sz="1200" b="1" dirty="0" smtClean="0">
                <a:latin typeface="+mj-lt"/>
              </a:rPr>
              <a:t>Frequency: </a:t>
            </a:r>
            <a:r>
              <a:rPr lang="en-IN" sz="1200" b="1" dirty="0" smtClean="0">
                <a:solidFill>
                  <a:srgbClr val="FF0000"/>
                </a:solidFill>
                <a:latin typeface="+mj-lt"/>
              </a:rPr>
              <a:t> </a:t>
            </a:r>
            <a:r>
              <a:rPr lang="en-IN" sz="1200" b="1" dirty="0" smtClean="0">
                <a:solidFill>
                  <a:srgbClr val="FF0000"/>
                </a:solidFill>
                <a:latin typeface="+mj-lt"/>
              </a:rPr>
              <a:t>High</a:t>
            </a:r>
            <a:endParaRPr lang="en-IN" sz="1200" b="1" dirty="0">
              <a:solidFill>
                <a:srgbClr val="FF0000"/>
              </a:solidFill>
              <a:latin typeface="+mj-lt"/>
            </a:endParaRPr>
          </a:p>
        </p:txBody>
      </p:sp>
      <p:cxnSp>
        <p:nvCxnSpPr>
          <p:cNvPr id="78" name="Straight Arrow Connector 77"/>
          <p:cNvCxnSpPr/>
          <p:nvPr/>
        </p:nvCxnSpPr>
        <p:spPr>
          <a:xfrm flipV="1">
            <a:off x="7042113" y="6226782"/>
            <a:ext cx="630964" cy="10776"/>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5" name="Rectangle 84"/>
          <p:cNvSpPr/>
          <p:nvPr/>
        </p:nvSpPr>
        <p:spPr>
          <a:xfrm>
            <a:off x="7766372" y="5924247"/>
            <a:ext cx="1828722" cy="68228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p:cNvSpPr txBox="1"/>
          <p:nvPr/>
        </p:nvSpPr>
        <p:spPr>
          <a:xfrm>
            <a:off x="7722417" y="5909004"/>
            <a:ext cx="1990747" cy="646331"/>
          </a:xfrm>
          <a:prstGeom prst="rect">
            <a:avLst/>
          </a:prstGeom>
          <a:noFill/>
        </p:spPr>
        <p:txBody>
          <a:bodyPr wrap="square" rtlCol="0">
            <a:spAutoFit/>
          </a:bodyPr>
          <a:lstStyle/>
          <a:p>
            <a:pPr lvl="0"/>
            <a:r>
              <a:rPr lang="en-IN" altLang="ko-KR" sz="1200" b="1" dirty="0" smtClean="0">
                <a:solidFill>
                  <a:srgbClr val="000000"/>
                </a:solidFill>
                <a:latin typeface="+mj-lt"/>
                <a:cs typeface="Arial" charset="0"/>
              </a:rPr>
              <a:t>Inform Production System that </a:t>
            </a:r>
            <a:r>
              <a:rPr lang="en-IN" altLang="ko-KR" sz="1200" b="1" dirty="0" smtClean="0">
                <a:solidFill>
                  <a:srgbClr val="0070C0"/>
                </a:solidFill>
                <a:latin typeface="+mj-lt"/>
                <a:cs typeface="Arial" charset="0"/>
              </a:rPr>
              <a:t>Ice Plus Function feature is a popular feature</a:t>
            </a:r>
            <a:endParaRPr lang="en-IN" altLang="ko-KR" sz="1200" dirty="0">
              <a:solidFill>
                <a:srgbClr val="0070C0"/>
              </a:solidFill>
              <a:latin typeface="+mj-lt"/>
              <a:cs typeface="Arial" charset="0"/>
            </a:endParaRPr>
          </a:p>
        </p:txBody>
      </p:sp>
      <p:pic>
        <p:nvPicPr>
          <p:cNvPr id="36" name="Picture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50101" y="972089"/>
            <a:ext cx="732065" cy="902397"/>
          </a:xfrm>
          <a:prstGeom prst="rect">
            <a:avLst/>
          </a:prstGeom>
        </p:spPr>
      </p:pic>
      <p:cxnSp>
        <p:nvCxnSpPr>
          <p:cNvPr id="91" name="Straight Arrow Connector 90"/>
          <p:cNvCxnSpPr/>
          <p:nvPr/>
        </p:nvCxnSpPr>
        <p:spPr>
          <a:xfrm flipH="1">
            <a:off x="1219147" y="2011142"/>
            <a:ext cx="5347" cy="2281954"/>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488504" y="2637988"/>
            <a:ext cx="641522" cy="276999"/>
          </a:xfrm>
          <a:prstGeom prst="rect">
            <a:avLst/>
          </a:prstGeom>
          <a:noFill/>
        </p:spPr>
        <p:txBody>
          <a:bodyPr wrap="none" rtlCol="0">
            <a:spAutoFit/>
          </a:bodyPr>
          <a:lstStyle/>
          <a:p>
            <a:r>
              <a:rPr lang="en-US" sz="1200" b="1" dirty="0" smtClean="0">
                <a:latin typeface="+mj-lt"/>
              </a:rPr>
              <a:t>Answer</a:t>
            </a:r>
            <a:endParaRPr lang="en-US" sz="1200" b="1" dirty="0">
              <a:latin typeface="+mj-lt"/>
            </a:endParaRPr>
          </a:p>
        </p:txBody>
      </p:sp>
      <p:sp>
        <p:nvSpPr>
          <p:cNvPr id="97" name="TextBox 96"/>
          <p:cNvSpPr txBox="1"/>
          <p:nvPr/>
        </p:nvSpPr>
        <p:spPr>
          <a:xfrm>
            <a:off x="1064373" y="2637987"/>
            <a:ext cx="768159" cy="276999"/>
          </a:xfrm>
          <a:prstGeom prst="rect">
            <a:avLst/>
          </a:prstGeom>
          <a:noFill/>
        </p:spPr>
        <p:txBody>
          <a:bodyPr wrap="none" rtlCol="0">
            <a:spAutoFit/>
          </a:bodyPr>
          <a:lstStyle/>
          <a:p>
            <a:r>
              <a:rPr lang="en-US" sz="1200" b="1" dirty="0" smtClean="0">
                <a:latin typeface="+mj-lt"/>
              </a:rPr>
              <a:t>Feedback</a:t>
            </a:r>
            <a:endParaRPr lang="en-US" sz="1200" b="1" dirty="0">
              <a:latin typeface="+mj-lt"/>
            </a:endParaRPr>
          </a:p>
        </p:txBody>
      </p:sp>
      <p:cxnSp>
        <p:nvCxnSpPr>
          <p:cNvPr id="98" name="Straight Arrow Connector 97"/>
          <p:cNvCxnSpPr>
            <a:stCxn id="56" idx="2"/>
          </p:cNvCxnSpPr>
          <p:nvPr/>
        </p:nvCxnSpPr>
        <p:spPr>
          <a:xfrm>
            <a:off x="934195" y="5552864"/>
            <a:ext cx="895786" cy="643977"/>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522772" y="5812179"/>
            <a:ext cx="1253869" cy="276999"/>
          </a:xfrm>
          <a:prstGeom prst="rect">
            <a:avLst/>
          </a:prstGeom>
          <a:noFill/>
        </p:spPr>
        <p:txBody>
          <a:bodyPr wrap="none" rtlCol="0">
            <a:spAutoFit/>
          </a:bodyPr>
          <a:lstStyle/>
          <a:p>
            <a:r>
              <a:rPr lang="en-US" sz="1200" b="1" dirty="0" smtClean="0">
                <a:latin typeface="+mj-lt"/>
              </a:rPr>
              <a:t>System Feedback</a:t>
            </a:r>
            <a:endParaRPr lang="en-US" sz="1200" b="1" dirty="0">
              <a:latin typeface="+mj-lt"/>
            </a:endParaRPr>
          </a:p>
        </p:txBody>
      </p:sp>
      <p:sp>
        <p:nvSpPr>
          <p:cNvPr id="90" name="Rectangle 89"/>
          <p:cNvSpPr/>
          <p:nvPr/>
        </p:nvSpPr>
        <p:spPr>
          <a:xfrm>
            <a:off x="164283" y="66443"/>
            <a:ext cx="1977593" cy="923330"/>
          </a:xfrm>
          <a:prstGeom prst="rect">
            <a:avLst/>
          </a:prstGeom>
        </p:spPr>
        <p:txBody>
          <a:bodyPr wrap="none">
            <a:spAutoFit/>
          </a:bodyPr>
          <a:lstStyle/>
          <a:p>
            <a:r>
              <a:rPr lang="en-US" altLang="ko-KR" b="1" u="sng" dirty="0">
                <a:solidFill>
                  <a:srgbClr val="000000"/>
                </a:solidFill>
                <a:cs typeface="Arial" charset="0"/>
              </a:rPr>
              <a:t>Use Case </a:t>
            </a:r>
            <a:r>
              <a:rPr lang="en-US" altLang="ko-KR" b="1" u="sng" dirty="0" smtClean="0">
                <a:solidFill>
                  <a:srgbClr val="000000"/>
                </a:solidFill>
                <a:cs typeface="Arial" charset="0"/>
              </a:rPr>
              <a:t>2</a:t>
            </a:r>
          </a:p>
          <a:p>
            <a:r>
              <a:rPr lang="en-US" b="1" u="sng" dirty="0" smtClean="0">
                <a:solidFill>
                  <a:srgbClr val="000000"/>
                </a:solidFill>
                <a:cs typeface="Arial" charset="0"/>
              </a:rPr>
              <a:t>(Popular feature</a:t>
            </a:r>
          </a:p>
          <a:p>
            <a:r>
              <a:rPr lang="en-US" b="1" u="sng" dirty="0" smtClean="0">
                <a:solidFill>
                  <a:srgbClr val="000000"/>
                </a:solidFill>
                <a:cs typeface="Arial" charset="0"/>
              </a:rPr>
              <a:t> Identification)</a:t>
            </a:r>
            <a:endParaRPr lang="en-US" dirty="0"/>
          </a:p>
        </p:txBody>
      </p:sp>
      <p:cxnSp>
        <p:nvCxnSpPr>
          <p:cNvPr id="103" name="Straight Arrow Connector 102"/>
          <p:cNvCxnSpPr/>
          <p:nvPr/>
        </p:nvCxnSpPr>
        <p:spPr>
          <a:xfrm flipH="1">
            <a:off x="3113996" y="1933254"/>
            <a:ext cx="2443838" cy="3259833"/>
          </a:xfrm>
          <a:prstGeom prst="straightConnector1">
            <a:avLst/>
          </a:prstGeom>
          <a:ln w="127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2073348" y="2197120"/>
            <a:ext cx="483984" cy="487371"/>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95625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1054" y="476672"/>
            <a:ext cx="9130458" cy="4247317"/>
          </a:xfrm>
          <a:prstGeom prst="rect">
            <a:avLst/>
          </a:prstGeom>
          <a:noFill/>
        </p:spPr>
        <p:txBody>
          <a:bodyPr wrap="square" rtlCol="0">
            <a:spAutoFit/>
          </a:bodyPr>
          <a:lstStyle/>
          <a:p>
            <a:r>
              <a:rPr lang="en-US" b="1" dirty="0" smtClean="0">
                <a:latin typeface="+mn-lt"/>
              </a:rPr>
              <a:t>Use Case 2</a:t>
            </a:r>
            <a:r>
              <a:rPr lang="en-US" b="1" dirty="0" smtClean="0">
                <a:latin typeface="+mn-lt"/>
              </a:rPr>
              <a:t>:</a:t>
            </a:r>
            <a:endParaRPr lang="en-US" b="1" dirty="0" smtClean="0">
              <a:latin typeface="+mn-lt"/>
            </a:endParaRPr>
          </a:p>
          <a:p>
            <a:pPr marL="285750" indent="-285750">
              <a:buFont typeface="Arial" panose="020B0604020202020204" pitchFamily="34" charset="0"/>
              <a:buChar char="•"/>
            </a:pPr>
            <a:r>
              <a:rPr lang="en-US" dirty="0" smtClean="0">
                <a:latin typeface="+mn-lt"/>
              </a:rPr>
              <a:t>The process is same for Use Case 2. The only difference is here the Query (“How to use the Ice Plus Function?”) is of type “Feature” , not an “Issue” type.</a:t>
            </a:r>
          </a:p>
          <a:p>
            <a:pPr marL="285750" indent="-285750">
              <a:buFont typeface="Arial" panose="020B0604020202020204" pitchFamily="34" charset="0"/>
              <a:buChar char="•"/>
            </a:pPr>
            <a:r>
              <a:rPr lang="en-US" dirty="0" smtClean="0">
                <a:latin typeface="+mn-lt"/>
              </a:rPr>
              <a:t>So the Statistical Analysis module will have the Issue Type as “NA” . </a:t>
            </a:r>
          </a:p>
          <a:p>
            <a:pPr marL="742950" lvl="1" indent="-285750">
              <a:buFont typeface="Arial" panose="020B0604020202020204" pitchFamily="34" charset="0"/>
              <a:buChar char="•"/>
            </a:pPr>
            <a:r>
              <a:rPr lang="en-US" dirty="0" err="1" smtClean="0">
                <a:latin typeface="+mn-lt"/>
              </a:rPr>
              <a:t>Eg</a:t>
            </a:r>
            <a:r>
              <a:rPr lang="en-US" dirty="0" smtClean="0">
                <a:latin typeface="+mn-lt"/>
              </a:rPr>
              <a:t>. </a:t>
            </a:r>
            <a:r>
              <a:rPr lang="en-IN" b="1" dirty="0">
                <a:latin typeface="+mn-lt"/>
              </a:rPr>
              <a:t>Issue type: N/A, Mode: N/A, Feature: Ice Plus, </a:t>
            </a:r>
            <a:r>
              <a:rPr lang="en-IN" b="1" dirty="0" smtClean="0">
                <a:latin typeface="+mn-lt"/>
              </a:rPr>
              <a:t>Frequency:  High</a:t>
            </a:r>
            <a:endParaRPr lang="en-IN" b="1" dirty="0">
              <a:latin typeface="+mn-lt"/>
            </a:endParaRPr>
          </a:p>
          <a:p>
            <a:pPr marL="285750" indent="-285750">
              <a:buFont typeface="Arial" panose="020B0604020202020204" pitchFamily="34" charset="0"/>
              <a:buChar char="•"/>
            </a:pPr>
            <a:r>
              <a:rPr lang="en-US" dirty="0" smtClean="0">
                <a:latin typeface="+mn-lt"/>
              </a:rPr>
              <a:t>And based on statistical analysis, the system will inform the production system if these feature is an important feature often asked about by the users. In that case, the production team may decide to include such features in similar products, in future.</a:t>
            </a:r>
          </a:p>
          <a:p>
            <a:pPr marL="742950" lvl="1" indent="-285750">
              <a:buFont typeface="Arial" panose="020B0604020202020204" pitchFamily="34" charset="0"/>
              <a:buChar char="•"/>
            </a:pPr>
            <a:endParaRPr lang="en-US" dirty="0" smtClean="0">
              <a:latin typeface="+mn-lt"/>
            </a:endParaRPr>
          </a:p>
          <a:p>
            <a:pPr marL="285750" indent="-285750">
              <a:buFont typeface="Arial" panose="020B0604020202020204" pitchFamily="34" charset="0"/>
              <a:buChar char="•"/>
            </a:pPr>
            <a:endParaRPr lang="en-US" dirty="0" smtClean="0">
              <a:latin typeface="+mn-lt"/>
            </a:endParaRPr>
          </a:p>
          <a:p>
            <a:pPr marL="285750" indent="-285750">
              <a:buFont typeface="Arial" panose="020B0604020202020204" pitchFamily="34" charset="0"/>
              <a:buChar char="•"/>
            </a:pPr>
            <a:endParaRPr lang="en-US" dirty="0" smtClean="0"/>
          </a:p>
          <a:p>
            <a:pPr marL="285750" indent="-285750">
              <a:buFont typeface="Arial" panose="020B0604020202020204" pitchFamily="34" charset="0"/>
              <a:buChar char="•"/>
            </a:pPr>
            <a:endParaRPr lang="en-US" dirty="0"/>
          </a:p>
          <a:p>
            <a:endParaRPr lang="en-US" dirty="0" smtClean="0"/>
          </a:p>
          <a:p>
            <a:endParaRPr lang="en-US" dirty="0"/>
          </a:p>
          <a:p>
            <a:endParaRPr lang="en-US" dirty="0"/>
          </a:p>
        </p:txBody>
      </p:sp>
    </p:spTree>
    <p:extLst>
      <p:ext uri="{BB962C8B-B14F-4D97-AF65-F5344CB8AC3E}">
        <p14:creationId xmlns:p14="http://schemas.microsoft.com/office/powerpoint/2010/main" val="389475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https://i.ytimg.com/an_webp/dqmFhKN8Z50/mqdefault_6s.webp?du=3000&amp;sqp=CLOagoYG&amp;rs=AOn4CLABnG04Gb6Wu_nrIF9nXbpaFuJoS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TextBox 4"/>
          <p:cNvSpPr txBox="1"/>
          <p:nvPr/>
        </p:nvSpPr>
        <p:spPr>
          <a:xfrm>
            <a:off x="632520" y="692696"/>
            <a:ext cx="8640960" cy="5909310"/>
          </a:xfrm>
          <a:prstGeom prst="rect">
            <a:avLst/>
          </a:prstGeom>
          <a:noFill/>
        </p:spPr>
        <p:txBody>
          <a:bodyPr wrap="square" rtlCol="0">
            <a:spAutoFit/>
          </a:bodyPr>
          <a:lstStyle/>
          <a:p>
            <a:r>
              <a:rPr lang="en-IN" b="1" dirty="0" smtClean="0">
                <a:latin typeface="+mj-lt"/>
              </a:rPr>
              <a:t>Novelty</a:t>
            </a:r>
          </a:p>
          <a:p>
            <a:pPr marL="171450" lvl="0" indent="-171450">
              <a:buFont typeface="Arial" panose="020B0604020202020204" pitchFamily="34" charset="0"/>
              <a:buChar char="•"/>
            </a:pPr>
            <a:r>
              <a:rPr lang="en-US" altLang="ko-KR" dirty="0">
                <a:solidFill>
                  <a:srgbClr val="000000"/>
                </a:solidFill>
                <a:latin typeface="Arial Narrow"/>
                <a:cs typeface="Arial" charset="0"/>
              </a:rPr>
              <a:t>Support multi modal inputs where as most of the chat bots will support only </a:t>
            </a:r>
            <a:r>
              <a:rPr lang="en-US" altLang="ko-KR" dirty="0" smtClean="0">
                <a:solidFill>
                  <a:srgbClr val="000000"/>
                </a:solidFill>
                <a:latin typeface="Arial Narrow"/>
                <a:cs typeface="Arial" charset="0"/>
              </a:rPr>
              <a:t>text</a:t>
            </a:r>
          </a:p>
          <a:p>
            <a:pPr marL="171450" indent="-171450">
              <a:buFont typeface="Arial" panose="020B0604020202020204" pitchFamily="34" charset="0"/>
              <a:buChar char="•"/>
            </a:pPr>
            <a:r>
              <a:rPr lang="en-US" altLang="ko-KR" dirty="0" smtClean="0">
                <a:solidFill>
                  <a:srgbClr val="000000"/>
                </a:solidFill>
                <a:latin typeface="Arial Narrow"/>
                <a:cs typeface="Arial" charset="0"/>
              </a:rPr>
              <a:t>Intelligent Query formation from Multimodal inputs</a:t>
            </a:r>
          </a:p>
          <a:p>
            <a:pPr marL="628650" lvl="1" indent="-171450">
              <a:buFont typeface="Arial" panose="020B0604020202020204" pitchFamily="34" charset="0"/>
              <a:buChar char="•"/>
            </a:pPr>
            <a:r>
              <a:rPr lang="en-US" altLang="ko-KR" dirty="0" smtClean="0">
                <a:solidFill>
                  <a:srgbClr val="000000"/>
                </a:solidFill>
                <a:latin typeface="Arial Narrow"/>
                <a:cs typeface="Arial" charset="0"/>
              </a:rPr>
              <a:t>Takes inputs as image, audio/video and apply NLP methods like Pronoun substitution , Entity extraction and forms complete query</a:t>
            </a:r>
          </a:p>
          <a:p>
            <a:pPr marL="628650" lvl="1" indent="-171450">
              <a:buFont typeface="Arial" panose="020B0604020202020204" pitchFamily="34" charset="0"/>
              <a:buChar char="•"/>
            </a:pPr>
            <a:r>
              <a:rPr lang="en-US" altLang="ko-KR" dirty="0" smtClean="0">
                <a:solidFill>
                  <a:srgbClr val="000000"/>
                </a:solidFill>
                <a:latin typeface="Arial Narrow"/>
                <a:cs typeface="Arial" charset="0"/>
              </a:rPr>
              <a:t>Processes multimodal query with help of Knowledge Graphs, summarization methodology and natural language generation , into intelligent text query with complete information</a:t>
            </a:r>
            <a:endParaRPr lang="en-US" altLang="ko-KR" dirty="0" smtClean="0">
              <a:solidFill>
                <a:srgbClr val="000000"/>
              </a:solidFill>
              <a:latin typeface="+mj-lt"/>
              <a:cs typeface="Arial" charset="0"/>
            </a:endParaRPr>
          </a:p>
          <a:p>
            <a:pPr marL="171450" indent="-171450">
              <a:buFont typeface="Arial" panose="020B0604020202020204" pitchFamily="34" charset="0"/>
              <a:buChar char="•"/>
            </a:pPr>
            <a:r>
              <a:rPr lang="en-US" altLang="ko-KR" dirty="0" smtClean="0">
                <a:solidFill>
                  <a:srgbClr val="000000"/>
                </a:solidFill>
                <a:latin typeface="+mj-lt"/>
                <a:cs typeface="Arial" charset="0"/>
              </a:rPr>
              <a:t>Automatic feedback to Production system about frequent issues or popular features</a:t>
            </a:r>
          </a:p>
          <a:p>
            <a:pPr marL="628650" lvl="1" indent="-171450">
              <a:buFont typeface="Arial" panose="020B0604020202020204" pitchFamily="34" charset="0"/>
              <a:buChar char="•"/>
            </a:pPr>
            <a:r>
              <a:rPr lang="en-US" altLang="ko-KR" dirty="0" smtClean="0">
                <a:solidFill>
                  <a:srgbClr val="000000"/>
                </a:solidFill>
                <a:latin typeface="+mj-lt"/>
                <a:cs typeface="Arial" charset="0"/>
              </a:rPr>
              <a:t>Our statistical model analyze the user logged issues and extracts the informations like issue category, feature and frequency</a:t>
            </a:r>
          </a:p>
          <a:p>
            <a:pPr marL="628650" lvl="1" indent="-171450">
              <a:buFont typeface="Arial" panose="020B0604020202020204" pitchFamily="34" charset="0"/>
              <a:buChar char="•"/>
            </a:pPr>
            <a:r>
              <a:rPr lang="en-US" altLang="ko-KR" dirty="0" smtClean="0">
                <a:solidFill>
                  <a:srgbClr val="000000"/>
                </a:solidFill>
                <a:latin typeface="+mj-lt"/>
                <a:cs typeface="Arial" charset="0"/>
              </a:rPr>
              <a:t>Then it will send </a:t>
            </a:r>
            <a:r>
              <a:rPr lang="en-US" altLang="ko-KR" dirty="0">
                <a:solidFill>
                  <a:srgbClr val="000000"/>
                </a:solidFill>
                <a:latin typeface="Arial Narrow"/>
                <a:cs typeface="Arial" charset="0"/>
              </a:rPr>
              <a:t>automatic feedback to Production system about frequent issues or popular features </a:t>
            </a:r>
            <a:r>
              <a:rPr lang="en-US" altLang="ko-KR" dirty="0" smtClean="0">
                <a:solidFill>
                  <a:srgbClr val="000000"/>
                </a:solidFill>
                <a:latin typeface="+mj-lt"/>
                <a:cs typeface="Arial" charset="0"/>
              </a:rPr>
              <a:t>Periodically </a:t>
            </a:r>
          </a:p>
          <a:p>
            <a:pPr marL="171450" indent="-171450">
              <a:buFont typeface="Arial" panose="020B0604020202020204" pitchFamily="34" charset="0"/>
              <a:buChar char="•"/>
            </a:pPr>
            <a:r>
              <a:rPr lang="en-US" altLang="ko-KR" dirty="0">
                <a:solidFill>
                  <a:srgbClr val="000000"/>
                </a:solidFill>
                <a:latin typeface="+mj-lt"/>
                <a:cs typeface="Arial" charset="0"/>
              </a:rPr>
              <a:t>S</a:t>
            </a:r>
            <a:r>
              <a:rPr lang="en-US" altLang="ko-KR" dirty="0" smtClean="0">
                <a:solidFill>
                  <a:srgbClr val="000000"/>
                </a:solidFill>
                <a:latin typeface="+mj-lt"/>
                <a:cs typeface="Arial" charset="0"/>
              </a:rPr>
              <a:t>ingle point application that not only, responds to user queries , but also draws important insights </a:t>
            </a:r>
            <a:r>
              <a:rPr lang="en-US" altLang="ko-KR" dirty="0">
                <a:solidFill>
                  <a:srgbClr val="000000"/>
                </a:solidFill>
                <a:latin typeface="+mj-lt"/>
                <a:cs typeface="Arial" charset="0"/>
              </a:rPr>
              <a:t>,</a:t>
            </a:r>
            <a:r>
              <a:rPr lang="en-US" altLang="ko-KR" dirty="0" smtClean="0">
                <a:solidFill>
                  <a:srgbClr val="000000"/>
                </a:solidFill>
                <a:latin typeface="+mj-lt"/>
                <a:cs typeface="Arial" charset="0"/>
              </a:rPr>
              <a:t>conclusions and provide intelligent feedback to the production system</a:t>
            </a:r>
            <a:endParaRPr lang="en-US" altLang="ko-KR" dirty="0">
              <a:solidFill>
                <a:srgbClr val="000000"/>
              </a:solidFill>
              <a:latin typeface="+mj-lt"/>
              <a:cs typeface="Arial" charset="0"/>
            </a:endParaRPr>
          </a:p>
          <a:p>
            <a:r>
              <a:rPr lang="en-US" altLang="ko-KR" b="1" dirty="0" smtClean="0">
                <a:solidFill>
                  <a:srgbClr val="000000"/>
                </a:solidFill>
                <a:latin typeface="+mj-lt"/>
                <a:cs typeface="Arial" charset="0"/>
              </a:rPr>
              <a:t>Business value</a:t>
            </a:r>
          </a:p>
          <a:p>
            <a:pPr marL="171450" indent="-171450">
              <a:buFont typeface="Arial" panose="020B0604020202020204" pitchFamily="34" charset="0"/>
              <a:buChar char="•"/>
            </a:pPr>
            <a:r>
              <a:rPr lang="en-US" altLang="ko-KR" dirty="0" smtClean="0">
                <a:solidFill>
                  <a:srgbClr val="000000"/>
                </a:solidFill>
                <a:latin typeface="+mj-lt"/>
                <a:cs typeface="Arial" charset="0"/>
              </a:rPr>
              <a:t>Applied to all </a:t>
            </a:r>
            <a:r>
              <a:rPr lang="en-US" altLang="ko-KR" dirty="0">
                <a:solidFill>
                  <a:srgbClr val="000000"/>
                </a:solidFill>
                <a:latin typeface="+mj-lt"/>
                <a:cs typeface="Arial" charset="0"/>
              </a:rPr>
              <a:t>LG </a:t>
            </a:r>
            <a:r>
              <a:rPr lang="en-US" altLang="ko-KR" dirty="0" smtClean="0">
                <a:solidFill>
                  <a:srgbClr val="000000"/>
                </a:solidFill>
                <a:latin typeface="+mj-lt"/>
                <a:cs typeface="Arial" charset="0"/>
              </a:rPr>
              <a:t>products</a:t>
            </a:r>
          </a:p>
          <a:p>
            <a:pPr marL="171450" indent="-171450">
              <a:buFont typeface="Arial" panose="020B0604020202020204" pitchFamily="34" charset="0"/>
              <a:buChar char="•"/>
            </a:pPr>
            <a:r>
              <a:rPr lang="en-US" altLang="ko-KR" dirty="0" smtClean="0">
                <a:solidFill>
                  <a:srgbClr val="000000"/>
                </a:solidFill>
                <a:latin typeface="+mj-lt"/>
                <a:cs typeface="Arial" charset="0"/>
              </a:rPr>
              <a:t>Single point to solve all the issues reported by user , analyze their queries, identify the popular features and feedback to production system</a:t>
            </a:r>
          </a:p>
          <a:p>
            <a:pPr marL="171450" indent="-171450">
              <a:buFont typeface="Arial" panose="020B0604020202020204" pitchFamily="34" charset="0"/>
              <a:buChar char="•"/>
            </a:pPr>
            <a:r>
              <a:rPr lang="en-US" altLang="ko-KR" dirty="0" smtClean="0">
                <a:solidFill>
                  <a:srgbClr val="000000"/>
                </a:solidFill>
                <a:latin typeface="+mj-lt"/>
                <a:cs typeface="Arial" charset="0"/>
              </a:rPr>
              <a:t>It helps the Company to understand Its consumers better and to provide them with quality services</a:t>
            </a:r>
          </a:p>
          <a:p>
            <a:pPr marL="171450" indent="-171450">
              <a:buFont typeface="Arial" panose="020B0604020202020204" pitchFamily="34" charset="0"/>
              <a:buChar char="•"/>
            </a:pPr>
            <a:r>
              <a:rPr lang="en-US" altLang="ko-KR" dirty="0" smtClean="0">
                <a:solidFill>
                  <a:srgbClr val="000000"/>
                </a:solidFill>
                <a:latin typeface="+mj-lt"/>
                <a:cs typeface="Arial" charset="0"/>
              </a:rPr>
              <a:t>Its </a:t>
            </a:r>
            <a:r>
              <a:rPr lang="en-US" altLang="ko-KR" dirty="0">
                <a:solidFill>
                  <a:srgbClr val="000000"/>
                </a:solidFill>
                <a:latin typeface="+mj-lt"/>
                <a:cs typeface="Arial" charset="0"/>
              </a:rPr>
              <a:t>ongoing project and text based partially completed </a:t>
            </a:r>
            <a:r>
              <a:rPr lang="en-US" altLang="ko-KR" dirty="0" smtClean="0">
                <a:solidFill>
                  <a:srgbClr val="000000"/>
                </a:solidFill>
                <a:latin typeface="+mj-lt"/>
                <a:cs typeface="Arial" charset="0"/>
              </a:rPr>
              <a:t>and its improvement of </a:t>
            </a:r>
            <a:r>
              <a:rPr lang="en-US" altLang="ko-KR" dirty="0">
                <a:solidFill>
                  <a:srgbClr val="000000"/>
                </a:solidFill>
                <a:latin typeface="+mj-lt"/>
                <a:cs typeface="Arial" charset="0"/>
              </a:rPr>
              <a:t>ongoing project</a:t>
            </a:r>
            <a:endParaRPr lang="en-US" altLang="ko-KR" dirty="0" smtClean="0">
              <a:solidFill>
                <a:srgbClr val="000000"/>
              </a:solidFill>
              <a:cs typeface="Arial" charset="0"/>
            </a:endParaRPr>
          </a:p>
          <a:p>
            <a:pPr marL="171450" indent="-171450">
              <a:buFont typeface="Arial" panose="020B0604020202020204" pitchFamily="34" charset="0"/>
              <a:buChar char="•"/>
            </a:pPr>
            <a:endParaRPr lang="en-IN" dirty="0">
              <a:latin typeface="+mj-lt"/>
            </a:endParaRPr>
          </a:p>
        </p:txBody>
      </p:sp>
    </p:spTree>
    <p:extLst>
      <p:ext uri="{BB962C8B-B14F-4D97-AF65-F5344CB8AC3E}">
        <p14:creationId xmlns:p14="http://schemas.microsoft.com/office/powerpoint/2010/main" val="110488544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직사각형 1"/>
          <p:cNvSpPr/>
          <p:nvPr/>
        </p:nvSpPr>
        <p:spPr bwMode="auto">
          <a:xfrm>
            <a:off x="260350" y="518200"/>
            <a:ext cx="9336088" cy="534536"/>
          </a:xfrm>
          <a:prstGeom prst="rect">
            <a:avLst/>
          </a:prstGeom>
          <a:solidFill>
            <a:schemeClr val="bg1">
              <a:lumMod val="95000"/>
            </a:schemeClr>
          </a:solidFill>
          <a:ln w="9525" cap="flat" cmpd="sng" algn="ctr">
            <a:solidFill>
              <a:schemeClr val="tx1"/>
            </a:solidFill>
            <a:prstDash val="solid"/>
            <a:round/>
            <a:headEnd type="none" w="med" len="med"/>
            <a:tailEnd type="none" w="med" len="med"/>
          </a:ln>
          <a:effectLst/>
        </p:spPr>
        <p:txBody>
          <a:bodyPr anchor="ctr"/>
          <a:lstStyle/>
          <a:p>
            <a:pPr>
              <a:defRPr/>
            </a:pPr>
            <a:r>
              <a:rPr lang="en-US" sz="1100" b="1" dirty="0">
                <a:latin typeface="Times New Roman" pitchFamily="18" charset="0"/>
                <a:cs typeface="Times New Roman" pitchFamily="18" charset="0"/>
              </a:rPr>
              <a:t>Prior Arts Check and Comments   </a:t>
            </a:r>
            <a:r>
              <a:rPr lang="en-US" altLang="ko-KR" sz="1100" dirty="0" smtClean="0">
                <a:solidFill>
                  <a:srgbClr val="000000"/>
                </a:solidFill>
                <a:latin typeface="+mj-lt"/>
                <a:ea typeface="+mj-ea"/>
                <a:cs typeface="Arial" charset="0"/>
              </a:rPr>
              <a:t>.</a:t>
            </a:r>
            <a:endParaRPr lang="en-US" altLang="ko-KR" sz="1100" dirty="0">
              <a:solidFill>
                <a:srgbClr val="000000"/>
              </a:solidFill>
              <a:latin typeface="+mj-lt"/>
              <a:ea typeface="+mj-ea"/>
              <a:cs typeface="Arial" charset="0"/>
            </a:endParaRPr>
          </a:p>
        </p:txBody>
      </p:sp>
      <p:graphicFrame>
        <p:nvGraphicFramePr>
          <p:cNvPr id="3" name="Table 14"/>
          <p:cNvGraphicFramePr>
            <a:graphicFrameLocks noGrp="1"/>
          </p:cNvGraphicFramePr>
          <p:nvPr>
            <p:extLst>
              <p:ext uri="{D42A27DB-BD31-4B8C-83A1-F6EECF244321}">
                <p14:modId xmlns:p14="http://schemas.microsoft.com/office/powerpoint/2010/main" val="1992115617"/>
              </p:ext>
            </p:extLst>
          </p:nvPr>
        </p:nvGraphicFramePr>
        <p:xfrm>
          <a:off x="344488" y="1772816"/>
          <a:ext cx="9289032" cy="5242941"/>
        </p:xfrm>
        <a:graphic>
          <a:graphicData uri="http://schemas.openxmlformats.org/drawingml/2006/table">
            <a:tbl>
              <a:tblPr firstRow="1" bandRow="1">
                <a:tableStyleId>{5940675A-B579-460E-94D1-54222C63F5DA}</a:tableStyleId>
              </a:tblPr>
              <a:tblGrid>
                <a:gridCol w="4536504"/>
                <a:gridCol w="4752528"/>
              </a:tblGrid>
              <a:tr h="465763">
                <a:tc>
                  <a:txBody>
                    <a:bodyPr/>
                    <a:lstStyle/>
                    <a:p>
                      <a:pPr algn="ctr"/>
                      <a:r>
                        <a:rPr lang="en-IN" sz="1200" b="1" dirty="0" smtClean="0">
                          <a:latin typeface="Arial Narrow" panose="020B0606020202030204" pitchFamily="34" charset="0"/>
                        </a:rPr>
                        <a:t>Prior art.</a:t>
                      </a:r>
                    </a:p>
                  </a:txBody>
                  <a:tcPr marT="45729" marB="457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IN" sz="1200" b="1" dirty="0" smtClean="0">
                          <a:latin typeface="Arial Narrow" panose="020B0606020202030204" pitchFamily="34" charset="0"/>
                        </a:rPr>
                        <a:t>Comment</a:t>
                      </a:r>
                      <a:endParaRPr lang="en-IN" sz="1200" b="1" dirty="0">
                        <a:latin typeface="Arial Narrow" panose="020B0606020202030204" pitchFamily="34" charset="0"/>
                      </a:endParaRPr>
                    </a:p>
                  </a:txBody>
                  <a:tcPr marT="45729" marB="4572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r>
              <a:tr h="1284719">
                <a:tc>
                  <a:txBody>
                    <a:bodyPr/>
                    <a:lstStyle/>
                    <a:p>
                      <a:pPr algn="just"/>
                      <a:r>
                        <a:rPr lang="en-IN" sz="1400" dirty="0" smtClean="0">
                          <a:solidFill>
                            <a:schemeClr val="tx1"/>
                          </a:solidFill>
                          <a:latin typeface="+mn-lt"/>
                        </a:rPr>
                        <a:t>https://patents.google.com/patent/US10931724B2/en?oq=US10931724.pdf+</a:t>
                      </a:r>
                      <a:endParaRPr lang="en-IN" sz="1400" dirty="0">
                        <a:solidFill>
                          <a:schemeClr val="tx1"/>
                        </a:solidFill>
                        <a:latin typeface="+mn-lt"/>
                      </a:endParaRP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just" defTabSz="742950" rtl="0" eaLnBrk="1" latinLnBrk="1" hangingPunct="1">
                        <a:buFont typeface="Wingdings" panose="05000000000000000000" pitchFamily="2" charset="2"/>
                        <a:buNone/>
                      </a:pPr>
                      <a:r>
                        <a:rPr lang="en-US" sz="1400" dirty="0" smtClean="0">
                          <a:solidFill>
                            <a:schemeClr val="tx1"/>
                          </a:solidFill>
                          <a:latin typeface="+mn-lt"/>
                        </a:rPr>
                        <a:t>Facilitating virtual assistant customer care . It is used to communicate with a virtual assistant operating on a user device, thereby automating and improving contact center to customer communications</a:t>
                      </a:r>
                      <a:endParaRPr lang="en-IN" sz="1400" dirty="0">
                        <a:solidFill>
                          <a:schemeClr val="tx1"/>
                        </a:solidFill>
                        <a:latin typeface="+mn-lt"/>
                      </a:endParaRP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267401">
                <a:tc>
                  <a:txBody>
                    <a:bodyPr/>
                    <a:lstStyle/>
                    <a:p>
                      <a:pPr algn="just"/>
                      <a:r>
                        <a:rPr lang="en-IN" sz="1400" dirty="0" smtClean="0">
                          <a:latin typeface="+mn-lt"/>
                        </a:rPr>
                        <a:t>https://patents.google.com/patent/US20210072741A1/en?oq=US20210072741.pdf+</a:t>
                      </a:r>
                      <a:endParaRPr lang="en-IN" sz="1400" dirty="0">
                        <a:latin typeface="+mn-lt"/>
                      </a:endParaRP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just"/>
                      <a:r>
                        <a:rPr lang="en-US" sz="1400" dirty="0" smtClean="0">
                          <a:latin typeface="+mn-lt"/>
                        </a:rPr>
                        <a:t>This idea handles in monitoring electrical equipment assets that is configured to receive user-provided asset data associated with operation of a plurality of electrical equipment assets operated by a plurality of users/owners, where the identity of any asset in the database is restricted and only known to the user that owns/operates the asset</a:t>
                      </a:r>
                      <a:endParaRPr lang="en-IN" sz="1400" dirty="0">
                        <a:latin typeface="+mn-lt"/>
                      </a:endParaRP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1446612">
                <a:tc>
                  <a:txBody>
                    <a:bodyPr/>
                    <a:lstStyle/>
                    <a:p>
                      <a:pPr algn="ctr"/>
                      <a:endParaRPr lang="en-US" sz="1400" kern="1200" dirty="0" smtClean="0">
                        <a:solidFill>
                          <a:schemeClr val="tx1"/>
                        </a:solidFill>
                        <a:effectLst/>
                        <a:latin typeface="Times New Roman" pitchFamily="18" charset="0"/>
                        <a:ea typeface="+mn-ea"/>
                        <a:cs typeface="Times New Roman" pitchFamily="18" charset="0"/>
                      </a:endParaRPr>
                    </a:p>
                    <a:p>
                      <a:pPr algn="ctr"/>
                      <a:endParaRPr lang="en-US" sz="1400" kern="1200" dirty="0" smtClean="0">
                        <a:solidFill>
                          <a:schemeClr val="tx1"/>
                        </a:solidFill>
                        <a:effectLst/>
                        <a:latin typeface="Times New Roman" pitchFamily="18" charset="0"/>
                        <a:ea typeface="+mn-ea"/>
                        <a:cs typeface="Times New Roman" pitchFamily="18" charset="0"/>
                      </a:endParaRPr>
                    </a:p>
                    <a:p>
                      <a:pPr algn="ctr"/>
                      <a:endParaRPr lang="en-US" sz="1400" kern="1200" dirty="0" smtClean="0">
                        <a:solidFill>
                          <a:schemeClr val="tx1"/>
                        </a:solidFill>
                        <a:effectLst/>
                        <a:latin typeface="Times New Roman" pitchFamily="18" charset="0"/>
                        <a:ea typeface="+mn-ea"/>
                        <a:cs typeface="Times New Roman" pitchFamily="18" charset="0"/>
                      </a:endParaRPr>
                    </a:p>
                    <a:p>
                      <a:pPr algn="ctr"/>
                      <a:r>
                        <a:rPr lang="en-US" sz="1400" kern="1200" dirty="0" smtClean="0">
                          <a:solidFill>
                            <a:schemeClr val="tx1"/>
                          </a:solidFill>
                          <a:effectLst/>
                          <a:latin typeface="Times New Roman" pitchFamily="18" charset="0"/>
                          <a:ea typeface="+mn-ea"/>
                          <a:cs typeface="Times New Roman" pitchFamily="18" charset="0"/>
                        </a:rPr>
                        <a:t>Our Proposal differentiated</a:t>
                      </a:r>
                      <a:endParaRPr lang="en-US" sz="1400" kern="1200" dirty="0">
                        <a:solidFill>
                          <a:schemeClr val="tx1"/>
                        </a:solidFill>
                        <a:effectLst/>
                        <a:latin typeface="Times New Roman" pitchFamily="18" charset="0"/>
                        <a:ea typeface="+mn-ea"/>
                        <a:cs typeface="Times New Roman" pitchFamily="18" charset="0"/>
                      </a:endParaRP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smtClean="0">
                          <a:latin typeface="+mn-lt"/>
                        </a:rPr>
                        <a:t>Intelligent query forming</a:t>
                      </a:r>
                      <a:r>
                        <a:rPr lang="en-IN" sz="1400" baseline="0" dirty="0" smtClean="0">
                          <a:latin typeface="+mn-lt"/>
                        </a:rPr>
                        <a:t> from user actions with multi modal (text, voice , image, gesture)</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dirty="0" smtClean="0">
                          <a:latin typeface="+mn-lt"/>
                        </a:rPr>
                        <a:t>Statistical</a:t>
                      </a:r>
                      <a:r>
                        <a:rPr lang="en-IN" sz="1400" baseline="0" dirty="0" smtClean="0">
                          <a:latin typeface="+mn-lt"/>
                        </a:rPr>
                        <a:t> model to </a:t>
                      </a:r>
                      <a:r>
                        <a:rPr lang="en-IN" sz="1400" baseline="0" dirty="0" err="1" smtClean="0">
                          <a:latin typeface="+mn-lt"/>
                        </a:rPr>
                        <a:t>analyze</a:t>
                      </a:r>
                      <a:r>
                        <a:rPr lang="en-IN" sz="1400" baseline="0" dirty="0" smtClean="0">
                          <a:latin typeface="+mn-lt"/>
                        </a:rPr>
                        <a:t> and categorize the user issues.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400" baseline="0" dirty="0" smtClean="0">
                          <a:latin typeface="+mn-lt"/>
                        </a:rPr>
                        <a:t>Sends feedback/details of most frequent issues/user interested areas periodically to production company to improve the products in next release</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kern="1200" dirty="0" smtClean="0">
                          <a:solidFill>
                            <a:schemeClr val="tx1"/>
                          </a:solidFill>
                          <a:latin typeface="+mn-lt"/>
                          <a:ea typeface="+mn-ea"/>
                          <a:cs typeface="+mn-cs"/>
                        </a:rPr>
                        <a:t>Can find User interested areas and apply in feasible products that helps business growth</a:t>
                      </a:r>
                      <a:endParaRPr lang="en-IN" altLang="ko-KR" sz="1400" kern="1200" dirty="0" smtClean="0">
                        <a:solidFill>
                          <a:srgbClr val="000000"/>
                        </a:solidFill>
                        <a:latin typeface="+mn-lt"/>
                        <a:ea typeface="+mn-ea"/>
                        <a:cs typeface="Arial" charset="0"/>
                      </a:endParaRPr>
                    </a:p>
                    <a:p>
                      <a:pPr marL="285750" marR="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400" baseline="0" dirty="0" smtClean="0">
                        <a:latin typeface="+mn-lt"/>
                      </a:endParaRPr>
                    </a:p>
                    <a:p>
                      <a:pPr marL="285750" marR="0" indent="-28575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IN" sz="1400" dirty="0" smtClean="0">
                        <a:latin typeface="+mn-lt"/>
                      </a:endParaRPr>
                    </a:p>
                  </a:txBody>
                  <a:tcPr marT="45729" marB="4572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extBox 3"/>
          <p:cNvSpPr txBox="1"/>
          <p:nvPr/>
        </p:nvSpPr>
        <p:spPr>
          <a:xfrm>
            <a:off x="200472" y="1196752"/>
            <a:ext cx="8208911" cy="553998"/>
          </a:xfrm>
          <a:prstGeom prst="rect">
            <a:avLst/>
          </a:prstGeom>
          <a:noFill/>
        </p:spPr>
        <p:txBody>
          <a:bodyPr wrap="square" rtlCol="0">
            <a:spAutoFit/>
          </a:bodyPr>
          <a:lstStyle/>
          <a:p>
            <a:r>
              <a:rPr lang="en-IN" altLang="en-US" sz="1200" b="1" dirty="0">
                <a:latin typeface="Times New Roman" pitchFamily="18" charset="0"/>
                <a:cs typeface="Times New Roman" pitchFamily="18" charset="0"/>
              </a:rPr>
              <a:t>Below patents has been checked and found that our proposed idea is different than this</a:t>
            </a:r>
          </a:p>
          <a:p>
            <a:endParaRPr lang="en-US" dirty="0"/>
          </a:p>
        </p:txBody>
      </p:sp>
    </p:spTree>
    <p:extLst>
      <p:ext uri="{BB962C8B-B14F-4D97-AF65-F5344CB8AC3E}">
        <p14:creationId xmlns:p14="http://schemas.microsoft.com/office/powerpoint/2010/main" val="1179083255"/>
      </p:ext>
    </p:extLst>
  </p:cSld>
  <p:clrMapOvr>
    <a:masterClrMapping/>
  </p:clrMapOvr>
  <p:timing>
    <p:tnLst>
      <p:par>
        <p:cTn id="1" dur="indefinite" restart="never" nodeType="tmRoot"/>
      </p:par>
    </p:tnLst>
  </p:timing>
</p:sld>
</file>

<file path=ppt/theme/theme1.xml><?xml version="1.0" encoding="utf-8"?>
<a:theme xmlns:a="http://schemas.openxmlformats.org/drawingml/2006/main" name="LG-기본">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프레젠테이션1" id="{FD11D51A-83C0-4BBD-9FD6-E8CD25C5BD24}" vid="{EA66FB3C-C3E8-4449-9534-22FF3FD79EFC}"/>
    </a:ext>
  </a:extLst>
</a:theme>
</file>

<file path=ppt/theme/theme2.xml><?xml version="1.0" encoding="utf-8"?>
<a:theme xmlns:a="http://schemas.openxmlformats.org/drawingml/2006/main" name="1_LG-기본">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프레젠테이션1" id="{FD11D51A-83C0-4BBD-9FD6-E8CD25C5BD24}" vid="{8D2A730A-B98F-4A76-840B-F64BC90E9D17}"/>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003.. Invention proposal template (2018)</Template>
  <TotalTime>2308</TotalTime>
  <Words>2447</Words>
  <Application>Microsoft Office PowerPoint</Application>
  <PresentationFormat>A4 Paper (210x297 mm)</PresentationFormat>
  <Paragraphs>246</Paragraphs>
  <Slides>22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22</vt:i4>
      </vt:variant>
    </vt:vector>
  </HeadingPairs>
  <TitlesOfParts>
    <vt:vector size="31" baseType="lpstr">
      <vt:lpstr>LG스마트체 Regular</vt:lpstr>
      <vt:lpstr>맑은 고딕</vt:lpstr>
      <vt:lpstr>Arial</vt:lpstr>
      <vt:lpstr>Arial Narrow</vt:lpstr>
      <vt:lpstr>굴림</vt:lpstr>
      <vt:lpstr>Times New Roman</vt:lpstr>
      <vt:lpstr>Wingdings</vt:lpstr>
      <vt:lpstr>LG-기본</vt:lpstr>
      <vt:lpstr>1_LG-기본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LG Electronics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김동헌/선임/특허개발1팀(eastlaw.kim@lge.com)</dc:creator>
  <cp:lastModifiedBy>Anindya Das/LGSIA AI Task(anindya06.das@lge.com)</cp:lastModifiedBy>
  <cp:revision>280</cp:revision>
  <dcterms:created xsi:type="dcterms:W3CDTF">2019-03-19T04:14:44Z</dcterms:created>
  <dcterms:modified xsi:type="dcterms:W3CDTF">2021-12-23T17:02:24Z</dcterms:modified>
</cp:coreProperties>
</file>