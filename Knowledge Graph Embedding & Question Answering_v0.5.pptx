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1"/>
  </p:notesMasterIdLst>
  <p:sldIdLst>
    <p:sldId id="256" r:id="rId2"/>
    <p:sldId id="359" r:id="rId3"/>
    <p:sldId id="367" r:id="rId4"/>
    <p:sldId id="368" r:id="rId5"/>
    <p:sldId id="375" r:id="rId6"/>
    <p:sldId id="370" r:id="rId7"/>
    <p:sldId id="376" r:id="rId8"/>
    <p:sldId id="377" r:id="rId9"/>
    <p:sldId id="321" r:id="rId10"/>
    <p:sldId id="378" r:id="rId11"/>
    <p:sldId id="379" r:id="rId12"/>
    <p:sldId id="380" r:id="rId13"/>
    <p:sldId id="381" r:id="rId14"/>
    <p:sldId id="382" r:id="rId15"/>
    <p:sldId id="383" r:id="rId16"/>
    <p:sldId id="384" r:id="rId17"/>
    <p:sldId id="385" r:id="rId18"/>
    <p:sldId id="386" r:id="rId19"/>
    <p:sldId id="387" r:id="rId20"/>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508C5A6-8DAD-4630-98AB-E1B89C5A27F5}">
          <p14:sldIdLst>
            <p14:sldId id="256"/>
            <p14:sldId id="359"/>
            <p14:sldId id="367"/>
            <p14:sldId id="368"/>
            <p14:sldId id="375"/>
            <p14:sldId id="370"/>
            <p14:sldId id="376"/>
            <p14:sldId id="377"/>
            <p14:sldId id="321"/>
            <p14:sldId id="378"/>
            <p14:sldId id="379"/>
            <p14:sldId id="380"/>
            <p14:sldId id="381"/>
            <p14:sldId id="382"/>
            <p14:sldId id="383"/>
            <p14:sldId id="384"/>
            <p14:sldId id="385"/>
            <p14:sldId id="386"/>
            <p14:sldId id="387"/>
          </p14:sldIdLst>
        </p14:section>
      </p14:sectionLst>
    </p:ext>
    <p:ext uri="{EFAFB233-063F-42B5-8137-9DF3F51BA10A}">
      <p15:sldGuideLst xmlns:p15="http://schemas.microsoft.com/office/powerpoint/2012/main" xmlns="">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01" autoAdjust="0"/>
    <p:restoredTop sz="98864" autoAdjust="0"/>
  </p:normalViewPr>
  <p:slideViewPr>
    <p:cSldViewPr>
      <p:cViewPr>
        <p:scale>
          <a:sx n="80" d="100"/>
          <a:sy n="80" d="100"/>
        </p:scale>
        <p:origin x="-600" y="-36"/>
      </p:cViewPr>
      <p:guideLst>
        <p:guide orient="horz" pos="2160"/>
        <p:guide pos="312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CEB48270-54FA-45F8-A15A-0934743E1831}" type="datetimeFigureOut">
              <a:rPr lang="en-US" smtClean="0"/>
              <a:pPr/>
              <a:t>8/29/2021</a:t>
            </a:fld>
            <a:endParaRPr lang="en-US" dirty="0"/>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65DDE781-5B6B-4877-8771-5073EBA82DE5}" type="slidenum">
              <a:rPr lang="en-US" smtClean="0"/>
              <a:pPr/>
              <a:t>‹#›</a:t>
            </a:fld>
            <a:endParaRPr lang="en-US" dirty="0"/>
          </a:p>
        </p:txBody>
      </p:sp>
    </p:spTree>
    <p:extLst>
      <p:ext uri="{BB962C8B-B14F-4D97-AF65-F5344CB8AC3E}">
        <p14:creationId xmlns:p14="http://schemas.microsoft.com/office/powerpoint/2010/main" val="256903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2B7F02-1E3A-43F2-82F3-491035A0BD8C}" type="slidenum">
              <a:rPr lang="en-US" smtClean="0"/>
              <a:t>‹#›</a:t>
            </a:fld>
            <a:endParaRPr lang="en-US" dirty="0"/>
          </a:p>
        </p:txBody>
      </p:sp>
      <p:pic>
        <p:nvPicPr>
          <p:cNvPr id="9" name="Picture 2" descr="D:\Vision task_20180502이후\디자인_0503\영문\영문\세로형_E_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51430" y="199564"/>
            <a:ext cx="1407600" cy="5656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1" descr="D:\조직문화\로고\LGE_CI_LOGO\누끼 컷\LGE_Logo_3D_Tagline(W).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683684" y="6179570"/>
            <a:ext cx="975346" cy="473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870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2394"/>
            <a:ext cx="8915400" cy="334962"/>
          </a:xfrm>
        </p:spPr>
        <p:txBody>
          <a:bodyPr>
            <a:noAutofit/>
          </a:bodyPr>
          <a:lstStyle>
            <a:lvl1pPr algn="l">
              <a:defRPr sz="1800" b="1">
                <a:latin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400">
                <a:latin typeface="Arial" panose="020B0604020202020204" pitchFamily="34" charset="0"/>
              </a:defRPr>
            </a:lvl1pPr>
            <a:lvl2pPr>
              <a:defRPr sz="1400">
                <a:latin typeface="Arial" panose="020B0604020202020204" pitchFamily="34" charset="0"/>
              </a:defRPr>
            </a:lvl2pPr>
            <a:lvl3pPr>
              <a:defRPr sz="1400">
                <a:latin typeface="Arial" panose="020B0604020202020204" pitchFamily="34" charset="0"/>
              </a:defRPr>
            </a:lvl3pPr>
            <a:lvl4pPr>
              <a:defRPr sz="1400">
                <a:latin typeface="Arial" panose="020B0604020202020204" pitchFamily="34" charset="0"/>
              </a:defRPr>
            </a:lvl4pPr>
            <a:lvl5pPr>
              <a:defRPr sz="1400">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6" name="Slide Number Placeholder 5"/>
          <p:cNvSpPr>
            <a:spLocks noGrp="1"/>
          </p:cNvSpPr>
          <p:nvPr>
            <p:ph type="sldNum" sz="quarter" idx="12"/>
          </p:nvPr>
        </p:nvSpPr>
        <p:spPr/>
        <p:txBody>
          <a:bodyPr/>
          <a:lstStyle/>
          <a:p>
            <a:fld id="{C72B7F02-1E3A-43F2-82F3-491035A0BD8C}" type="slidenum">
              <a:rPr lang="en-US" smtClean="0"/>
              <a:t>‹#›</a:t>
            </a:fld>
            <a:endParaRPr lang="en-US" dirty="0"/>
          </a:p>
        </p:txBody>
      </p:sp>
      <p:sp>
        <p:nvSpPr>
          <p:cNvPr id="7" name="Text Box 9"/>
          <p:cNvSpPr txBox="1">
            <a:spLocks noChangeArrowheads="1"/>
          </p:cNvSpPr>
          <p:nvPr userDrawn="1"/>
        </p:nvSpPr>
        <p:spPr bwMode="auto">
          <a:xfrm>
            <a:off x="4208463" y="19050"/>
            <a:ext cx="1454150" cy="250825"/>
          </a:xfrm>
          <a:prstGeom prst="rect">
            <a:avLst/>
          </a:prstGeom>
          <a:noFill/>
          <a:ln w="6350">
            <a:solidFill>
              <a:schemeClr val="bg1">
                <a:lumMod val="85000"/>
              </a:schemeClr>
            </a:solidFill>
            <a:miter lim="800000"/>
            <a:headEnd/>
            <a:tailEnd/>
          </a:ln>
          <a:effectLst/>
        </p:spPr>
        <p:txBody>
          <a:bodyPr wrap="none">
            <a:spAutoFit/>
          </a:bodyPr>
          <a:lstStyle/>
          <a:p>
            <a:r>
              <a:rPr lang="en-US" altLang="ko-KR" sz="1000" dirty="0">
                <a:solidFill>
                  <a:schemeClr val="bg1">
                    <a:lumMod val="75000"/>
                  </a:schemeClr>
                </a:solidFill>
                <a:latin typeface="Arial" charset="0"/>
              </a:rPr>
              <a:t>LGE Internal Use Only</a:t>
            </a:r>
          </a:p>
        </p:txBody>
      </p:sp>
      <p:sp>
        <p:nvSpPr>
          <p:cNvPr id="8" name="Line 14"/>
          <p:cNvSpPr>
            <a:spLocks noChangeShapeType="1"/>
          </p:cNvSpPr>
          <p:nvPr userDrawn="1"/>
        </p:nvSpPr>
        <p:spPr bwMode="auto">
          <a:xfrm>
            <a:off x="0" y="534988"/>
            <a:ext cx="9906000" cy="0"/>
          </a:xfrm>
          <a:prstGeom prst="line">
            <a:avLst/>
          </a:prstGeom>
          <a:noFill/>
          <a:ln w="9525">
            <a:solidFill>
              <a:schemeClr val="tx1"/>
            </a:solidFill>
            <a:round/>
            <a:headEnd/>
            <a:tailEnd/>
          </a:ln>
        </p:spPr>
        <p:txBody>
          <a:bodyPr/>
          <a:lstStyle/>
          <a:p>
            <a:endParaRPr lang="ko-KR" altLang="en-US" dirty="0">
              <a:latin typeface="Arial" panose="020B0604020202020204" pitchFamily="34" charset="0"/>
            </a:endParaRPr>
          </a:p>
        </p:txBody>
      </p:sp>
      <p:pic>
        <p:nvPicPr>
          <p:cNvPr id="10" name="Picture 2" descr="D:\Vision task_20180502이후\디자인_0503\영문\영문\세로형_E_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05413" y="6422975"/>
            <a:ext cx="972000" cy="39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51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118290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739979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4240586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4147658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72B7F02-1E3A-43F2-82F3-491035A0BD8C}" type="slidenum">
              <a:rPr lang="en-US" smtClean="0"/>
              <a:t>‹#›</a:t>
            </a:fld>
            <a:endParaRPr lang="en-US" dirty="0"/>
          </a:p>
        </p:txBody>
      </p:sp>
      <p:sp>
        <p:nvSpPr>
          <p:cNvPr id="5" name="Text Box 9"/>
          <p:cNvSpPr txBox="1">
            <a:spLocks noChangeArrowheads="1"/>
          </p:cNvSpPr>
          <p:nvPr userDrawn="1"/>
        </p:nvSpPr>
        <p:spPr bwMode="auto">
          <a:xfrm>
            <a:off x="4208463" y="19050"/>
            <a:ext cx="1454150" cy="250825"/>
          </a:xfrm>
          <a:prstGeom prst="rect">
            <a:avLst/>
          </a:prstGeom>
          <a:noFill/>
          <a:ln w="6350">
            <a:solidFill>
              <a:schemeClr val="bg1">
                <a:lumMod val="85000"/>
              </a:schemeClr>
            </a:solidFill>
            <a:miter lim="800000"/>
            <a:headEnd/>
            <a:tailEnd/>
          </a:ln>
          <a:effectLst/>
        </p:spPr>
        <p:txBody>
          <a:bodyPr wrap="none">
            <a:spAutoFit/>
          </a:bodyPr>
          <a:lstStyle/>
          <a:p>
            <a:r>
              <a:rPr lang="en-US" altLang="ko-KR" sz="1000" dirty="0">
                <a:solidFill>
                  <a:schemeClr val="bg1">
                    <a:lumMod val="75000"/>
                  </a:schemeClr>
                </a:solidFill>
                <a:latin typeface="Arial" charset="0"/>
              </a:rPr>
              <a:t>LGE Internal Use Only</a:t>
            </a:r>
          </a:p>
        </p:txBody>
      </p:sp>
    </p:spTree>
    <p:extLst>
      <p:ext uri="{BB962C8B-B14F-4D97-AF65-F5344CB8AC3E}">
        <p14:creationId xmlns:p14="http://schemas.microsoft.com/office/powerpoint/2010/main" val="1725717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711002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2262163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2778423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80337" y="274639"/>
            <a:ext cx="2414588"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6575" y="274639"/>
            <a:ext cx="707866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FB1FA4-0705-495C-AA03-863E296D8B49}" type="datetimeFigureOut">
              <a:rPr lang="en-US" smtClean="0"/>
              <a:t>8/29/2021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2B7F02-1E3A-43F2-82F3-491035A0BD8C}" type="slidenum">
              <a:rPr lang="en-US" smtClean="0"/>
              <a:t>‹#›</a:t>
            </a:fld>
            <a:endParaRPr lang="en-US" dirty="0"/>
          </a:p>
        </p:txBody>
      </p:sp>
    </p:spTree>
    <p:extLst>
      <p:ext uri="{BB962C8B-B14F-4D97-AF65-F5344CB8AC3E}">
        <p14:creationId xmlns:p14="http://schemas.microsoft.com/office/powerpoint/2010/main" val="3604995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63FB1FA4-0705-495C-AA03-863E296D8B49}" type="datetimeFigureOut">
              <a:rPr lang="en-US" smtClean="0"/>
              <a:pPr/>
              <a:t>8/29/2021</a:t>
            </a:fld>
            <a:endParaRPr lang="en-US" dirty="0"/>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C72B7F02-1E3A-43F2-82F3-491035A0BD8C}" type="slidenum">
              <a:rPr lang="en-US" smtClean="0"/>
              <a:pPr/>
              <a:t>‹#›</a:t>
            </a:fld>
            <a:endParaRPr lang="en-US" dirty="0"/>
          </a:p>
        </p:txBody>
      </p:sp>
    </p:spTree>
    <p:extLst>
      <p:ext uri="{BB962C8B-B14F-4D97-AF65-F5344CB8AC3E}">
        <p14:creationId xmlns:p14="http://schemas.microsoft.com/office/powerpoint/2010/main" val="2911678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Arial" panose="020B0604020202020204" pitchFamily="34"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aclweb.org/anthology/2020.acl-main.412.pdf" TargetMode="External"/><Relationship Id="rId2" Type="http://schemas.openxmlformats.org/officeDocument/2006/relationships/hyperlink" Target="http://research.baidu.com/Public/uploads/5c1c9a58317b3.pdf" TargetMode="Externa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emo.dbpedia-spotlight.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pdf/1902.00172.pdf" TargetMode="External"/><Relationship Id="rId2" Type="http://schemas.openxmlformats.org/officeDocument/2006/relationships/hyperlink" Target="https://www.aclweb.org/anthology/D19-1036.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research.baidu.com/Public/uploads/5c1c9a58317b3.pdf" TargetMode="Externa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package" Target="../embeddings/Microsoft_Excel_Worksheet1.xlsx"/><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9BSTA0lA1Dg0gz87h-6UnjvjVKges1pL/view?usp=sharing" TargetMode="External"/><Relationship Id="rId2" Type="http://schemas.openxmlformats.org/officeDocument/2006/relationships/slide" Target="slide7.xml"/><Relationship Id="rId1" Type="http://schemas.openxmlformats.org/officeDocument/2006/relationships/slideLayout" Target="../slideLayouts/slideLayout2.xml"/><Relationship Id="rId5" Type="http://schemas.openxmlformats.org/officeDocument/2006/relationships/hyperlink" Target="https://drive.google.com/file/d/100QnPnC8qobJvUQPMryfHNktN0CCNYEj/view" TargetMode="External"/><Relationship Id="rId4" Type="http://schemas.openxmlformats.org/officeDocument/2006/relationships/hyperlink" Target="https://drive.google.com/file/d/1ItAMT6wZx3B4ASVcq8Rf1MTFw_bOAFTA/view"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researchgate.net/publication/328758214_Semantic_Role_Labeling_for_Knowledge_Graph_Extraction_from_Text" TargetMode="Externa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YviExyIMzzg0eOxRPwlnK-vUSbDLU1I/view" TargetMode="Externa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file/d/19BdgrDsD7jfNEHj39PTPku1dF6Q0mXPz/view?usp=sharing" TargetMode="Externa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ewSB4IkVlYLRCYZrF9kGs9jNwhBWSu1H/view?usp=sharing" TargetMode="External"/><Relationship Id="rId2" Type="http://schemas.openxmlformats.org/officeDocument/2006/relationships/slide" Target="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4378165" y="5307376"/>
            <a:ext cx="114967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30188" indent="-230188" eaLnBrk="0" hangingPunct="0">
              <a:defRPr kumimoji="1" sz="1200" b="1">
                <a:solidFill>
                  <a:schemeClr val="tx1"/>
                </a:solidFill>
                <a:latin typeface="Arial" charset="0"/>
                <a:ea typeface="Dotum" pitchFamily="50" charset="-127"/>
                <a:sym typeface="Wingdings" pitchFamily="2" charset="2"/>
              </a:defRPr>
            </a:lvl1pPr>
            <a:lvl2pPr marL="742950" indent="-285750" eaLnBrk="0" hangingPunct="0">
              <a:defRPr kumimoji="1" sz="1200" b="1">
                <a:solidFill>
                  <a:schemeClr val="tx1"/>
                </a:solidFill>
                <a:latin typeface="Arial" charset="0"/>
                <a:ea typeface="Dotum" pitchFamily="50" charset="-127"/>
                <a:sym typeface="Wingdings" pitchFamily="2" charset="2"/>
              </a:defRPr>
            </a:lvl2pPr>
            <a:lvl3pPr marL="1143000" indent="-228600" eaLnBrk="0" hangingPunct="0">
              <a:defRPr kumimoji="1" sz="1200" b="1">
                <a:solidFill>
                  <a:schemeClr val="tx1"/>
                </a:solidFill>
                <a:latin typeface="Arial" charset="0"/>
                <a:ea typeface="Dotum" pitchFamily="50" charset="-127"/>
                <a:sym typeface="Wingdings" pitchFamily="2" charset="2"/>
              </a:defRPr>
            </a:lvl3pPr>
            <a:lvl4pPr marL="1600200" indent="-228600" eaLnBrk="0" hangingPunct="0">
              <a:defRPr kumimoji="1" sz="1200" b="1">
                <a:solidFill>
                  <a:schemeClr val="tx1"/>
                </a:solidFill>
                <a:latin typeface="Arial" charset="0"/>
                <a:ea typeface="Dotum" pitchFamily="50" charset="-127"/>
                <a:sym typeface="Wingdings" pitchFamily="2" charset="2"/>
              </a:defRPr>
            </a:lvl4pPr>
            <a:lvl5pPr marL="2057400" indent="-228600" eaLnBrk="0" hangingPunct="0">
              <a:defRPr kumimoji="1" sz="1200" b="1">
                <a:solidFill>
                  <a:schemeClr val="tx1"/>
                </a:solidFill>
                <a:latin typeface="Arial" charset="0"/>
                <a:ea typeface="Dotum" pitchFamily="50" charset="-127"/>
                <a:sym typeface="Wingdings" pitchFamily="2" charset="2"/>
              </a:defRPr>
            </a:lvl5pPr>
            <a:lvl6pPr marL="25146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6pPr>
            <a:lvl7pPr marL="29718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7pPr>
            <a:lvl8pPr marL="34290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8pPr>
            <a:lvl9pPr marL="38862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9pPr>
          </a:lstStyle>
          <a:p>
            <a:pPr algn="ctr" defTabSz="914400" eaLnBrk="1" hangingPunct="1">
              <a:buFont typeface="Wingdings" pitchFamily="2" charset="2"/>
              <a:buNone/>
            </a:pPr>
            <a:r>
              <a:rPr lang="en-US" altLang="ko-KR" sz="15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2021/01/22</a:t>
            </a:r>
            <a:endParaRPr lang="ko-KR" altLang="en-US" sz="1500" dirty="0">
              <a:solidFill>
                <a:srgbClr val="000000"/>
              </a:solidFill>
              <a:latin typeface="Arial" panose="020B0604020202020204" pitchFamily="34" charset="0"/>
              <a:ea typeface="LG스마트체 Regular" panose="020B0600000101010101" pitchFamily="50" charset="-127"/>
              <a:cs typeface="Arial" panose="020B0604020202020204" pitchFamily="34" charset="0"/>
            </a:endParaRPr>
          </a:p>
        </p:txBody>
      </p:sp>
      <p:sp>
        <p:nvSpPr>
          <p:cNvPr id="8" name="Text Box 4"/>
          <p:cNvSpPr txBox="1">
            <a:spLocks noChangeArrowheads="1"/>
          </p:cNvSpPr>
          <p:nvPr/>
        </p:nvSpPr>
        <p:spPr bwMode="auto">
          <a:xfrm>
            <a:off x="4214635" y="5661248"/>
            <a:ext cx="1473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30188" indent="-230188" eaLnBrk="0" hangingPunct="0">
              <a:defRPr kumimoji="1" sz="1200" b="1">
                <a:solidFill>
                  <a:schemeClr val="tx1"/>
                </a:solidFill>
                <a:latin typeface="Arial" charset="0"/>
                <a:ea typeface="Dotum" pitchFamily="50" charset="-127"/>
                <a:sym typeface="Wingdings" pitchFamily="2" charset="2"/>
              </a:defRPr>
            </a:lvl1pPr>
            <a:lvl2pPr marL="742950" indent="-285750" eaLnBrk="0" hangingPunct="0">
              <a:defRPr kumimoji="1" sz="1200" b="1">
                <a:solidFill>
                  <a:schemeClr val="tx1"/>
                </a:solidFill>
                <a:latin typeface="Arial" charset="0"/>
                <a:ea typeface="Dotum" pitchFamily="50" charset="-127"/>
                <a:sym typeface="Wingdings" pitchFamily="2" charset="2"/>
              </a:defRPr>
            </a:lvl2pPr>
            <a:lvl3pPr marL="1143000" indent="-228600" eaLnBrk="0" hangingPunct="0">
              <a:defRPr kumimoji="1" sz="1200" b="1">
                <a:solidFill>
                  <a:schemeClr val="tx1"/>
                </a:solidFill>
                <a:latin typeface="Arial" charset="0"/>
                <a:ea typeface="Dotum" pitchFamily="50" charset="-127"/>
                <a:sym typeface="Wingdings" pitchFamily="2" charset="2"/>
              </a:defRPr>
            </a:lvl3pPr>
            <a:lvl4pPr marL="1600200" indent="-228600" eaLnBrk="0" hangingPunct="0">
              <a:defRPr kumimoji="1" sz="1200" b="1">
                <a:solidFill>
                  <a:schemeClr val="tx1"/>
                </a:solidFill>
                <a:latin typeface="Arial" charset="0"/>
                <a:ea typeface="Dotum" pitchFamily="50" charset="-127"/>
                <a:sym typeface="Wingdings" pitchFamily="2" charset="2"/>
              </a:defRPr>
            </a:lvl4pPr>
            <a:lvl5pPr marL="2057400" indent="-228600" eaLnBrk="0" hangingPunct="0">
              <a:defRPr kumimoji="1" sz="1200" b="1">
                <a:solidFill>
                  <a:schemeClr val="tx1"/>
                </a:solidFill>
                <a:latin typeface="Arial" charset="0"/>
                <a:ea typeface="Dotum" pitchFamily="50" charset="-127"/>
                <a:sym typeface="Wingdings" pitchFamily="2" charset="2"/>
              </a:defRPr>
            </a:lvl5pPr>
            <a:lvl6pPr marL="25146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6pPr>
            <a:lvl7pPr marL="29718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7pPr>
            <a:lvl8pPr marL="34290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8pPr>
            <a:lvl9pPr marL="38862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9pPr>
          </a:lstStyle>
          <a:p>
            <a:pPr algn="ctr" defTabSz="914400" eaLnBrk="1" hangingPunct="1">
              <a:buFont typeface="Wingdings" pitchFamily="2" charset="2"/>
              <a:buNone/>
            </a:pPr>
            <a:r>
              <a:rPr lang="en-US" altLang="ko-KR" sz="16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India SW Lab</a:t>
            </a:r>
            <a:endParaRPr lang="ko-KR" altLang="en-US" sz="1600" dirty="0">
              <a:solidFill>
                <a:srgbClr val="000000"/>
              </a:solidFill>
              <a:latin typeface="Arial" panose="020B0604020202020204" pitchFamily="34" charset="0"/>
              <a:ea typeface="LG스마트체 Regular" panose="020B0600000101010101" pitchFamily="50" charset="-127"/>
              <a:cs typeface="Arial" panose="020B0604020202020204" pitchFamily="34" charset="0"/>
            </a:endParaRPr>
          </a:p>
        </p:txBody>
      </p:sp>
      <p:sp>
        <p:nvSpPr>
          <p:cNvPr id="10" name="Line 7"/>
          <p:cNvSpPr>
            <a:spLocks noChangeShapeType="1"/>
          </p:cNvSpPr>
          <p:nvPr/>
        </p:nvSpPr>
        <p:spPr bwMode="auto">
          <a:xfrm>
            <a:off x="1347511" y="1996397"/>
            <a:ext cx="7207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a:endParaRPr lang="ko-KR" altLang="en-US" sz="1800" dirty="0">
              <a:solidFill>
                <a:prstClr val="black"/>
              </a:solidFill>
              <a:latin typeface="Arial" panose="020B0604020202020204" pitchFamily="34" charset="0"/>
            </a:endParaRPr>
          </a:p>
        </p:txBody>
      </p:sp>
      <p:sp>
        <p:nvSpPr>
          <p:cNvPr id="2" name="Rectangle 1"/>
          <p:cNvSpPr/>
          <p:nvPr/>
        </p:nvSpPr>
        <p:spPr>
          <a:xfrm>
            <a:off x="1893376" y="2819400"/>
            <a:ext cx="6183824" cy="2246769"/>
          </a:xfrm>
          <a:prstGeom prst="rect">
            <a:avLst/>
          </a:prstGeom>
        </p:spPr>
        <p:txBody>
          <a:bodyPr wrap="square">
            <a:spAutoFit/>
          </a:bodyPr>
          <a:lstStyle/>
          <a:p>
            <a:pPr marL="457200" indent="-457200">
              <a:buAutoNum type="arabicPeriod"/>
            </a:pPr>
            <a:r>
              <a:rPr lang="en-US" sz="2000" b="1" dirty="0"/>
              <a:t>KG Embedding and QA</a:t>
            </a:r>
          </a:p>
          <a:p>
            <a:pPr marL="457200" indent="-457200">
              <a:buFontTx/>
              <a:buAutoNum type="arabicPeriod"/>
            </a:pPr>
            <a:r>
              <a:rPr lang="en-US" sz="2000" b="1" dirty="0"/>
              <a:t>KG Embedding and QA – 2 solutions for Ontology KG</a:t>
            </a:r>
          </a:p>
          <a:p>
            <a:pPr marL="457200" indent="-457200">
              <a:buFontTx/>
              <a:buAutoNum type="arabicPeriod"/>
            </a:pPr>
            <a:r>
              <a:rPr lang="en-US" sz="2000" b="1" dirty="0"/>
              <a:t>User Manual to KG Embedding (UM to KG)</a:t>
            </a:r>
          </a:p>
          <a:p>
            <a:pPr marL="457200" indent="-457200">
              <a:buFontTx/>
              <a:buAutoNum type="arabicPeriod"/>
            </a:pPr>
            <a:r>
              <a:rPr lang="en-IN" sz="2000" b="1" dirty="0">
                <a:cs typeface="Arial" panose="020B0604020202020204" pitchFamily="34" charset="0"/>
              </a:rPr>
              <a:t>UM to KG </a:t>
            </a:r>
            <a:r>
              <a:rPr lang="en-US" sz="2000" b="1" dirty="0"/>
              <a:t>– Problems to solve</a:t>
            </a:r>
          </a:p>
          <a:p>
            <a:pPr marL="457200" indent="-457200">
              <a:buFontTx/>
              <a:buAutoNum type="arabicPeriod"/>
            </a:pPr>
            <a:r>
              <a:rPr lang="en-IN" sz="2000" b="1" dirty="0">
                <a:cs typeface="Arial" panose="020B0604020202020204" pitchFamily="34" charset="0"/>
              </a:rPr>
              <a:t>UM to KG</a:t>
            </a:r>
            <a:r>
              <a:rPr lang="en-US" sz="2000" b="1" dirty="0"/>
              <a:t> – Big Picture of solution</a:t>
            </a:r>
          </a:p>
          <a:p>
            <a:pPr marL="457200" indent="-457200">
              <a:buFontTx/>
              <a:buAutoNum type="arabicPeriod"/>
            </a:pPr>
            <a:r>
              <a:rPr lang="en-IN" sz="2000" b="1" dirty="0">
                <a:cs typeface="Arial" panose="020B0604020202020204" pitchFamily="34" charset="0"/>
              </a:rPr>
              <a:t>UM to KG </a:t>
            </a:r>
            <a:r>
              <a:rPr lang="en-US" sz="2000" b="1" dirty="0"/>
              <a:t>– </a:t>
            </a:r>
            <a:r>
              <a:rPr lang="en-IN" sz="2000" b="1" dirty="0">
                <a:cs typeface="Arial" panose="020B0604020202020204" pitchFamily="34" charset="0"/>
              </a:rPr>
              <a:t>Approaches Tried and Learnings</a:t>
            </a:r>
          </a:p>
          <a:p>
            <a:pPr marL="457200" indent="-457200">
              <a:buFontTx/>
              <a:buAutoNum type="arabicPeriod"/>
            </a:pPr>
            <a:r>
              <a:rPr lang="en-US" sz="2000" b="1" dirty="0">
                <a:cs typeface="Arial" panose="020B0604020202020204" pitchFamily="34" charset="0"/>
              </a:rPr>
              <a:t>UM to KG – Next Step</a:t>
            </a:r>
            <a:endParaRPr lang="en-IN" sz="2000" b="1" dirty="0"/>
          </a:p>
        </p:txBody>
      </p:sp>
      <p:sp>
        <p:nvSpPr>
          <p:cNvPr id="9" name="Text Box 21"/>
          <p:cNvSpPr txBox="1">
            <a:spLocks noChangeArrowheads="1"/>
          </p:cNvSpPr>
          <p:nvPr/>
        </p:nvSpPr>
        <p:spPr bwMode="auto">
          <a:xfrm>
            <a:off x="327514" y="1371600"/>
            <a:ext cx="925103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90000" tIns="0" rIns="90000" bIns="0">
            <a:spAutoFit/>
          </a:bodyPr>
          <a:lstStyle>
            <a:lvl1pPr eaLnBrk="0" hangingPunct="0">
              <a:defRPr kumimoji="1" sz="1200" b="1">
                <a:solidFill>
                  <a:schemeClr val="tx1"/>
                </a:solidFill>
                <a:latin typeface="Arial" charset="0"/>
                <a:ea typeface="Dotum" pitchFamily="50" charset="-127"/>
                <a:sym typeface="Wingdings" pitchFamily="2" charset="2"/>
              </a:defRPr>
            </a:lvl1pPr>
            <a:lvl2pPr marL="742950" indent="-285750" eaLnBrk="0" hangingPunct="0">
              <a:defRPr kumimoji="1" sz="1200" b="1">
                <a:solidFill>
                  <a:schemeClr val="tx1"/>
                </a:solidFill>
                <a:latin typeface="Arial" charset="0"/>
                <a:ea typeface="Dotum" pitchFamily="50" charset="-127"/>
                <a:sym typeface="Wingdings" pitchFamily="2" charset="2"/>
              </a:defRPr>
            </a:lvl2pPr>
            <a:lvl3pPr marL="1143000" indent="-228600" eaLnBrk="0" hangingPunct="0">
              <a:defRPr kumimoji="1" sz="1200" b="1">
                <a:solidFill>
                  <a:schemeClr val="tx1"/>
                </a:solidFill>
                <a:latin typeface="Arial" charset="0"/>
                <a:ea typeface="Dotum" pitchFamily="50" charset="-127"/>
                <a:sym typeface="Wingdings" pitchFamily="2" charset="2"/>
              </a:defRPr>
            </a:lvl3pPr>
            <a:lvl4pPr marL="1600200" indent="-228600" eaLnBrk="0" hangingPunct="0">
              <a:defRPr kumimoji="1" sz="1200" b="1">
                <a:solidFill>
                  <a:schemeClr val="tx1"/>
                </a:solidFill>
                <a:latin typeface="Arial" charset="0"/>
                <a:ea typeface="Dotum" pitchFamily="50" charset="-127"/>
                <a:sym typeface="Wingdings" pitchFamily="2" charset="2"/>
              </a:defRPr>
            </a:lvl4pPr>
            <a:lvl5pPr marL="2057400" indent="-228600" eaLnBrk="0" hangingPunct="0">
              <a:defRPr kumimoji="1" sz="1200" b="1">
                <a:solidFill>
                  <a:schemeClr val="tx1"/>
                </a:solidFill>
                <a:latin typeface="Arial" charset="0"/>
                <a:ea typeface="Dotum" pitchFamily="50" charset="-127"/>
                <a:sym typeface="Wingdings" pitchFamily="2" charset="2"/>
              </a:defRPr>
            </a:lvl5pPr>
            <a:lvl6pPr marL="25146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6pPr>
            <a:lvl7pPr marL="29718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7pPr>
            <a:lvl8pPr marL="34290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8pPr>
            <a:lvl9pPr marL="3886200" indent="-228600" algn="ctr" eaLnBrk="0" fontAlgn="base" hangingPunct="0">
              <a:spcBef>
                <a:spcPct val="0"/>
              </a:spcBef>
              <a:spcAft>
                <a:spcPct val="0"/>
              </a:spcAft>
              <a:buClr>
                <a:schemeClr val="tx1"/>
              </a:buClr>
              <a:buFont typeface="Wingdings" pitchFamily="2" charset="2"/>
              <a:buChar char="§"/>
              <a:defRPr kumimoji="1" sz="1200" b="1">
                <a:solidFill>
                  <a:schemeClr val="tx1"/>
                </a:solidFill>
                <a:latin typeface="Arial" charset="0"/>
                <a:ea typeface="Dotum" pitchFamily="50" charset="-127"/>
                <a:sym typeface="Wingdings" pitchFamily="2" charset="2"/>
              </a:defRPr>
            </a:lvl9pPr>
          </a:lstStyle>
          <a:p>
            <a:pPr algn="ctr"/>
            <a:r>
              <a:rPr lang="en-US" sz="2800" dirty="0"/>
              <a:t>Knowledge Graph Embedding &amp; Question Answering</a:t>
            </a:r>
            <a:endParaRPr lang="en-IN" sz="2800" dirty="0"/>
          </a:p>
        </p:txBody>
      </p:sp>
    </p:spTree>
    <p:extLst>
      <p:ext uri="{BB962C8B-B14F-4D97-AF65-F5344CB8AC3E}">
        <p14:creationId xmlns:p14="http://schemas.microsoft.com/office/powerpoint/2010/main" val="3787097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15400" cy="334962"/>
          </a:xfrm>
        </p:spPr>
        <p:txBody>
          <a:bodyPr/>
          <a:lstStyle/>
          <a:p>
            <a:r>
              <a:rPr lang="en-US" sz="1800" dirty="0"/>
              <a:t>Knowledge Graph Embedding &amp; Question Answering</a:t>
            </a:r>
            <a:endParaRPr lang="en-IN" sz="1800" b="1" dirty="0"/>
          </a:p>
        </p:txBody>
      </p:sp>
      <p:sp>
        <p:nvSpPr>
          <p:cNvPr id="18" name="Rectangle 17"/>
          <p:cNvSpPr/>
          <p:nvPr/>
        </p:nvSpPr>
        <p:spPr>
          <a:xfrm>
            <a:off x="228600" y="990600"/>
            <a:ext cx="8763000" cy="5909310"/>
          </a:xfrm>
          <a:prstGeom prst="rect">
            <a:avLst/>
          </a:prstGeom>
        </p:spPr>
        <p:txBody>
          <a:bodyPr wrap="square">
            <a:spAutoFit/>
          </a:bodyPr>
          <a:lstStyle/>
          <a:p>
            <a:r>
              <a:rPr lang="en-IN" b="1" u="sng" cap="all" dirty="0"/>
              <a:t>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Graph embeddings preserve the global relationship present in the Graphs, can be used for downstream task such as Question Answering.</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Question Answering using KGs: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Simple Question Answering:  Identification of correct factoid (head, predicate, tail)  present in the KG. Single-hop is required.  </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Eg.</a:t>
            </a:r>
            <a:r>
              <a:rPr lang="en-US" dirty="0">
                <a:latin typeface="Arial" panose="020B0604020202020204" pitchFamily="34" charset="0"/>
                <a:cs typeface="Arial" panose="020B0604020202020204" pitchFamily="34" charset="0"/>
              </a:rPr>
              <a:t> (Barack Obama, birth place, Hawaii)</a:t>
            </a:r>
          </a:p>
          <a:p>
            <a:pPr lvl="1"/>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Complex Question Answering: Answering such questions require multiple hop over, more than one factoids to reach the answer.</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Eg.</a:t>
            </a:r>
            <a:r>
              <a:rPr lang="en-US" dirty="0">
                <a:latin typeface="Arial" panose="020B0604020202020204" pitchFamily="34" charset="0"/>
                <a:cs typeface="Arial" panose="020B0604020202020204" pitchFamily="34" charset="0"/>
              </a:rPr>
              <a:t> (Barack Obama, birth place, Hawaii), (Hawaii, state, of country America)</a:t>
            </a:r>
            <a:br>
              <a:rPr lang="en-US" dirty="0">
                <a:latin typeface="Arial" panose="020B0604020202020204" pitchFamily="34" charset="0"/>
                <a:cs typeface="Arial" panose="020B0604020202020204" pitchFamily="34" charset="0"/>
              </a:rPr>
            </a:br>
            <a:endParaRPr lang="x-none"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b="1" u="sng" cap="all" dirty="0"/>
          </a:p>
          <a:p>
            <a:r>
              <a:rPr lang="en-IN" b="1" u="sng" cap="all" dirty="0"/>
              <a:t> </a:t>
            </a:r>
          </a:p>
          <a:p>
            <a:pPr marL="342900" indent="-342900">
              <a:buFont typeface="+mj-lt"/>
              <a:buAutoNum type="arabicPeriod"/>
            </a:pPr>
            <a:endParaRPr lang="en-IN" dirty="0">
              <a:latin typeface="Arial" panose="020B0604020202020204" pitchFamily="34" charset="0"/>
              <a:cs typeface="Arial" panose="020B0604020202020204" pitchFamily="34" charset="0"/>
            </a:endParaRPr>
          </a:p>
        </p:txBody>
      </p:sp>
      <p:sp>
        <p:nvSpPr>
          <p:cNvPr id="5" name="Action Button: Forward or Next 4">
            <a:hlinkClick r:id="rId2" action="ppaction://hlinksldjump" highlightClick="1"/>
          </p:cNvPr>
          <p:cNvSpPr/>
          <p:nvPr/>
        </p:nvSpPr>
        <p:spPr>
          <a:xfrm>
            <a:off x="8991600" y="5861569"/>
            <a:ext cx="216024" cy="196098"/>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Tree>
    <p:extLst>
      <p:ext uri="{BB962C8B-B14F-4D97-AF65-F5344CB8AC3E}">
        <p14:creationId xmlns:p14="http://schemas.microsoft.com/office/powerpoint/2010/main" val="3904636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t>Simple and Multi-hop Question Answering</a:t>
            </a:r>
          </a:p>
        </p:txBody>
      </p:sp>
      <p:sp>
        <p:nvSpPr>
          <p:cNvPr id="10" name="Round Single Corner Rectangle 9"/>
          <p:cNvSpPr/>
          <p:nvPr/>
        </p:nvSpPr>
        <p:spPr>
          <a:xfrm>
            <a:off x="533400" y="3657600"/>
            <a:ext cx="8839200" cy="2438400"/>
          </a:xfrm>
          <a:prstGeom prst="round1Rect">
            <a:avLst/>
          </a:prstGeom>
          <a:solidFill>
            <a:schemeClr val="bg2"/>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Available:</a:t>
            </a:r>
          </a:p>
          <a:p>
            <a:pPr lvl="1"/>
            <a:r>
              <a:rPr lang="en-US" dirty="0">
                <a:solidFill>
                  <a:schemeClr val="tx1"/>
                </a:solidFill>
              </a:rPr>
              <a:t>Simple Question Answering:  </a:t>
            </a:r>
          </a:p>
          <a:p>
            <a:pPr lvl="2"/>
            <a:r>
              <a:rPr lang="en-US" dirty="0">
                <a:solidFill>
                  <a:schemeClr val="tx1"/>
                </a:solidFill>
              </a:rPr>
              <a:t>Paper: </a:t>
            </a:r>
            <a:r>
              <a:rPr lang="en-US" b="1" i="1" u="sng" strike="noStrike" dirty="0">
                <a:solidFill>
                  <a:schemeClr val="tx1"/>
                </a:solidFill>
                <a:effectLst/>
                <a:latin typeface="Times New Roman" panose="02020603050405020304" pitchFamily="18" charset="0"/>
                <a:hlinkClick r:id="rId2">
                  <a:extLst>
                    <a:ext uri="{A12FA001-AC4F-418D-AE19-62706E023703}">
                      <ahyp:hlinkClr xmlns:ahyp="http://schemas.microsoft.com/office/drawing/2018/hyperlinkcolor" xmlns="" val="tx"/>
                    </a:ext>
                  </a:extLst>
                </a:hlinkClick>
              </a:rPr>
              <a:t>Knowledge Graph Embedding Based Question Answering</a:t>
            </a:r>
            <a:endParaRPr lang="en-US" b="1" i="1" u="sng" strike="noStrike" dirty="0">
              <a:solidFill>
                <a:schemeClr val="tx1"/>
              </a:solidFill>
              <a:effectLst/>
              <a:latin typeface="Times New Roman" panose="02020603050405020304" pitchFamily="18" charset="0"/>
            </a:endParaRPr>
          </a:p>
          <a:p>
            <a:pPr lvl="2"/>
            <a:r>
              <a:rPr lang="en-US" dirty="0">
                <a:solidFill>
                  <a:schemeClr val="tx1"/>
                </a:solidFill>
              </a:rPr>
              <a:t>Detect head, predicate embeddings from questions. Search over KG to find a factoid with match, tail is the answer</a:t>
            </a:r>
          </a:p>
          <a:p>
            <a:pPr lvl="1"/>
            <a:r>
              <a:rPr lang="en-US" dirty="0">
                <a:solidFill>
                  <a:schemeClr val="tx1"/>
                </a:solidFill>
              </a:rPr>
              <a:t>Multi-hop Question Answering:</a:t>
            </a:r>
          </a:p>
          <a:p>
            <a:pPr lvl="1">
              <a:spcBef>
                <a:spcPts val="0"/>
              </a:spcBef>
            </a:pPr>
            <a:r>
              <a:rPr lang="en-US" dirty="0">
                <a:solidFill>
                  <a:schemeClr val="tx1"/>
                </a:solidFill>
              </a:rPr>
              <a:t>Paper</a:t>
            </a:r>
            <a:r>
              <a:rPr lang="en-US" sz="1600" i="1" dirty="0">
                <a:solidFill>
                  <a:schemeClr val="tx1"/>
                </a:solidFill>
                <a:latin typeface="Times New Roman" panose="02020603050405020304" pitchFamily="18" charset="0"/>
                <a:cs typeface="Times New Roman" panose="02020603050405020304" pitchFamily="18" charset="0"/>
              </a:rPr>
              <a:t>: </a:t>
            </a:r>
            <a:r>
              <a:rPr lang="en-US" sz="1600" b="1" i="1"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Improving Multi-hop Question Answering over Knowledge Graphs using</a:t>
            </a:r>
            <a:r>
              <a:rPr lang="en-US" sz="1600" b="1" i="1"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 </a:t>
            </a:r>
            <a:r>
              <a:rPr lang="en-US" sz="1600" b="1" i="1"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Knowledge Base Embeddings</a:t>
            </a:r>
            <a:r>
              <a:rPr lang="en-US" dirty="0"/>
              <a:t/>
            </a:r>
            <a:br>
              <a:rPr lang="en-US" dirty="0"/>
            </a:br>
            <a:endParaRPr lang="x-none" dirty="0"/>
          </a:p>
          <a:p>
            <a:endParaRPr lang="en-IN" dirty="0">
              <a:solidFill>
                <a:sysClr val="windowText" lastClr="000000"/>
              </a:solidFill>
            </a:endParaRPr>
          </a:p>
        </p:txBody>
      </p:sp>
      <p:sp>
        <p:nvSpPr>
          <p:cNvPr id="2" name="AutoShape 2" descr="Computational Photography Group – CPhoto@FIT | Computational Photography  Group at Faculty of Information Technology, Brno University of Technolog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6" descr="samsung galaxy note 20 ultr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a:extLst>
              <a:ext uri="{FF2B5EF4-FFF2-40B4-BE49-F238E27FC236}">
                <a16:creationId xmlns:a16="http://schemas.microsoft.com/office/drawing/2014/main" xmlns="" id="{6047E56C-FC98-421D-B982-38A0E5A944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681994"/>
            <a:ext cx="5448300" cy="2819400"/>
          </a:xfrm>
          <a:prstGeom prst="rect">
            <a:avLst/>
          </a:prstGeom>
          <a:noFill/>
          <a:extLst>
            <a:ext uri="{909E8E84-426E-40DD-AFC4-6F175D3DCCD1}">
              <a14:hiddenFill xmlns:a14="http://schemas.microsoft.com/office/drawing/2010/main">
                <a:solidFill>
                  <a:srgbClr val="FFFFFF"/>
                </a:solidFill>
              </a14:hiddenFill>
            </a:ext>
          </a:extLst>
        </p:spPr>
      </p:pic>
      <p:sp>
        <p:nvSpPr>
          <p:cNvPr id="7" name="Action Button: Forward or Next 6">
            <a:hlinkClick r:id="rId5" action="ppaction://hlinksldjump" highlightClick="1"/>
          </p:cNvPr>
          <p:cNvSpPr/>
          <p:nvPr/>
        </p:nvSpPr>
        <p:spPr>
          <a:xfrm>
            <a:off x="8991600" y="5861569"/>
            <a:ext cx="216024" cy="196098"/>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Tree>
    <p:extLst>
      <p:ext uri="{BB962C8B-B14F-4D97-AF65-F5344CB8AC3E}">
        <p14:creationId xmlns:p14="http://schemas.microsoft.com/office/powerpoint/2010/main" val="62198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cs typeface="Arial" panose="020B0604020202020204" pitchFamily="34" charset="0"/>
              </a:rPr>
              <a:t>Path: Unstructured Manuals to Knowledge Graph</a:t>
            </a:r>
            <a:endParaRPr lang="en-IN" dirty="0"/>
          </a:p>
        </p:txBody>
      </p:sp>
      <p:sp>
        <p:nvSpPr>
          <p:cNvPr id="10" name="Round Single Corner Rectangle 9"/>
          <p:cNvSpPr/>
          <p:nvPr/>
        </p:nvSpPr>
        <p:spPr>
          <a:xfrm>
            <a:off x="381000" y="3657600"/>
            <a:ext cx="8839200" cy="2514600"/>
          </a:xfrm>
          <a:prstGeom prst="round1Rect">
            <a:avLst/>
          </a:prstGeom>
          <a:solidFill>
            <a:schemeClr val="bg2"/>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1" indent="-285750">
              <a:buFont typeface="Arial" panose="020B0604020202020204" pitchFamily="34" charset="0"/>
              <a:buChar char="•"/>
            </a:pPr>
            <a:r>
              <a:rPr lang="en-US" dirty="0">
                <a:solidFill>
                  <a:schemeClr val="tx1"/>
                </a:solidFill>
              </a:rPr>
              <a:t>Question answering over KG approaches uses Ontological Knowledge Graphs such as freebase, </a:t>
            </a:r>
            <a:r>
              <a:rPr lang="en-US" dirty="0" err="1">
                <a:solidFill>
                  <a:schemeClr val="tx1"/>
                </a:solidFill>
              </a:rPr>
              <a:t>yago</a:t>
            </a:r>
            <a:r>
              <a:rPr lang="en-US" dirty="0">
                <a:solidFill>
                  <a:schemeClr val="tx1"/>
                </a:solidFill>
              </a:rPr>
              <a:t>, </a:t>
            </a:r>
            <a:r>
              <a:rPr lang="en-US" dirty="0" err="1">
                <a:solidFill>
                  <a:schemeClr val="tx1"/>
                </a:solidFill>
              </a:rPr>
              <a:t>Dbpedia</a:t>
            </a:r>
            <a:r>
              <a:rPr lang="en-US" dirty="0">
                <a:solidFill>
                  <a:schemeClr val="tx1"/>
                </a:solidFill>
              </a:rPr>
              <a:t>.</a:t>
            </a:r>
          </a:p>
          <a:p>
            <a:pPr marL="742950" lvl="1" indent="-285750">
              <a:buFont typeface="Arial" panose="020B0604020202020204" pitchFamily="34" charset="0"/>
              <a:buChar char="•"/>
            </a:pP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LG Manuals contain Unstructured Data. KG is not available. Ontology is not defined.</a:t>
            </a:r>
          </a:p>
          <a:p>
            <a:pPr marL="742950" lvl="1" indent="-285750">
              <a:buFont typeface="Arial" panose="020B0604020202020204" pitchFamily="34" charset="0"/>
              <a:buChar char="•"/>
            </a:pPr>
            <a:r>
              <a:rPr lang="en-US" dirty="0">
                <a:solidFill>
                  <a:schemeClr val="tx1"/>
                </a:solidFill>
              </a:rPr>
              <a:t>Steps required:</a:t>
            </a:r>
          </a:p>
          <a:p>
            <a:pPr lvl="1"/>
            <a:endParaRPr lang="en-US" dirty="0">
              <a:solidFill>
                <a:schemeClr val="tx1"/>
              </a:solidFill>
            </a:endParaRPr>
          </a:p>
          <a:p>
            <a:pPr marL="1200150" lvl="2" indent="-285750">
              <a:buFont typeface="Arial" panose="020B0604020202020204" pitchFamily="34" charset="0"/>
              <a:buChar char="•"/>
            </a:pPr>
            <a:r>
              <a:rPr lang="en-US" dirty="0">
                <a:solidFill>
                  <a:schemeClr val="tx1"/>
                </a:solidFill>
              </a:rPr>
              <a:t>Convert Unstructured Manual to KG</a:t>
            </a:r>
          </a:p>
          <a:p>
            <a:pPr marL="1200150" lvl="2" indent="-285750">
              <a:buFont typeface="Arial" panose="020B0604020202020204" pitchFamily="34" charset="0"/>
              <a:buChar char="•"/>
            </a:pPr>
            <a:r>
              <a:rPr lang="en-US" dirty="0">
                <a:solidFill>
                  <a:schemeClr val="tx1"/>
                </a:solidFill>
              </a:rPr>
              <a:t>KG to Question Answering</a:t>
            </a:r>
          </a:p>
          <a:p>
            <a:pPr marL="285750" indent="-285750">
              <a:buFont typeface="Wingdings" panose="05000000000000000000" pitchFamily="2" charset="2"/>
              <a:buChar char="§"/>
            </a:pPr>
            <a:endParaRPr lang="en-IN" dirty="0">
              <a:solidFill>
                <a:sysClr val="windowText" lastClr="000000"/>
              </a:solidFill>
            </a:endParaRPr>
          </a:p>
        </p:txBody>
      </p:sp>
      <p:pic>
        <p:nvPicPr>
          <p:cNvPr id="5" name="Picture 4">
            <a:extLst>
              <a:ext uri="{FF2B5EF4-FFF2-40B4-BE49-F238E27FC236}">
                <a16:creationId xmlns:a16="http://schemas.microsoft.com/office/drawing/2014/main" xmlns="" id="{14BD0500-D39C-426A-9E28-65DA482EF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738907"/>
            <a:ext cx="2956816" cy="2690093"/>
          </a:xfrm>
          <a:prstGeom prst="rect">
            <a:avLst/>
          </a:prstGeom>
        </p:spPr>
      </p:pic>
    </p:spTree>
    <p:extLst>
      <p:ext uri="{BB962C8B-B14F-4D97-AF65-F5344CB8AC3E}">
        <p14:creationId xmlns:p14="http://schemas.microsoft.com/office/powerpoint/2010/main" val="2516143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15400" cy="334962"/>
          </a:xfrm>
        </p:spPr>
        <p:txBody>
          <a:bodyPr/>
          <a:lstStyle/>
          <a:p>
            <a:r>
              <a:rPr lang="en-IN" dirty="0">
                <a:cs typeface="Arial" panose="020B0604020202020204" pitchFamily="34" charset="0"/>
              </a:rPr>
              <a:t>Path: Problems to be solved and Challenges</a:t>
            </a:r>
            <a:endParaRPr lang="en-IN" sz="1800" b="1" dirty="0"/>
          </a:p>
        </p:txBody>
      </p:sp>
      <p:sp>
        <p:nvSpPr>
          <p:cNvPr id="18" name="Rectangle 17"/>
          <p:cNvSpPr/>
          <p:nvPr/>
        </p:nvSpPr>
        <p:spPr>
          <a:xfrm>
            <a:off x="228600" y="990600"/>
            <a:ext cx="8763000" cy="6740307"/>
          </a:xfrm>
          <a:prstGeom prst="rect">
            <a:avLst/>
          </a:prstGeom>
        </p:spPr>
        <p:txBody>
          <a:bodyPr wrap="square">
            <a:spAutoFit/>
          </a:bodyPr>
          <a:lstStyle/>
          <a:p>
            <a:r>
              <a:rPr lang="en-IN" b="1" u="sng" cap="all" dirty="0"/>
              <a:t> </a:t>
            </a:r>
          </a:p>
          <a:p>
            <a:pPr marL="742950" lvl="1" indent="-285750">
              <a:buFont typeface="Arial" panose="020B0604020202020204" pitchFamily="34" charset="0"/>
              <a:buChar char="•"/>
            </a:pPr>
            <a:r>
              <a:rPr lang="en-US" dirty="0"/>
              <a:t>Problems to be solved for KG creation:</a:t>
            </a:r>
          </a:p>
          <a:p>
            <a:pPr lvl="1"/>
            <a:endParaRPr lang="en-US" dirty="0"/>
          </a:p>
          <a:p>
            <a:pPr marL="1200150" lvl="2" indent="-285750">
              <a:buFont typeface="Arial" panose="020B0604020202020204" pitchFamily="34" charset="0"/>
              <a:buChar char="•"/>
            </a:pPr>
            <a:r>
              <a:rPr lang="en-US" dirty="0"/>
              <a:t>Entity Extraction</a:t>
            </a:r>
          </a:p>
          <a:p>
            <a:pPr marL="1200150" lvl="2" indent="-285750">
              <a:buFont typeface="Arial" panose="020B0604020202020204" pitchFamily="34" charset="0"/>
              <a:buChar char="•"/>
            </a:pPr>
            <a:r>
              <a:rPr lang="en-US" dirty="0"/>
              <a:t>Relation Extraction</a:t>
            </a:r>
          </a:p>
          <a:p>
            <a:pPr marL="1200150" lvl="2" indent="-285750">
              <a:buFont typeface="Arial" panose="020B0604020202020204" pitchFamily="34" charset="0"/>
              <a:buChar char="•"/>
            </a:pPr>
            <a:r>
              <a:rPr lang="en-US" dirty="0"/>
              <a:t>Entity Mapping (Canonicalization/Normalization)</a:t>
            </a:r>
          </a:p>
          <a:p>
            <a:pPr marL="1200150" lvl="2" indent="-285750">
              <a:buFont typeface="Arial" panose="020B0604020202020204" pitchFamily="34" charset="0"/>
              <a:buChar char="•"/>
            </a:pPr>
            <a:r>
              <a:rPr lang="en-US" dirty="0"/>
              <a:t>Relation Canonicalization (</a:t>
            </a:r>
            <a:r>
              <a:rPr lang="en-US" i="1" dirty="0"/>
              <a:t>was born in, took birth in=&gt; </a:t>
            </a:r>
            <a:r>
              <a:rPr lang="en-US" i="1" dirty="0" err="1"/>
              <a:t>birth_place</a:t>
            </a:r>
            <a:r>
              <a:rPr lang="en-US" dirty="0"/>
              <a:t>) </a:t>
            </a:r>
          </a:p>
          <a:p>
            <a:pPr lvl="2"/>
            <a:endParaRPr lang="en-US" dirty="0"/>
          </a:p>
          <a:p>
            <a:pPr marL="742950" lvl="1" indent="-285750">
              <a:buFont typeface="Arial" panose="020B0604020202020204" pitchFamily="34" charset="0"/>
              <a:buChar char="•"/>
            </a:pPr>
            <a:r>
              <a:rPr lang="en-US" dirty="0"/>
              <a:t>Challenges in Manual specific KG creation:</a:t>
            </a:r>
          </a:p>
          <a:p>
            <a:pPr lvl="1"/>
            <a:endParaRPr lang="en-US" dirty="0"/>
          </a:p>
          <a:p>
            <a:pPr marL="1200150" lvl="2" indent="-285750">
              <a:buFont typeface="Arial" panose="020B0604020202020204" pitchFamily="34" charset="0"/>
              <a:buChar char="•"/>
            </a:pPr>
            <a:r>
              <a:rPr lang="en-US" dirty="0"/>
              <a:t>Entities specific to Manuals are domain specific. NER systems trained on open domain data fail to identify those entities. (</a:t>
            </a:r>
            <a:r>
              <a:rPr lang="en-US" dirty="0">
                <a:hlinkClick r:id="rId2">
                  <a:extLst>
                    <a:ext uri="{A12FA001-AC4F-418D-AE19-62706E023703}">
                      <ahyp:hlinkClr xmlns:ahyp="http://schemas.microsoft.com/office/drawing/2018/hyperlinkcolor" xmlns="" val="tx"/>
                    </a:ext>
                  </a:extLst>
                </a:hlinkClick>
              </a:rPr>
              <a:t>https://demo.dbpedia-spotlight.org/</a:t>
            </a:r>
            <a:r>
              <a:rPr lang="en-US" dirty="0"/>
              <a:t>)</a:t>
            </a:r>
          </a:p>
          <a:p>
            <a:pPr marL="1200150" lvl="2" indent="-285750">
              <a:buFont typeface="Arial" panose="020B0604020202020204" pitchFamily="34" charset="0"/>
              <a:buChar char="•"/>
            </a:pPr>
            <a:endParaRPr lang="en-US" dirty="0"/>
          </a:p>
          <a:p>
            <a:pPr marL="1200150" lvl="2" indent="-285750">
              <a:buFont typeface="Arial" panose="020B0604020202020204" pitchFamily="34" charset="0"/>
              <a:buChar char="•"/>
            </a:pPr>
            <a:r>
              <a:rPr lang="en-US" dirty="0"/>
              <a:t>Defining pre-specified Ontology is cumbersome.  Open KGs do not require pre-specified ontology, makes them highly adaptable.</a:t>
            </a:r>
          </a:p>
          <a:p>
            <a:pPr lvl="2"/>
            <a:endParaRPr lang="en-US" dirty="0"/>
          </a:p>
          <a:p>
            <a:pPr marL="1200150" lvl="2" indent="-285750">
              <a:buFont typeface="Arial" panose="020B0604020202020204" pitchFamily="34" charset="0"/>
              <a:buChar char="•"/>
            </a:pPr>
            <a:r>
              <a:rPr lang="en-US" dirty="0"/>
              <a:t>All questions from Manuals are not factoid questions. Most of the questions, require descriptive answers, phrases. Treating concepts(block of sentence, sentence, named entities) as entities could be helpful.</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b="1" u="sng" cap="all" dirty="0"/>
          </a:p>
          <a:p>
            <a:r>
              <a:rPr lang="en-IN" b="1" u="sng" cap="all" dirty="0"/>
              <a:t> </a:t>
            </a:r>
          </a:p>
          <a:p>
            <a:pPr marL="342900" indent="-342900">
              <a:buFont typeface="+mj-lt"/>
              <a:buAutoNum type="arabicPeriod"/>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0979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cs typeface="Arial" panose="020B0604020202020204" pitchFamily="34" charset="0"/>
              </a:rPr>
              <a:t>The Bigger Picture</a:t>
            </a:r>
            <a:endParaRPr lang="en-IN" dirty="0"/>
          </a:p>
        </p:txBody>
      </p:sp>
      <p:sp>
        <p:nvSpPr>
          <p:cNvPr id="10" name="Round Single Corner Rectangle 9"/>
          <p:cNvSpPr/>
          <p:nvPr/>
        </p:nvSpPr>
        <p:spPr>
          <a:xfrm>
            <a:off x="381000" y="3581400"/>
            <a:ext cx="9067800" cy="2819400"/>
          </a:xfrm>
          <a:prstGeom prst="round1Rect">
            <a:avLst/>
          </a:prstGeom>
          <a:solidFill>
            <a:schemeClr val="bg2"/>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dirty="0">
                <a:solidFill>
                  <a:schemeClr val="tx1"/>
                </a:solidFill>
              </a:rPr>
              <a:t>Analysis on Manuals depicts three levels of Hierarchy :</a:t>
            </a:r>
          </a:p>
          <a:p>
            <a:pPr marL="285750" indent="-285750">
              <a:buFont typeface="Arial" panose="020B0604020202020204" pitchFamily="34" charset="0"/>
              <a:buChar char="•"/>
            </a:pP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Relation between a section and subsection, or subsection and paragraph. </a:t>
            </a:r>
            <a:r>
              <a:rPr lang="en-US" dirty="0" err="1">
                <a:solidFill>
                  <a:schemeClr val="tx1"/>
                </a:solidFill>
              </a:rPr>
              <a:t>Eg.</a:t>
            </a:r>
            <a:r>
              <a:rPr lang="en-US" dirty="0">
                <a:solidFill>
                  <a:schemeClr val="tx1"/>
                </a:solidFill>
              </a:rPr>
              <a:t> Steps to use certain functionality.</a:t>
            </a:r>
          </a:p>
          <a:p>
            <a:pPr marL="742950" lvl="1" indent="-285750">
              <a:buFont typeface="Arial" panose="020B0604020202020204" pitchFamily="34" charset="0"/>
              <a:buChar char="•"/>
            </a:pP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Relations depicted between two clauses (Discourse Relation) within same sentence. </a:t>
            </a:r>
          </a:p>
          <a:p>
            <a:pPr marL="742950" lvl="1" indent="-285750">
              <a:buFont typeface="Arial" panose="020B0604020202020204" pitchFamily="34" charset="0"/>
              <a:buChar char="•"/>
            </a:pP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Relations extracted from a sentence. IE tools can extract sentences automatically from sentences in the form of triples.</a:t>
            </a:r>
          </a:p>
          <a:p>
            <a:pPr marL="285750" indent="-285750">
              <a:buFont typeface="Arial" panose="020B0604020202020204" pitchFamily="34" charset="0"/>
              <a:buChar char="•"/>
            </a:pPr>
            <a:endParaRPr lang="en-IN" dirty="0">
              <a:solidFill>
                <a:schemeClr val="tx1"/>
              </a:solidFill>
            </a:endParaRPr>
          </a:p>
        </p:txBody>
      </p:sp>
      <p:pic>
        <p:nvPicPr>
          <p:cNvPr id="4" name="Picture 3">
            <a:extLst>
              <a:ext uri="{FF2B5EF4-FFF2-40B4-BE49-F238E27FC236}">
                <a16:creationId xmlns:a16="http://schemas.microsoft.com/office/drawing/2014/main" xmlns="" id="{47A8105C-0F64-478B-85F5-A0636BBD4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354" y="627456"/>
            <a:ext cx="3973346" cy="2953944"/>
          </a:xfrm>
          <a:prstGeom prst="rect">
            <a:avLst/>
          </a:prstGeom>
        </p:spPr>
      </p:pic>
      <p:pic>
        <p:nvPicPr>
          <p:cNvPr id="6" name="Picture 5">
            <a:extLst>
              <a:ext uri="{FF2B5EF4-FFF2-40B4-BE49-F238E27FC236}">
                <a16:creationId xmlns:a16="http://schemas.microsoft.com/office/drawing/2014/main" xmlns="" id="{00001068-49F1-4D27-9FF5-DFC7CB567D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627456"/>
            <a:ext cx="4489434" cy="2858894"/>
          </a:xfrm>
          <a:prstGeom prst="rect">
            <a:avLst/>
          </a:prstGeom>
        </p:spPr>
      </p:pic>
    </p:spTree>
    <p:extLst>
      <p:ext uri="{BB962C8B-B14F-4D97-AF65-F5344CB8AC3E}">
        <p14:creationId xmlns:p14="http://schemas.microsoft.com/office/powerpoint/2010/main" val="334020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15400" cy="334962"/>
          </a:xfrm>
        </p:spPr>
        <p:txBody>
          <a:bodyPr/>
          <a:lstStyle/>
          <a:p>
            <a:r>
              <a:rPr lang="en-IN" sz="1800" b="1" dirty="0">
                <a:cs typeface="Arial" panose="020B0604020202020204" pitchFamily="34" charset="0"/>
              </a:rPr>
              <a:t>Entity/Relation Extraction : Progress of the Approaches Tried and learnings</a:t>
            </a:r>
            <a:endParaRPr lang="en-IN" sz="1800" b="1" dirty="0"/>
          </a:p>
        </p:txBody>
      </p:sp>
      <p:sp>
        <p:nvSpPr>
          <p:cNvPr id="18" name="Rectangle 17"/>
          <p:cNvSpPr/>
          <p:nvPr/>
        </p:nvSpPr>
        <p:spPr>
          <a:xfrm>
            <a:off x="381000" y="411162"/>
            <a:ext cx="8763000" cy="7017306"/>
          </a:xfrm>
          <a:prstGeom prst="rect">
            <a:avLst/>
          </a:prstGeom>
        </p:spPr>
        <p:txBody>
          <a:bodyPr wrap="square">
            <a:spAutoFit/>
          </a:bodyPr>
          <a:lstStyle/>
          <a:p>
            <a:endParaRPr lang="en-IN" b="1" u="sng" cap="all" dirty="0"/>
          </a:p>
          <a:p>
            <a:pPr marL="342900" indent="-342900">
              <a:buFont typeface="+mj-lt"/>
              <a:buAutoNum type="arabicPeriod"/>
            </a:pPr>
            <a:r>
              <a:rPr lang="en-US" dirty="0"/>
              <a:t>NER to Extract Entities, Coreference , OPEN IE information extraction tool on Unstructured Manual</a:t>
            </a:r>
          </a:p>
          <a:p>
            <a:pPr marL="342900" indent="-342900">
              <a:buFont typeface="+mj-lt"/>
              <a:buAutoNum type="arabicPeriod"/>
            </a:pPr>
            <a:endParaRPr lang="en-US" dirty="0"/>
          </a:p>
          <a:p>
            <a:pPr marL="800100" lvl="1" indent="-342900">
              <a:buFont typeface="+mj-lt"/>
              <a:buAutoNum type="arabicPeriod"/>
            </a:pPr>
            <a:r>
              <a:rPr lang="en-US" dirty="0"/>
              <a:t>Remark: Too many granular relations. Difficult to trace the context. OPEN IE also extracts many relations, that makes extraction Noise. NER system misses out many domain specific entities.  IE tools perform poorly on relation extraction from imperative sentences, as this tools are trained on data mostly contains declarative sentences.</a:t>
            </a:r>
          </a:p>
          <a:p>
            <a:pPr marL="800100" lvl="1" indent="-342900">
              <a:buFont typeface="+mj-lt"/>
              <a:buAutoNum type="arabicPeriod"/>
            </a:pPr>
            <a:endParaRPr lang="en-US" dirty="0"/>
          </a:p>
          <a:p>
            <a:pPr marL="342900" indent="-342900">
              <a:buFont typeface="+mj-lt"/>
              <a:buAutoNum type="arabicPeriod"/>
            </a:pPr>
            <a:r>
              <a:rPr lang="en-US" dirty="0"/>
              <a:t>Replace OPEN IE with OLLIE, Include Dependency Parse for Relation extraction</a:t>
            </a:r>
          </a:p>
          <a:p>
            <a:pPr marL="800100" lvl="1" indent="-342900">
              <a:buFont typeface="+mj-lt"/>
              <a:buAutoNum type="arabicPeriod"/>
            </a:pPr>
            <a:r>
              <a:rPr lang="en-US" dirty="0"/>
              <a:t>Remark: OLLIE is better in terms of reducing Noise. Dependency Parse helps pruning. Context is still missing. Relation among phrases is missing</a:t>
            </a:r>
          </a:p>
          <a:p>
            <a:pPr marL="914400" lvl="1" indent="-457200">
              <a:buFont typeface="+mj-lt"/>
              <a:buAutoNum type="arabicPeriod"/>
            </a:pPr>
            <a:endParaRPr lang="en-US" dirty="0"/>
          </a:p>
          <a:p>
            <a:pPr marL="342900" indent="-342900">
              <a:buFont typeface="+mj-lt"/>
              <a:buAutoNum type="arabicPeriod"/>
            </a:pPr>
            <a:r>
              <a:rPr lang="en-US" dirty="0"/>
              <a:t>Treat Entities as Concepts with Hierarchy. Top level relations (between section and Paragraph) were annotated. 13 types of discourse relations are defined and extracted by inclusion of Constituency Parser. OLLIE is replaced with state-of-the art OPENIE5.1</a:t>
            </a:r>
          </a:p>
          <a:p>
            <a:pPr marL="342900" indent="-342900">
              <a:buFont typeface="+mj-lt"/>
              <a:buAutoNum type="arabicPeriod"/>
            </a:pPr>
            <a:endParaRPr lang="en-US" dirty="0"/>
          </a:p>
          <a:p>
            <a:pPr marL="800100" lvl="1" indent="-342900">
              <a:buFont typeface="+mj-lt"/>
              <a:buAutoNum type="arabicPeriod"/>
            </a:pPr>
            <a:r>
              <a:rPr lang="en-US" dirty="0"/>
              <a:t>Remark: OpenIE5.1 uses Berkeley Language model, extracts more sensible relations from sentences, reducing noise. Top level relations and Discourse relations between clauses ensures the context). Relation Extraction from, imperative sentence is still challenge for OPENIE5.1.</a:t>
            </a:r>
          </a:p>
          <a:p>
            <a:pPr marL="342900" indent="-342900">
              <a:buFont typeface="+mj-lt"/>
              <a:buAutoNum type="arabicPeriod"/>
            </a:pPr>
            <a:endParaRPr lang="en-IN" b="1" u="sng" cap="all" dirty="0"/>
          </a:p>
          <a:p>
            <a:endParaRPr lang="en-IN" b="1" u="sng" cap="all" dirty="0"/>
          </a:p>
          <a:p>
            <a:pPr marL="342900" indent="-342900">
              <a:buFont typeface="+mj-lt"/>
              <a:buAutoNum type="arabicPeriod"/>
            </a:pPr>
            <a:endParaRPr lang="en-IN" dirty="0">
              <a:latin typeface="Arial" panose="020B0604020202020204" pitchFamily="34" charset="0"/>
              <a:cs typeface="Arial" panose="020B0604020202020204" pitchFamily="34" charset="0"/>
            </a:endParaRPr>
          </a:p>
        </p:txBody>
      </p:sp>
      <p:sp>
        <p:nvSpPr>
          <p:cNvPr id="6" name="Action Button: Forward or Next 5">
            <a:hlinkClick r:id="rId2" action="ppaction://hlinksldjump" highlightClick="1"/>
          </p:cNvPr>
          <p:cNvSpPr/>
          <p:nvPr/>
        </p:nvSpPr>
        <p:spPr>
          <a:xfrm>
            <a:off x="9308976" y="5959618"/>
            <a:ext cx="216024" cy="196098"/>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Tree>
    <p:extLst>
      <p:ext uri="{BB962C8B-B14F-4D97-AF65-F5344CB8AC3E}">
        <p14:creationId xmlns:p14="http://schemas.microsoft.com/office/powerpoint/2010/main" val="2501318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17CEA-D603-4C80-84DD-9BF832E88DA9}"/>
              </a:ext>
            </a:extLst>
          </p:cNvPr>
          <p:cNvSpPr>
            <a:spLocks noGrp="1"/>
          </p:cNvSpPr>
          <p:nvPr>
            <p:ph type="title"/>
          </p:nvPr>
        </p:nvSpPr>
        <p:spPr/>
        <p:txBody>
          <a:bodyPr/>
          <a:lstStyle/>
          <a:p>
            <a:r>
              <a:rPr lang="en-IN" dirty="0">
                <a:cs typeface="Arial" panose="020B0604020202020204" pitchFamily="34" charset="0"/>
              </a:rPr>
              <a:t>Entity/Relation Extraction : </a:t>
            </a:r>
            <a:r>
              <a:rPr lang="en-US" dirty="0"/>
              <a:t>Plan for Next Step</a:t>
            </a:r>
            <a:endParaRPr lang="x-none" dirty="0"/>
          </a:p>
        </p:txBody>
      </p:sp>
      <p:sp>
        <p:nvSpPr>
          <p:cNvPr id="3" name="Content Placeholder 2">
            <a:extLst>
              <a:ext uri="{FF2B5EF4-FFF2-40B4-BE49-F238E27FC236}">
                <a16:creationId xmlns:a16="http://schemas.microsoft.com/office/drawing/2014/main" xmlns="" id="{8453FE46-A0CA-4253-8E8B-EE0DBEFEE700}"/>
              </a:ext>
            </a:extLst>
          </p:cNvPr>
          <p:cNvSpPr>
            <a:spLocks noGrp="1"/>
          </p:cNvSpPr>
          <p:nvPr>
            <p:ph idx="1"/>
          </p:nvPr>
        </p:nvSpPr>
        <p:spPr/>
        <p:txBody>
          <a:bodyPr/>
          <a:lstStyle/>
          <a:p>
            <a:pPr>
              <a:buFont typeface="+mj-lt"/>
              <a:buAutoNum type="arabicPeriod"/>
            </a:pPr>
            <a:r>
              <a:rPr lang="en-US" dirty="0"/>
              <a:t>Use presently extracted relations and use the approach mentioned in the paper </a:t>
            </a:r>
            <a:r>
              <a:rPr lang="en-US" sz="1400" b="0" i="0" u="sng" strike="noStrike" dirty="0" err="1">
                <a:effectLst/>
                <a:latin typeface="Arial" panose="020B0604020202020204" pitchFamily="34" charset="0"/>
                <a:hlinkClick r:id="rId2">
                  <a:extLst>
                    <a:ext uri="{A12FA001-AC4F-418D-AE19-62706E023703}">
                      <ahyp:hlinkClr xmlns:ahyp="http://schemas.microsoft.com/office/drawing/2018/hyperlinkcolor" xmlns="" val="tx"/>
                    </a:ext>
                  </a:extLst>
                </a:hlinkClick>
              </a:rPr>
              <a:t>CaRe</a:t>
            </a:r>
            <a:r>
              <a:rPr lang="en-US" sz="1400" b="0" i="0" u="sng" strike="noStrike" dirty="0">
                <a:effectLst/>
                <a:latin typeface="Arial" panose="020B0604020202020204" pitchFamily="34" charset="0"/>
                <a:hlinkClick r:id="rId2">
                  <a:extLst>
                    <a:ext uri="{A12FA001-AC4F-418D-AE19-62706E023703}">
                      <ahyp:hlinkClr xmlns:ahyp="http://schemas.microsoft.com/office/drawing/2018/hyperlinkcolor" xmlns="" val="tx"/>
                    </a:ext>
                  </a:extLst>
                </a:hlinkClick>
              </a:rPr>
              <a:t>: Open Knowledge Graph Embeddings</a:t>
            </a:r>
            <a:r>
              <a:rPr lang="en-US" sz="1100" i="0" u="sng" strike="noStrike" dirty="0">
                <a:latin typeface="Arial" panose="020B0604020202020204" pitchFamily="34" charset="0"/>
              </a:rPr>
              <a:t> </a:t>
            </a:r>
            <a:r>
              <a:rPr lang="en-US" sz="1200" i="0" u="sng" strike="noStrike" dirty="0">
                <a:latin typeface="Arial" panose="020B0604020202020204" pitchFamily="34" charset="0"/>
              </a:rPr>
              <a:t>  </a:t>
            </a:r>
            <a:r>
              <a:rPr lang="en-US" sz="1400" dirty="0"/>
              <a:t>to obtain the Graph Embeddings for Open KG. For Entity Linking/ Canonicalization we may use </a:t>
            </a:r>
            <a:r>
              <a:rPr lang="en-US" i="0" dirty="0">
                <a:effectLst/>
                <a:latin typeface="Lucida Grande"/>
                <a:hlinkClick r:id="rId3">
                  <a:extLst>
                    <a:ext uri="{A12FA001-AC4F-418D-AE19-62706E023703}">
                      <ahyp:hlinkClr xmlns:ahyp="http://schemas.microsoft.com/office/drawing/2018/hyperlinkcolor" xmlns="" val="tx"/>
                    </a:ext>
                  </a:extLst>
                </a:hlinkClick>
              </a:rPr>
              <a:t>CESI: Canonicalizing Open Knowledge Bases using Embeddings and Side Information</a:t>
            </a:r>
            <a:r>
              <a:rPr lang="en-US" sz="1400" dirty="0">
                <a:hlinkClick r:id="rId3">
                  <a:extLst>
                    <a:ext uri="{A12FA001-AC4F-418D-AE19-62706E023703}">
                      <ahyp:hlinkClr xmlns:ahyp="http://schemas.microsoft.com/office/drawing/2018/hyperlinkcolor" xmlns="" val="tx"/>
                    </a:ext>
                  </a:extLst>
                </a:hlinkClick>
              </a:rPr>
              <a:t> </a:t>
            </a:r>
            <a:endParaRPr lang="en-US" sz="1400" dirty="0"/>
          </a:p>
          <a:p>
            <a:pPr>
              <a:buFont typeface="+mj-lt"/>
              <a:buAutoNum type="arabicPeriod"/>
            </a:pPr>
            <a:endParaRPr lang="en-US" dirty="0"/>
          </a:p>
          <a:p>
            <a:pPr>
              <a:buFont typeface="+mj-lt"/>
              <a:buAutoNum type="arabicPeriod"/>
            </a:pPr>
            <a:r>
              <a:rPr lang="en-US" dirty="0"/>
              <a:t>Create Graph Embeddings for both Simple and </a:t>
            </a:r>
            <a:r>
              <a:rPr lang="en-US" dirty="0" err="1"/>
              <a:t>Multihop</a:t>
            </a:r>
            <a:r>
              <a:rPr lang="en-US" dirty="0"/>
              <a:t> Question answering for Open KG</a:t>
            </a:r>
          </a:p>
          <a:p>
            <a:pPr marL="342900" indent="-3429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1382530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50364" y="2286000"/>
            <a:ext cx="5205272" cy="2123658"/>
          </a:xfrm>
          <a:prstGeom prst="rect">
            <a:avLst/>
          </a:prstGeom>
          <a:noFill/>
        </p:spPr>
        <p:txBody>
          <a:bodyPr wrap="none" rtlCol="0">
            <a:spAutoFit/>
          </a:bodyPr>
          <a:lstStyle/>
          <a:p>
            <a:pPr algn="ctr"/>
            <a:r>
              <a:rPr lang="en-US" sz="4400" b="1" dirty="0">
                <a:solidFill>
                  <a:schemeClr val="tx1">
                    <a:lumMod val="50000"/>
                    <a:lumOff val="50000"/>
                  </a:schemeClr>
                </a:solidFill>
                <a:latin typeface="Arial" panose="020B0604020202020204" pitchFamily="34" charset="0"/>
              </a:rPr>
              <a:t>Thank you</a:t>
            </a:r>
          </a:p>
          <a:p>
            <a:pPr algn="ctr"/>
            <a:r>
              <a:rPr lang="en-US" sz="4400" b="1" dirty="0">
                <a:solidFill>
                  <a:schemeClr val="tx1">
                    <a:lumMod val="50000"/>
                    <a:lumOff val="50000"/>
                  </a:schemeClr>
                </a:solidFill>
                <a:latin typeface="Arial" panose="020B0604020202020204" pitchFamily="34" charset="0"/>
              </a:rPr>
              <a:t>&amp;</a:t>
            </a:r>
          </a:p>
          <a:p>
            <a:pPr algn="ctr"/>
            <a:r>
              <a:rPr lang="en-US" sz="4400" b="1" dirty="0">
                <a:solidFill>
                  <a:schemeClr val="tx1">
                    <a:lumMod val="50000"/>
                    <a:lumOff val="50000"/>
                  </a:schemeClr>
                </a:solidFill>
                <a:latin typeface="Arial" panose="020B0604020202020204" pitchFamily="34" charset="0"/>
              </a:rPr>
              <a:t>Have a Great Day!!</a:t>
            </a:r>
          </a:p>
        </p:txBody>
      </p:sp>
      <p:sp>
        <p:nvSpPr>
          <p:cNvPr id="2" name="Rectangle 1"/>
          <p:cNvSpPr/>
          <p:nvPr/>
        </p:nvSpPr>
        <p:spPr>
          <a:xfrm>
            <a:off x="4648200" y="6400800"/>
            <a:ext cx="6096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1792525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17CEA-D603-4C80-84DD-9BF832E88DA9}"/>
              </a:ext>
            </a:extLst>
          </p:cNvPr>
          <p:cNvSpPr>
            <a:spLocks noGrp="1"/>
          </p:cNvSpPr>
          <p:nvPr>
            <p:ph type="title"/>
          </p:nvPr>
        </p:nvSpPr>
        <p:spPr/>
        <p:txBody>
          <a:bodyPr/>
          <a:lstStyle/>
          <a:p>
            <a:r>
              <a:rPr lang="en-US" dirty="0"/>
              <a:t>Appendix 1 : Simple Question Answering on Ontology KG</a:t>
            </a:r>
            <a:endParaRPr lang="x-none" dirty="0"/>
          </a:p>
        </p:txBody>
      </p:sp>
      <p:sp>
        <p:nvSpPr>
          <p:cNvPr id="3" name="Content Placeholder 2">
            <a:extLst>
              <a:ext uri="{FF2B5EF4-FFF2-40B4-BE49-F238E27FC236}">
                <a16:creationId xmlns:a16="http://schemas.microsoft.com/office/drawing/2014/main" xmlns="" id="{8453FE46-A0CA-4253-8E8B-EE0DBEFEE700}"/>
              </a:ext>
            </a:extLst>
          </p:cNvPr>
          <p:cNvSpPr>
            <a:spLocks noGrp="1"/>
          </p:cNvSpPr>
          <p:nvPr>
            <p:ph idx="1"/>
          </p:nvPr>
        </p:nvSpPr>
        <p:spPr>
          <a:xfrm>
            <a:off x="604837" y="1123951"/>
            <a:ext cx="8915400" cy="4525963"/>
          </a:xfrm>
        </p:spPr>
        <p:txBody>
          <a:bodyPr/>
          <a:lstStyle/>
          <a:p>
            <a:pPr marL="342900" indent="-342900">
              <a:buFont typeface="+mj-lt"/>
              <a:buAutoNum type="arabicPeriod"/>
            </a:pPr>
            <a:r>
              <a:rPr lang="en-US" sz="1600" dirty="0">
                <a:latin typeface="+mn-lt"/>
              </a:rPr>
              <a:t>The results from this paper </a:t>
            </a:r>
            <a:r>
              <a:rPr lang="en-US" sz="1600" b="0" i="0" u="none" strike="noStrike" dirty="0">
                <a:effectLst/>
                <a:latin typeface="+mn-lt"/>
              </a:rPr>
              <a:t> </a:t>
            </a:r>
            <a:r>
              <a:rPr lang="en-US" sz="1600" b="1" i="1" u="sng" strike="noStrike" dirty="0">
                <a:effectLst/>
                <a:latin typeface="+mn-lt"/>
                <a:hlinkClick r:id="rId2">
                  <a:extLst>
                    <a:ext uri="{A12FA001-AC4F-418D-AE19-62706E023703}">
                      <ahyp:hlinkClr xmlns:ahyp="http://schemas.microsoft.com/office/drawing/2018/hyperlinkcolor" xmlns="" val="tx"/>
                    </a:ext>
                  </a:extLst>
                </a:hlinkClick>
              </a:rPr>
              <a:t>Knowledge Graph Embedding Based Question Answering</a:t>
            </a:r>
            <a:r>
              <a:rPr lang="en-US" sz="1600" b="1" i="1" u="sng" strike="noStrike" dirty="0">
                <a:effectLst/>
                <a:latin typeface="+mn-lt"/>
              </a:rPr>
              <a:t> is </a:t>
            </a:r>
            <a:r>
              <a:rPr lang="en-US" sz="1600" strike="noStrike" dirty="0">
                <a:effectLst/>
                <a:latin typeface="+mn-lt"/>
              </a:rPr>
              <a:t>reproduced.</a:t>
            </a:r>
          </a:p>
          <a:p>
            <a:pPr marL="342900" indent="-342900">
              <a:buFont typeface="+mj-lt"/>
              <a:buAutoNum type="arabicPeriod"/>
            </a:pPr>
            <a:endParaRPr lang="en-US" sz="1600" dirty="0">
              <a:latin typeface="+mn-lt"/>
            </a:endParaRPr>
          </a:p>
          <a:p>
            <a:pPr marL="342900" indent="-342900">
              <a:buFont typeface="+mj-lt"/>
              <a:buAutoNum type="arabicPeriod"/>
            </a:pPr>
            <a:endParaRPr lang="en-US" dirty="0"/>
          </a:p>
        </p:txBody>
      </p:sp>
      <p:pic>
        <p:nvPicPr>
          <p:cNvPr id="1026" name="Picture 2">
            <a:extLst>
              <a:ext uri="{FF2B5EF4-FFF2-40B4-BE49-F238E27FC236}">
                <a16:creationId xmlns:a16="http://schemas.microsoft.com/office/drawing/2014/main" xmlns="" id="{8E7306DD-64ED-4103-9C38-2D4CB7D0B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1" y="1524000"/>
            <a:ext cx="4572000" cy="46863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xmlns="" id="{B369452F-5A0F-4A09-9469-55511ECD9F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8969" y="1561730"/>
            <a:ext cx="4760118" cy="4287839"/>
          </a:xfrm>
          <a:prstGeom prst="rect">
            <a:avLst/>
          </a:prstGeom>
          <a:noFill/>
          <a:extLst>
            <a:ext uri="{909E8E84-426E-40DD-AFC4-6F175D3DCCD1}">
              <a14:hiddenFill xmlns:a14="http://schemas.microsoft.com/office/drawing/2010/main">
                <a:solidFill>
                  <a:srgbClr val="FFFFFF"/>
                </a:solidFill>
              </a14:hiddenFill>
            </a:ext>
          </a:extLst>
        </p:spPr>
      </p:pic>
      <p:sp>
        <p:nvSpPr>
          <p:cNvPr id="7" name="Action Button: Forward or Next 6">
            <a:hlinkClick r:id="rId5" action="ppaction://hlinksldjump" highlightClick="1"/>
          </p:cNvPr>
          <p:cNvSpPr/>
          <p:nvPr/>
        </p:nvSpPr>
        <p:spPr>
          <a:xfrm flipH="1">
            <a:off x="9156600" y="59562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Tree>
    <p:extLst>
      <p:ext uri="{BB962C8B-B14F-4D97-AF65-F5344CB8AC3E}">
        <p14:creationId xmlns:p14="http://schemas.microsoft.com/office/powerpoint/2010/main" val="2482806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17CEA-D603-4C80-84DD-9BF832E88DA9}"/>
              </a:ext>
            </a:extLst>
          </p:cNvPr>
          <p:cNvSpPr>
            <a:spLocks noGrp="1"/>
          </p:cNvSpPr>
          <p:nvPr>
            <p:ph type="title"/>
          </p:nvPr>
        </p:nvSpPr>
        <p:spPr>
          <a:xfrm>
            <a:off x="0" y="102394"/>
            <a:ext cx="9906000" cy="334962"/>
          </a:xfrm>
        </p:spPr>
        <p:txBody>
          <a:bodyPr/>
          <a:lstStyle/>
          <a:p>
            <a:r>
              <a:rPr lang="en-US" dirty="0"/>
              <a:t>Appendix 1 : Simple Question Answering on Ontology KG: Demo question and answers</a:t>
            </a:r>
            <a:endParaRPr lang="x-none" dirty="0"/>
          </a:p>
        </p:txBody>
      </p:sp>
      <p:sp>
        <p:nvSpPr>
          <p:cNvPr id="3" name="Content Placeholder 2">
            <a:extLst>
              <a:ext uri="{FF2B5EF4-FFF2-40B4-BE49-F238E27FC236}">
                <a16:creationId xmlns:a16="http://schemas.microsoft.com/office/drawing/2014/main" xmlns="" id="{8453FE46-A0CA-4253-8E8B-EE0DBEFEE700}"/>
              </a:ext>
            </a:extLst>
          </p:cNvPr>
          <p:cNvSpPr>
            <a:spLocks noGrp="1"/>
          </p:cNvSpPr>
          <p:nvPr>
            <p:ph idx="1"/>
          </p:nvPr>
        </p:nvSpPr>
        <p:spPr>
          <a:xfrm>
            <a:off x="604837" y="1123951"/>
            <a:ext cx="8915400" cy="4525963"/>
          </a:xfrm>
        </p:spPr>
        <p:txBody>
          <a:bodyPr/>
          <a:lstStyle/>
          <a:p>
            <a:pPr marL="0" indent="0">
              <a:buNone/>
            </a:pPr>
            <a:r>
              <a:rPr lang="en-US" sz="1600" strike="noStrike" dirty="0">
                <a:effectLst/>
                <a:latin typeface="+mn-lt"/>
              </a:rPr>
              <a:t>Results:</a:t>
            </a:r>
          </a:p>
          <a:p>
            <a:pPr marL="114300" indent="0" rtl="0">
              <a:spcBef>
                <a:spcPts val="0"/>
              </a:spcBef>
              <a:spcAft>
                <a:spcPts val="0"/>
              </a:spcAft>
              <a:buNone/>
            </a:pPr>
            <a:r>
              <a:rPr lang="en-US" sz="1800" b="0" i="0" u="none" strike="noStrike" dirty="0">
                <a:solidFill>
                  <a:srgbClr val="212121"/>
                </a:solidFill>
                <a:effectLst/>
                <a:latin typeface="Courier New" panose="02070309020205020404" pitchFamily="49" charset="0"/>
              </a:rPr>
              <a:t>Please Ask Question:</a:t>
            </a:r>
            <a:endParaRPr lang="en-US" sz="2000" b="0" dirty="0">
              <a:effectLst/>
            </a:endParaRPr>
          </a:p>
          <a:p>
            <a:pPr marL="457200" rtl="0">
              <a:spcBef>
                <a:spcPts val="0"/>
              </a:spcBef>
              <a:spcAft>
                <a:spcPts val="0"/>
              </a:spcAft>
            </a:pPr>
            <a:r>
              <a:rPr lang="en-US" sz="1800" b="0" i="0" u="none" strike="noStrike" dirty="0">
                <a:solidFill>
                  <a:srgbClr val="FF0000"/>
                </a:solidFill>
                <a:effectLst/>
                <a:latin typeface="Courier New" panose="02070309020205020404" pitchFamily="49" charset="0"/>
              </a:rPr>
              <a:t>What is the capital of India?</a:t>
            </a:r>
            <a:endParaRPr lang="en-US" sz="2000" b="0" dirty="0">
              <a:effectLst/>
            </a:endParaRPr>
          </a:p>
          <a:p>
            <a:pPr marL="457200" rtl="0">
              <a:spcBef>
                <a:spcPts val="0"/>
              </a:spcBef>
              <a:spcAft>
                <a:spcPts val="0"/>
              </a:spcAft>
            </a:pPr>
            <a:r>
              <a:rPr lang="en-US" sz="1800" b="0" i="0" u="none" strike="noStrike" dirty="0">
                <a:solidFill>
                  <a:srgbClr val="0000FF"/>
                </a:solidFill>
                <a:effectLst/>
                <a:latin typeface="Courier New" panose="02070309020205020404" pitchFamily="49" charset="0"/>
              </a:rPr>
              <a:t>new </a:t>
            </a:r>
            <a:r>
              <a:rPr lang="en-US" sz="1800" b="0" i="0" u="none" strike="noStrike" dirty="0" err="1">
                <a:solidFill>
                  <a:srgbClr val="0000FF"/>
                </a:solidFill>
                <a:effectLst/>
                <a:latin typeface="Courier New" panose="02070309020205020404" pitchFamily="49" charset="0"/>
              </a:rPr>
              <a:t>delhi</a:t>
            </a:r>
            <a:endParaRPr lang="en-US" sz="2000" b="0" dirty="0">
              <a:effectLst/>
            </a:endParaRPr>
          </a:p>
          <a:p>
            <a:pPr marL="114300" indent="0" rtl="0">
              <a:spcBef>
                <a:spcPts val="0"/>
              </a:spcBef>
              <a:spcAft>
                <a:spcPts val="0"/>
              </a:spcAft>
              <a:buNone/>
            </a:pPr>
            <a:r>
              <a:rPr lang="en-US" sz="1800" b="0" i="0" u="none" strike="noStrike" dirty="0">
                <a:solidFill>
                  <a:srgbClr val="212121"/>
                </a:solidFill>
                <a:effectLst/>
                <a:latin typeface="Courier New" panose="02070309020205020404" pitchFamily="49" charset="0"/>
              </a:rPr>
              <a:t>Please Ask Question:</a:t>
            </a:r>
            <a:endParaRPr lang="en-US" sz="2000" b="0" dirty="0">
              <a:effectLst/>
            </a:endParaRPr>
          </a:p>
          <a:p>
            <a:pPr marL="457200" rtl="0">
              <a:spcBef>
                <a:spcPts val="0"/>
              </a:spcBef>
              <a:spcAft>
                <a:spcPts val="0"/>
              </a:spcAft>
            </a:pPr>
            <a:r>
              <a:rPr lang="en-US" sz="1800" b="0" i="0" u="none" strike="noStrike" dirty="0">
                <a:solidFill>
                  <a:srgbClr val="FF0000"/>
                </a:solidFill>
                <a:effectLst/>
                <a:latin typeface="Courier New" panose="02070309020205020404" pitchFamily="49" charset="0"/>
              </a:rPr>
              <a:t>what is the capital of </a:t>
            </a:r>
            <a:r>
              <a:rPr lang="en-US" sz="1800" b="0" i="0" u="none" strike="noStrike" dirty="0" err="1">
                <a:solidFill>
                  <a:srgbClr val="FF0000"/>
                </a:solidFill>
                <a:effectLst/>
                <a:latin typeface="Courier New" panose="02070309020205020404" pitchFamily="49" charset="0"/>
              </a:rPr>
              <a:t>england</a:t>
            </a:r>
            <a:r>
              <a:rPr lang="en-US" sz="1800" b="0" i="0" u="none" strike="noStrike" dirty="0">
                <a:solidFill>
                  <a:srgbClr val="FF0000"/>
                </a:solidFill>
                <a:effectLst/>
                <a:latin typeface="Courier New" panose="02070309020205020404" pitchFamily="49" charset="0"/>
              </a:rPr>
              <a:t> ?</a:t>
            </a:r>
            <a:endParaRPr lang="en-US" sz="2000" b="0" dirty="0">
              <a:effectLst/>
            </a:endParaRPr>
          </a:p>
          <a:p>
            <a:pPr marL="457200" rtl="0">
              <a:spcBef>
                <a:spcPts val="0"/>
              </a:spcBef>
              <a:spcAft>
                <a:spcPts val="0"/>
              </a:spcAft>
            </a:pPr>
            <a:r>
              <a:rPr lang="en-US" sz="1800" b="0" i="0" u="none" strike="noStrike" dirty="0" err="1">
                <a:solidFill>
                  <a:srgbClr val="0000FF"/>
                </a:solidFill>
                <a:effectLst/>
                <a:latin typeface="Courier New" panose="02070309020205020404" pitchFamily="49" charset="0"/>
              </a:rPr>
              <a:t>london</a:t>
            </a:r>
            <a:endParaRPr lang="en-US" sz="2000" b="0" dirty="0">
              <a:effectLst/>
            </a:endParaRPr>
          </a:p>
          <a:p>
            <a:pPr marL="114300" indent="0" rtl="0">
              <a:spcBef>
                <a:spcPts val="0"/>
              </a:spcBef>
              <a:spcAft>
                <a:spcPts val="0"/>
              </a:spcAft>
              <a:buNone/>
            </a:pPr>
            <a:r>
              <a:rPr lang="en-US" sz="1800" b="0" i="0" u="none" strike="noStrike" dirty="0">
                <a:solidFill>
                  <a:srgbClr val="212121"/>
                </a:solidFill>
                <a:effectLst/>
                <a:latin typeface="Courier New" panose="02070309020205020404" pitchFamily="49" charset="0"/>
              </a:rPr>
              <a:t>Please Ask Question:</a:t>
            </a:r>
            <a:endParaRPr lang="en-US" sz="2000" b="0" dirty="0">
              <a:effectLst/>
            </a:endParaRPr>
          </a:p>
          <a:p>
            <a:pPr marL="457200" rtl="0">
              <a:spcBef>
                <a:spcPts val="0"/>
              </a:spcBef>
              <a:spcAft>
                <a:spcPts val="0"/>
              </a:spcAft>
            </a:pPr>
            <a:r>
              <a:rPr lang="en-US" sz="1800" b="0" i="0" u="none" strike="noStrike" dirty="0">
                <a:solidFill>
                  <a:srgbClr val="FF0000"/>
                </a:solidFill>
                <a:effectLst/>
                <a:latin typeface="Courier New" panose="02070309020205020404" pitchFamily="49" charset="0"/>
              </a:rPr>
              <a:t>who is the director of the movie titanic ?</a:t>
            </a:r>
            <a:endParaRPr lang="en-US" sz="2000" b="0" dirty="0">
              <a:effectLst/>
            </a:endParaRPr>
          </a:p>
          <a:p>
            <a:pPr marL="457200" rtl="0">
              <a:spcBef>
                <a:spcPts val="0"/>
              </a:spcBef>
              <a:spcAft>
                <a:spcPts val="1600"/>
              </a:spcAft>
            </a:pPr>
            <a:r>
              <a:rPr lang="en-US" sz="1800" b="0" i="0" u="none" strike="noStrike" dirty="0" err="1">
                <a:solidFill>
                  <a:srgbClr val="0000FF"/>
                </a:solidFill>
                <a:effectLst/>
                <a:latin typeface="Courier New" panose="02070309020205020404" pitchFamily="49" charset="0"/>
              </a:rPr>
              <a:t>james</a:t>
            </a:r>
            <a:r>
              <a:rPr lang="en-US" sz="1800" b="0" i="0" u="none" strike="noStrike" dirty="0">
                <a:solidFill>
                  <a:srgbClr val="0000FF"/>
                </a:solidFill>
                <a:effectLst/>
                <a:latin typeface="Courier New" panose="02070309020205020404" pitchFamily="49" charset="0"/>
              </a:rPr>
              <a:t> </a:t>
            </a:r>
            <a:r>
              <a:rPr lang="en-US" sz="1800" b="0" i="0" u="none" strike="noStrike" dirty="0" err="1">
                <a:solidFill>
                  <a:srgbClr val="0000FF"/>
                </a:solidFill>
                <a:effectLst/>
                <a:latin typeface="Courier New" panose="02070309020205020404" pitchFamily="49" charset="0"/>
              </a:rPr>
              <a:t>cameron</a:t>
            </a:r>
            <a:endParaRPr lang="en-US" sz="1600" strike="noStrike" dirty="0">
              <a:effectLst/>
              <a:latin typeface="+mn-lt"/>
            </a:endParaRPr>
          </a:p>
          <a:p>
            <a:pPr marL="342900" indent="-342900">
              <a:buFont typeface="+mj-lt"/>
              <a:buAutoNum type="arabicPeriod"/>
            </a:pPr>
            <a:endParaRPr lang="en-US" sz="1600" dirty="0">
              <a:latin typeface="+mn-lt"/>
            </a:endParaRPr>
          </a:p>
          <a:p>
            <a:pPr marL="342900" indent="-342900">
              <a:buFont typeface="+mj-lt"/>
              <a:buAutoNum type="arabicPeriod"/>
            </a:pPr>
            <a:endParaRPr lang="en-US" dirty="0"/>
          </a:p>
        </p:txBody>
      </p:sp>
      <p:sp>
        <p:nvSpPr>
          <p:cNvPr id="5" name="Action Button: Forward or Next 4">
            <a:hlinkClick r:id="rId2" action="ppaction://hlinksldjump" highlightClick="1"/>
          </p:cNvPr>
          <p:cNvSpPr/>
          <p:nvPr/>
        </p:nvSpPr>
        <p:spPr>
          <a:xfrm flipH="1">
            <a:off x="9156600" y="59562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Tree>
    <p:extLst>
      <p:ext uri="{BB962C8B-B14F-4D97-AF65-F5344CB8AC3E}">
        <p14:creationId xmlns:p14="http://schemas.microsoft.com/office/powerpoint/2010/main" val="146591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2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3"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graphicFrame>
        <p:nvGraphicFramePr>
          <p:cNvPr id="4" name="Object 3">
            <a:extLst>
              <a:ext uri="{FF2B5EF4-FFF2-40B4-BE49-F238E27FC236}">
                <a16:creationId xmlns:a16="http://schemas.microsoft.com/office/drawing/2014/main" xmlns="" id="{A2604385-CC29-478D-AA0E-7893F9B72FE2}"/>
              </a:ext>
            </a:extLst>
          </p:cNvPr>
          <p:cNvGraphicFramePr>
            <a:graphicFrameLocks noChangeAspect="1"/>
          </p:cNvGraphicFramePr>
          <p:nvPr>
            <p:extLst>
              <p:ext uri="{D42A27DB-BD31-4B8C-83A1-F6EECF244321}">
                <p14:modId xmlns:p14="http://schemas.microsoft.com/office/powerpoint/2010/main" val="1153206661"/>
              </p:ext>
            </p:extLst>
          </p:nvPr>
        </p:nvGraphicFramePr>
        <p:xfrm>
          <a:off x="5056188" y="3597275"/>
          <a:ext cx="381000" cy="792163"/>
        </p:xfrm>
        <a:graphic>
          <a:graphicData uri="http://schemas.openxmlformats.org/presentationml/2006/ole">
            <mc:AlternateContent xmlns:mc="http://schemas.openxmlformats.org/markup-compatibility/2006">
              <mc:Choice xmlns:v="urn:schemas-microsoft-com:vml" Requires="v">
                <p:oleObj spid="_x0000_s1026" name="Worksheet" showAsIcon="1" r:id="rId5" imgW="381071" imgH="792259" progId="Excel.Sheet.12">
                  <p:embed/>
                </p:oleObj>
              </mc:Choice>
              <mc:Fallback>
                <p:oleObj name="Worksheet" showAsIcon="1" r:id="rId5" imgW="381071" imgH="792259" progId="Excel.Sheet.12">
                  <p:embed/>
                  <p:pic>
                    <p:nvPicPr>
                      <p:cNvPr id="4" name="Object 3"/>
                      <p:cNvPicPr/>
                      <p:nvPr/>
                    </p:nvPicPr>
                    <p:blipFill>
                      <a:blip r:embed="rId6"/>
                      <a:stretch>
                        <a:fillRect/>
                      </a:stretch>
                    </p:blipFill>
                    <p:spPr>
                      <a:xfrm>
                        <a:off x="5056188" y="3597275"/>
                        <a:ext cx="381000" cy="792163"/>
                      </a:xfrm>
                      <a:prstGeom prst="rect">
                        <a:avLst/>
                      </a:prstGeom>
                    </p:spPr>
                  </p:pic>
                </p:oleObj>
              </mc:Fallback>
            </mc:AlternateContent>
          </a:graphicData>
        </a:graphic>
      </p:graphicFrame>
    </p:spTree>
    <p:extLst>
      <p:ext uri="{BB962C8B-B14F-4D97-AF65-F5344CB8AC3E}">
        <p14:creationId xmlns:p14="http://schemas.microsoft.com/office/powerpoint/2010/main" val="1175345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lstStyle/>
          <a:p>
            <a:pPr marL="0" indent="0">
              <a:buNone/>
            </a:pPr>
            <a:r>
              <a:rPr lang="en-US" sz="1600" dirty="0">
                <a:latin typeface="+mn-lt"/>
              </a:rPr>
              <a:t>Approach 1</a:t>
            </a:r>
            <a:r>
              <a:rPr lang="en-US" sz="1600" strike="noStrike" dirty="0">
                <a:effectLst/>
                <a:latin typeface="+mn-lt"/>
              </a:rPr>
              <a:t>:</a:t>
            </a:r>
          </a:p>
          <a:p>
            <a:pPr lvl="1">
              <a:buFont typeface="+mj-lt"/>
              <a:buAutoNum type="arabicPeriod"/>
            </a:pPr>
            <a:r>
              <a:rPr lang="en-US" sz="1600" dirty="0">
                <a:latin typeface="+mn-lt"/>
              </a:rPr>
              <a:t>	This approach combines the following tool chains:</a:t>
            </a:r>
          </a:p>
          <a:p>
            <a:pPr lvl="2"/>
            <a:r>
              <a:rPr lang="en-US" sz="1600" strike="noStrike" dirty="0">
                <a:effectLst/>
                <a:latin typeface="+mn-lt"/>
              </a:rPr>
              <a:t>Named Entity Recognition to extract entities</a:t>
            </a:r>
          </a:p>
          <a:p>
            <a:pPr lvl="2"/>
            <a:r>
              <a:rPr lang="en-US" sz="1600" dirty="0">
                <a:latin typeface="+mn-lt"/>
              </a:rPr>
              <a:t>Coreference resolution to track the entity mentions</a:t>
            </a:r>
          </a:p>
          <a:p>
            <a:pPr lvl="2"/>
            <a:r>
              <a:rPr lang="en-US" sz="1600" strike="noStrike" dirty="0">
                <a:effectLst/>
                <a:latin typeface="+mn-lt"/>
              </a:rPr>
              <a:t>Open information extractions to extract triples from </a:t>
            </a:r>
            <a:r>
              <a:rPr lang="en-US" sz="1600" dirty="0">
                <a:latin typeface="+mn-lt"/>
              </a:rPr>
              <a:t>sentences</a:t>
            </a:r>
          </a:p>
          <a:p>
            <a:pPr marL="800100" lvl="1" indent="-342900">
              <a:buFont typeface="+mj-lt"/>
              <a:buAutoNum type="arabicPeriod"/>
            </a:pPr>
            <a:r>
              <a:rPr lang="en-US" sz="1600" dirty="0">
                <a:latin typeface="+mn-lt"/>
              </a:rPr>
              <a:t>Scope: This method was tried on open domain (Extracted article from Wikipedia)</a:t>
            </a:r>
          </a:p>
          <a:p>
            <a:pPr marL="800100" lvl="1" indent="-342900">
              <a:buFont typeface="+mj-lt"/>
              <a:buAutoNum type="arabicPeriod"/>
            </a:pPr>
            <a:endParaRPr lang="en-US" sz="1600" dirty="0">
              <a:latin typeface="+mn-lt"/>
            </a:endParaRPr>
          </a:p>
          <a:p>
            <a:pPr marL="800100" lvl="1" indent="-342900">
              <a:buFont typeface="+mj-lt"/>
              <a:buAutoNum type="arabicPeriod"/>
            </a:pPr>
            <a:r>
              <a:rPr lang="en-US" sz="1600" dirty="0">
                <a:latin typeface="+mn-lt"/>
              </a:rPr>
              <a:t>Sample example</a:t>
            </a:r>
            <a:r>
              <a:rPr lang="en-US" sz="1600" strike="noStrike" dirty="0">
                <a:effectLst/>
                <a:latin typeface="+mn-lt"/>
              </a:rPr>
              <a:t>:</a:t>
            </a:r>
          </a:p>
          <a:p>
            <a:pPr marL="1200150" lvl="2" indent="-342900"/>
            <a:r>
              <a:rPr lang="en-US" sz="1600" dirty="0">
                <a:latin typeface="+mn-lt"/>
              </a:rPr>
              <a:t>Sentence: “</a:t>
            </a:r>
            <a:r>
              <a:rPr lang="en-US" sz="1600" i="1" dirty="0">
                <a:latin typeface="+mn-lt"/>
              </a:rPr>
              <a:t>Kolkata is known as the "cultural capital of India" for the city's historical and architectural significance</a:t>
            </a:r>
            <a:r>
              <a:rPr lang="en-US" sz="1600" dirty="0">
                <a:latin typeface="+mn-lt"/>
              </a:rPr>
              <a:t>.”</a:t>
            </a:r>
          </a:p>
          <a:p>
            <a:pPr marL="1200150" lvl="2" indent="-342900"/>
            <a:r>
              <a:rPr lang="en-US" sz="1600" strike="noStrike" dirty="0">
                <a:effectLst/>
                <a:latin typeface="+mn-lt"/>
              </a:rPr>
              <a:t>Extracted triples:</a:t>
            </a:r>
          </a:p>
          <a:p>
            <a:pPr marL="1200150" lvl="2" indent="-342900">
              <a:buFont typeface="+mj-lt"/>
              <a:buAutoNum type="arabicPeriod"/>
            </a:pPr>
            <a:endParaRPr lang="en-US" sz="1600" strike="noStrike" dirty="0">
              <a:effectLst/>
              <a:latin typeface="+mn-lt"/>
            </a:endParaRPr>
          </a:p>
          <a:p>
            <a:pPr marL="1200150" lvl="2" indent="-342900">
              <a:buFont typeface="+mj-lt"/>
              <a:buAutoNum type="arabicPeriod"/>
            </a:pPr>
            <a:endParaRPr lang="en-US" sz="1600" dirty="0">
              <a:latin typeface="+mn-lt"/>
            </a:endParaRPr>
          </a:p>
          <a:p>
            <a:pPr marL="1200150" lvl="2" indent="-342900">
              <a:buFont typeface="+mj-lt"/>
              <a:buAutoNum type="arabicPeriod"/>
            </a:pPr>
            <a:endParaRPr lang="en-US" sz="1600" strike="noStrike" dirty="0">
              <a:effectLst/>
              <a:latin typeface="+mn-lt"/>
            </a:endParaRPr>
          </a:p>
          <a:p>
            <a:pPr marL="1314450" lvl="3" indent="0">
              <a:buNone/>
            </a:pPr>
            <a:endParaRPr lang="en-US" sz="1600" strike="noStrike" dirty="0">
              <a:effectLst/>
              <a:latin typeface="+mn-lt"/>
            </a:endParaRPr>
          </a:p>
          <a:p>
            <a:pPr marL="800100" lvl="1" indent="-342900">
              <a:buFont typeface="+mj-lt"/>
              <a:buAutoNum type="arabicPeriod"/>
            </a:pPr>
            <a:r>
              <a:rPr lang="en-US" sz="1600" dirty="0">
                <a:latin typeface="+mn-lt"/>
              </a:rPr>
              <a:t>Remarks</a:t>
            </a:r>
            <a:endParaRPr lang="en-US" sz="1600" strike="noStrike" dirty="0">
              <a:effectLst/>
              <a:latin typeface="+mn-lt"/>
            </a:endParaRPr>
          </a:p>
          <a:p>
            <a:pPr marL="1200150" lvl="2" indent="-342900"/>
            <a:r>
              <a:rPr lang="en-US" sz="1600" dirty="0">
                <a:latin typeface="+mn-lt"/>
              </a:rPr>
              <a:t>It generates noisy redundant triples, also extraction tool misses out important triples.</a:t>
            </a:r>
          </a:p>
          <a:p>
            <a:pPr marL="1200150" lvl="2" indent="-342900"/>
            <a:endParaRPr lang="en-US" sz="1600" strike="noStrike" dirty="0">
              <a:effectLst/>
              <a:latin typeface="+mn-lt"/>
            </a:endParaRPr>
          </a:p>
          <a:p>
            <a:pPr marL="342900" indent="-342900">
              <a:buFont typeface="+mj-lt"/>
              <a:buAutoNum type="arabicPeriod"/>
            </a:pPr>
            <a:endParaRPr lang="en-US" sz="1600" dirty="0">
              <a:latin typeface="+mn-lt"/>
            </a:endParaRPr>
          </a:p>
          <a:p>
            <a:pPr marL="342900" indent="-342900">
              <a:buFont typeface="+mj-lt"/>
              <a:buAutoNum type="arabicPeriod"/>
            </a:pPr>
            <a:endParaRPr lang="en-US" dirty="0"/>
          </a:p>
        </p:txBody>
      </p:sp>
      <p:graphicFrame>
        <p:nvGraphicFramePr>
          <p:cNvPr id="7" name="Table 6">
            <a:extLst>
              <a:ext uri="{FF2B5EF4-FFF2-40B4-BE49-F238E27FC236}">
                <a16:creationId xmlns:a16="http://schemas.microsoft.com/office/drawing/2014/main" xmlns="" id="{4584CC6F-C541-42D4-B7A8-D5B0EFA2205A}"/>
              </a:ext>
            </a:extLst>
          </p:cNvPr>
          <p:cNvGraphicFramePr>
            <a:graphicFrameLocks noGrp="1"/>
          </p:cNvGraphicFramePr>
          <p:nvPr>
            <p:extLst>
              <p:ext uri="{D42A27DB-BD31-4B8C-83A1-F6EECF244321}">
                <p14:modId xmlns:p14="http://schemas.microsoft.com/office/powerpoint/2010/main" val="1838838102"/>
              </p:ext>
            </p:extLst>
          </p:nvPr>
        </p:nvGraphicFramePr>
        <p:xfrm>
          <a:off x="1905000" y="4419600"/>
          <a:ext cx="5816600" cy="914400"/>
        </p:xfrm>
        <a:graphic>
          <a:graphicData uri="http://schemas.openxmlformats.org/drawingml/2006/table">
            <a:tbl>
              <a:tblPr>
                <a:tableStyleId>{5C22544A-7EE6-4342-B048-85BDC9FD1C3A}</a:tableStyleId>
              </a:tblPr>
              <a:tblGrid>
                <a:gridCol w="1879600">
                  <a:extLst>
                    <a:ext uri="{9D8B030D-6E8A-4147-A177-3AD203B41FA5}">
                      <a16:colId xmlns:a16="http://schemas.microsoft.com/office/drawing/2014/main" xmlns="" val="4275760183"/>
                    </a:ext>
                  </a:extLst>
                </a:gridCol>
                <a:gridCol w="1447800">
                  <a:extLst>
                    <a:ext uri="{9D8B030D-6E8A-4147-A177-3AD203B41FA5}">
                      <a16:colId xmlns:a16="http://schemas.microsoft.com/office/drawing/2014/main" xmlns="" val="1735521616"/>
                    </a:ext>
                  </a:extLst>
                </a:gridCol>
                <a:gridCol w="2489200">
                  <a:extLst>
                    <a:ext uri="{9D8B030D-6E8A-4147-A177-3AD203B41FA5}">
                      <a16:colId xmlns:a16="http://schemas.microsoft.com/office/drawing/2014/main" xmlns="" val="940562041"/>
                    </a:ext>
                  </a:extLst>
                </a:gridCol>
              </a:tblGrid>
              <a:tr h="182880">
                <a:tc>
                  <a:txBody>
                    <a:bodyPr/>
                    <a:lstStyle/>
                    <a:p>
                      <a:pPr algn="l" fontAlgn="ctr"/>
                      <a:r>
                        <a:rPr lang="en-GB" sz="1100" u="none" strike="noStrike">
                          <a:effectLst/>
                        </a:rPr>
                        <a:t>Kolkata</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is known as </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cultural capital of India</a:t>
                      </a:r>
                      <a:endParaRPr lang="en-GB"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903773122"/>
                  </a:ext>
                </a:extLst>
              </a:tr>
              <a:tr h="182880">
                <a:tc>
                  <a:txBody>
                    <a:bodyPr/>
                    <a:lstStyle/>
                    <a:p>
                      <a:pPr algn="l" fontAlgn="ctr"/>
                      <a:r>
                        <a:rPr lang="en-GB" sz="1100" u="none" strike="noStrike">
                          <a:effectLst/>
                        </a:rPr>
                        <a:t>Kolkata</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is known as </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cultural capital</a:t>
                      </a:r>
                      <a:endParaRPr lang="en-GB"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1954717445"/>
                  </a:ext>
                </a:extLst>
              </a:tr>
              <a:tr h="182880">
                <a:tc>
                  <a:txBody>
                    <a:bodyPr/>
                    <a:lstStyle/>
                    <a:p>
                      <a:pPr algn="l" fontAlgn="ctr"/>
                      <a:r>
                        <a:rPr lang="en-GB" sz="1100" u="none" strike="noStrike">
                          <a:effectLst/>
                        </a:rPr>
                        <a:t>Kolkata</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is known as </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capital for city 's historical significance</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4081796269"/>
                  </a:ext>
                </a:extLst>
              </a:tr>
              <a:tr h="365760">
                <a:tc>
                  <a:txBody>
                    <a:bodyPr/>
                    <a:lstStyle/>
                    <a:p>
                      <a:pPr algn="l" fontAlgn="ctr"/>
                      <a:r>
                        <a:rPr lang="en-GB" sz="1100" u="none" strike="noStrike">
                          <a:effectLst/>
                        </a:rPr>
                        <a:t>Kolkata</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 is known as </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dirty="0">
                          <a:effectLst/>
                        </a:rPr>
                        <a:t> cultural capital for city 's historical significance</a:t>
                      </a:r>
                      <a:endParaRPr lang="en-GB"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888734872"/>
                  </a:ext>
                </a:extLst>
              </a:tr>
            </a:tbl>
          </a:graphicData>
        </a:graphic>
      </p:graphicFrame>
    </p:spTree>
    <p:extLst>
      <p:ext uri="{BB962C8B-B14F-4D97-AF65-F5344CB8AC3E}">
        <p14:creationId xmlns:p14="http://schemas.microsoft.com/office/powerpoint/2010/main" val="234947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2</a:t>
            </a:r>
            <a:r>
              <a:rPr lang="en-US" sz="1600" strike="noStrike" dirty="0">
                <a:effectLst/>
                <a:latin typeface="+mn-lt"/>
              </a:rPr>
              <a:t>:</a:t>
            </a:r>
          </a:p>
          <a:p>
            <a:pPr lvl="1">
              <a:buFont typeface="+mj-lt"/>
              <a:buAutoNum type="arabicPeriod"/>
            </a:pPr>
            <a:r>
              <a:rPr lang="en-US" sz="1600" dirty="0">
                <a:latin typeface="+mn-lt"/>
              </a:rPr>
              <a:t>This approach is relies mainly on rule-based dependency parsing to extract information, along with OPEN IE, NER and coreference modules. It also prunes unnecessary relations.</a:t>
            </a:r>
          </a:p>
          <a:p>
            <a:pPr lvl="1">
              <a:buFont typeface="+mj-lt"/>
              <a:buAutoNum type="arabicPeriod"/>
            </a:pPr>
            <a:r>
              <a:rPr lang="en-US" sz="1600" dirty="0">
                <a:latin typeface="+mn-lt"/>
              </a:rPr>
              <a:t>Scope: This method was tried on open domain (Extracted article from Wikipedia) as well as Manual specific .</a:t>
            </a:r>
          </a:p>
          <a:p>
            <a:pPr marL="800100" lvl="1" indent="-342900">
              <a:buFont typeface="+mj-lt"/>
              <a:buAutoNum type="arabicPeriod"/>
            </a:pPr>
            <a:endParaRPr lang="en-US" sz="1600" dirty="0">
              <a:latin typeface="+mn-lt"/>
            </a:endParaRPr>
          </a:p>
          <a:p>
            <a:pPr marL="800100" lvl="1" indent="-342900">
              <a:buFont typeface="+mj-lt"/>
              <a:buAutoNum type="arabicPeriod"/>
            </a:pPr>
            <a:r>
              <a:rPr lang="en-US" sz="1600" dirty="0">
                <a:latin typeface="+mn-lt"/>
              </a:rPr>
              <a:t>Sample example</a:t>
            </a:r>
            <a:r>
              <a:rPr lang="en-US" sz="1600" strike="noStrike" dirty="0">
                <a:effectLst/>
                <a:latin typeface="+mn-lt"/>
              </a:rPr>
              <a:t>:</a:t>
            </a:r>
          </a:p>
          <a:p>
            <a:pPr marL="1200150" lvl="2" indent="-342900"/>
            <a:r>
              <a:rPr lang="en-US" sz="1600" dirty="0">
                <a:latin typeface="+mn-lt"/>
              </a:rPr>
              <a:t>Sentence: “</a:t>
            </a:r>
            <a:r>
              <a:rPr lang="en-US" sz="1600" i="1" dirty="0">
                <a:latin typeface="+mn-lt"/>
              </a:rPr>
              <a:t>Kolkata is known as the "cultural capital of India" for the city's historical and architectural significance</a:t>
            </a:r>
            <a:r>
              <a:rPr lang="en-US" sz="1600" dirty="0">
                <a:latin typeface="+mn-lt"/>
              </a:rPr>
              <a:t>.”</a:t>
            </a:r>
          </a:p>
          <a:p>
            <a:pPr marL="1200150" lvl="2" indent="-342900"/>
            <a:r>
              <a:rPr lang="en-US" sz="1600" strike="noStrike" dirty="0">
                <a:effectLst/>
                <a:latin typeface="+mn-lt"/>
              </a:rPr>
              <a:t>Extracted triples:</a:t>
            </a:r>
          </a:p>
          <a:p>
            <a:pPr marL="1200150" lvl="2" indent="-342900"/>
            <a:endParaRPr lang="en-US" sz="1600" strike="noStrike" dirty="0">
              <a:effectLst/>
              <a:latin typeface="+mn-lt"/>
            </a:endParaRPr>
          </a:p>
          <a:p>
            <a:pPr marL="1200150" lvl="2" indent="-342900">
              <a:buFont typeface="+mj-lt"/>
              <a:buAutoNum type="arabicPeriod"/>
            </a:pPr>
            <a:endParaRPr lang="en-US" sz="1600" strike="noStrike" dirty="0">
              <a:effectLst/>
              <a:latin typeface="+mn-lt"/>
            </a:endParaRPr>
          </a:p>
          <a:p>
            <a:pPr marL="1200150" lvl="2" indent="-342900"/>
            <a:r>
              <a:rPr lang="en-US" sz="1600" dirty="0">
                <a:latin typeface="+mn-lt"/>
              </a:rPr>
              <a:t>Sentence: “</a:t>
            </a:r>
            <a:r>
              <a:rPr lang="en-US" sz="1800" b="0" i="0" u="none" strike="noStrike" dirty="0">
                <a:solidFill>
                  <a:srgbClr val="000000"/>
                </a:solidFill>
                <a:effectLst/>
                <a:latin typeface="Calibri" panose="020F0502020204030204" pitchFamily="34" charset="0"/>
              </a:rPr>
              <a:t>The washer automatically  adjusts the wash time for  the amount of laundry, water  pressure and other operating  conditions. </a:t>
            </a:r>
            <a:r>
              <a:rPr lang="en-US" sz="1600" dirty="0">
                <a:latin typeface="+mn-lt"/>
              </a:rPr>
              <a:t>”</a:t>
            </a:r>
          </a:p>
          <a:p>
            <a:pPr marL="1200150" lvl="2" indent="-342900"/>
            <a:endParaRPr lang="en-US" sz="1600" dirty="0">
              <a:latin typeface="+mn-lt"/>
            </a:endParaRPr>
          </a:p>
          <a:p>
            <a:pPr marL="857250" lvl="2" indent="0">
              <a:buNone/>
            </a:pPr>
            <a:endParaRPr lang="en-US" sz="1600" strike="noStrike" dirty="0">
              <a:effectLst/>
              <a:latin typeface="+mn-lt"/>
            </a:endParaRPr>
          </a:p>
          <a:p>
            <a:pPr marL="1314450" lvl="3" indent="0">
              <a:buNone/>
            </a:pPr>
            <a:endParaRPr lang="en-US" sz="1600" strike="noStrike" dirty="0">
              <a:effectLst/>
              <a:latin typeface="+mn-lt"/>
            </a:endParaRPr>
          </a:p>
          <a:p>
            <a:pPr marL="342900" indent="-342900">
              <a:buFont typeface="+mj-lt"/>
              <a:buAutoNum type="arabicPeriod"/>
            </a:pPr>
            <a:endParaRPr lang="en-US" dirty="0"/>
          </a:p>
        </p:txBody>
      </p:sp>
      <p:graphicFrame>
        <p:nvGraphicFramePr>
          <p:cNvPr id="3" name="Table 2">
            <a:extLst>
              <a:ext uri="{FF2B5EF4-FFF2-40B4-BE49-F238E27FC236}">
                <a16:creationId xmlns:a16="http://schemas.microsoft.com/office/drawing/2014/main" xmlns="" id="{5A0A393E-776E-42F3-BC2C-1CC34FA987E8}"/>
              </a:ext>
            </a:extLst>
          </p:cNvPr>
          <p:cNvGraphicFramePr>
            <a:graphicFrameLocks noGrp="1"/>
          </p:cNvGraphicFramePr>
          <p:nvPr>
            <p:extLst>
              <p:ext uri="{D42A27DB-BD31-4B8C-83A1-F6EECF244321}">
                <p14:modId xmlns:p14="http://schemas.microsoft.com/office/powerpoint/2010/main" val="2909196877"/>
              </p:ext>
            </p:extLst>
          </p:nvPr>
        </p:nvGraphicFramePr>
        <p:xfrm>
          <a:off x="2044700" y="3657600"/>
          <a:ext cx="5816600" cy="548640"/>
        </p:xfrm>
        <a:graphic>
          <a:graphicData uri="http://schemas.openxmlformats.org/drawingml/2006/table">
            <a:tbl>
              <a:tblPr>
                <a:tableStyleId>{5C22544A-7EE6-4342-B048-85BDC9FD1C3A}</a:tableStyleId>
              </a:tblPr>
              <a:tblGrid>
                <a:gridCol w="1879600">
                  <a:extLst>
                    <a:ext uri="{9D8B030D-6E8A-4147-A177-3AD203B41FA5}">
                      <a16:colId xmlns:a16="http://schemas.microsoft.com/office/drawing/2014/main" xmlns="" val="1079831969"/>
                    </a:ext>
                  </a:extLst>
                </a:gridCol>
                <a:gridCol w="1447800">
                  <a:extLst>
                    <a:ext uri="{9D8B030D-6E8A-4147-A177-3AD203B41FA5}">
                      <a16:colId xmlns:a16="http://schemas.microsoft.com/office/drawing/2014/main" xmlns="" val="548381310"/>
                    </a:ext>
                  </a:extLst>
                </a:gridCol>
                <a:gridCol w="2489200">
                  <a:extLst>
                    <a:ext uri="{9D8B030D-6E8A-4147-A177-3AD203B41FA5}">
                      <a16:colId xmlns:a16="http://schemas.microsoft.com/office/drawing/2014/main" xmlns="" val="2139704291"/>
                    </a:ext>
                  </a:extLst>
                </a:gridCol>
              </a:tblGrid>
              <a:tr h="182880">
                <a:tc>
                  <a:txBody>
                    <a:bodyPr/>
                    <a:lstStyle/>
                    <a:p>
                      <a:pPr algn="l" fontAlgn="ctr"/>
                      <a:r>
                        <a:rPr lang="en-GB" sz="1100" u="none" strike="noStrike">
                          <a:effectLst/>
                        </a:rPr>
                        <a:t>Head</a:t>
                      </a:r>
                      <a:endParaRPr lang="en-GB" sz="11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Rel </a:t>
                      </a:r>
                      <a:endParaRPr lang="en-GB" sz="11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Tail</a:t>
                      </a:r>
                      <a:endParaRPr lang="en-GB" sz="11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663600104"/>
                  </a:ext>
                </a:extLst>
              </a:tr>
              <a:tr h="365760">
                <a:tc>
                  <a:txBody>
                    <a:bodyPr/>
                    <a:lstStyle/>
                    <a:p>
                      <a:pPr algn="l" fontAlgn="ctr"/>
                      <a:r>
                        <a:rPr lang="en-GB" sz="1100" u="none" strike="noStrike" dirty="0">
                          <a:effectLst/>
                        </a:rPr>
                        <a:t>Kolkata</a:t>
                      </a:r>
                      <a:endParaRPr lang="en-GB"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is known as</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dirty="0">
                          <a:effectLst/>
                        </a:rPr>
                        <a:t>cultural capital of India </a:t>
                      </a:r>
                      <a:endParaRPr lang="en-GB"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4076511670"/>
                  </a:ext>
                </a:extLst>
              </a:tr>
            </a:tbl>
          </a:graphicData>
        </a:graphic>
      </p:graphicFrame>
      <p:graphicFrame>
        <p:nvGraphicFramePr>
          <p:cNvPr id="4" name="Table 3">
            <a:extLst>
              <a:ext uri="{FF2B5EF4-FFF2-40B4-BE49-F238E27FC236}">
                <a16:creationId xmlns:a16="http://schemas.microsoft.com/office/drawing/2014/main" xmlns="" id="{B1FA80BF-9AE5-4079-85A3-FDB479C5FB86}"/>
              </a:ext>
            </a:extLst>
          </p:cNvPr>
          <p:cNvGraphicFramePr>
            <a:graphicFrameLocks noGrp="1"/>
          </p:cNvGraphicFramePr>
          <p:nvPr>
            <p:extLst>
              <p:ext uri="{D42A27DB-BD31-4B8C-83A1-F6EECF244321}">
                <p14:modId xmlns:p14="http://schemas.microsoft.com/office/powerpoint/2010/main" val="2412448600"/>
              </p:ext>
            </p:extLst>
          </p:nvPr>
        </p:nvGraphicFramePr>
        <p:xfrm>
          <a:off x="2044700" y="5251858"/>
          <a:ext cx="5816600" cy="533400"/>
        </p:xfrm>
        <a:graphic>
          <a:graphicData uri="http://schemas.openxmlformats.org/drawingml/2006/table">
            <a:tbl>
              <a:tblPr>
                <a:tableStyleId>{5C22544A-7EE6-4342-B048-85BDC9FD1C3A}</a:tableStyleId>
              </a:tblPr>
              <a:tblGrid>
                <a:gridCol w="1879600">
                  <a:extLst>
                    <a:ext uri="{9D8B030D-6E8A-4147-A177-3AD203B41FA5}">
                      <a16:colId xmlns:a16="http://schemas.microsoft.com/office/drawing/2014/main" xmlns="" val="2623120925"/>
                    </a:ext>
                  </a:extLst>
                </a:gridCol>
                <a:gridCol w="1447800">
                  <a:extLst>
                    <a:ext uri="{9D8B030D-6E8A-4147-A177-3AD203B41FA5}">
                      <a16:colId xmlns:a16="http://schemas.microsoft.com/office/drawing/2014/main" xmlns="" val="3115990287"/>
                    </a:ext>
                  </a:extLst>
                </a:gridCol>
                <a:gridCol w="2489200">
                  <a:extLst>
                    <a:ext uri="{9D8B030D-6E8A-4147-A177-3AD203B41FA5}">
                      <a16:colId xmlns:a16="http://schemas.microsoft.com/office/drawing/2014/main" xmlns="" val="205237683"/>
                    </a:ext>
                  </a:extLst>
                </a:gridCol>
              </a:tblGrid>
              <a:tr h="266700">
                <a:tc>
                  <a:txBody>
                    <a:bodyPr/>
                    <a:lstStyle/>
                    <a:p>
                      <a:pPr algn="l" fontAlgn="ctr"/>
                      <a:r>
                        <a:rPr lang="en-GB" sz="1100" b="0" i="0" u="none" strike="noStrike" dirty="0">
                          <a:solidFill>
                            <a:srgbClr val="000000"/>
                          </a:solidFill>
                          <a:effectLst/>
                          <a:latin typeface="Calibri" panose="020F0502020204030204" pitchFamily="34" charset="0"/>
                        </a:rPr>
                        <a:t>Head</a:t>
                      </a:r>
                    </a:p>
                  </a:txBody>
                  <a:tcPr marL="7620" marR="7620" marT="7620" marB="0" anchor="ctr"/>
                </a:tc>
                <a:tc>
                  <a:txBody>
                    <a:bodyPr/>
                    <a:lstStyle/>
                    <a:p>
                      <a:pPr algn="l" fontAlgn="ctr"/>
                      <a:r>
                        <a:rPr lang="en-GB" sz="1100" b="0" i="0" u="none" strike="noStrike" dirty="0" err="1">
                          <a:solidFill>
                            <a:srgbClr val="000000"/>
                          </a:solidFill>
                          <a:effectLst/>
                          <a:latin typeface="Calibri" panose="020F0502020204030204" pitchFamily="34" charset="0"/>
                        </a:rPr>
                        <a:t>Rel</a:t>
                      </a:r>
                      <a:endParaRPr lang="en-GB"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b="0" i="0" u="none" strike="noStrike" dirty="0">
                          <a:solidFill>
                            <a:srgbClr val="000000"/>
                          </a:solidFill>
                          <a:effectLst/>
                          <a:latin typeface="Calibri" panose="020F0502020204030204" pitchFamily="34" charset="0"/>
                        </a:rPr>
                        <a:t>Tail</a:t>
                      </a:r>
                    </a:p>
                  </a:txBody>
                  <a:tcPr marL="7620" marR="7620" marT="7620" marB="0" anchor="ctr"/>
                </a:tc>
                <a:extLst>
                  <a:ext uri="{0D108BD9-81ED-4DB2-BD59-A6C34878D82A}">
                    <a16:rowId xmlns:a16="http://schemas.microsoft.com/office/drawing/2014/main" xmlns="" val="481700421"/>
                  </a:ext>
                </a:extLst>
              </a:tr>
              <a:tr h="2667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u="none" strike="noStrike" dirty="0">
                          <a:effectLst/>
                        </a:rPr>
                        <a:t>washer</a:t>
                      </a:r>
                      <a:endParaRPr lang="en-GB"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u="none" strike="noStrike" dirty="0">
                          <a:effectLst/>
                        </a:rPr>
                        <a:t>automatically adjusts</a:t>
                      </a:r>
                      <a:endParaRPr lang="en-GB"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u="none" strike="noStrike" dirty="0">
                          <a:effectLst/>
                        </a:rPr>
                        <a:t>wash time</a:t>
                      </a:r>
                      <a:endParaRPr lang="en-GB"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1704465526"/>
                  </a:ext>
                </a:extLst>
              </a:tr>
            </a:tbl>
          </a:graphicData>
        </a:graphic>
      </p:graphicFrame>
    </p:spTree>
    <p:extLst>
      <p:ext uri="{BB962C8B-B14F-4D97-AF65-F5344CB8AC3E}">
        <p14:creationId xmlns:p14="http://schemas.microsoft.com/office/powerpoint/2010/main" val="111738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2</a:t>
            </a:r>
            <a:r>
              <a:rPr lang="en-US" sz="1600" strike="noStrike" dirty="0">
                <a:effectLst/>
                <a:latin typeface="+mn-lt"/>
              </a:rPr>
              <a:t>:</a:t>
            </a:r>
          </a:p>
          <a:p>
            <a:pPr marL="800100" lvl="1" indent="-342900">
              <a:buFont typeface="+mj-lt"/>
              <a:buAutoNum type="arabicPeriod"/>
            </a:pPr>
            <a:r>
              <a:rPr lang="en-US" sz="1600" dirty="0">
                <a:latin typeface="+mn-lt"/>
              </a:rPr>
              <a:t>Remarks</a:t>
            </a:r>
            <a:endParaRPr lang="en-US" sz="1600" strike="noStrike" dirty="0">
              <a:effectLst/>
              <a:latin typeface="+mn-lt"/>
            </a:endParaRPr>
          </a:p>
          <a:p>
            <a:pPr lvl="2" indent="-342900"/>
            <a:r>
              <a:rPr lang="en-US" sz="1600" dirty="0">
                <a:latin typeface="+mn-lt"/>
              </a:rPr>
              <a:t>Extracted relations are granular in nature. The context is not clear from the extracted relation. </a:t>
            </a:r>
            <a:r>
              <a:rPr lang="en-US" sz="1600" dirty="0" err="1">
                <a:latin typeface="+mn-lt"/>
              </a:rPr>
              <a:t>Eg.</a:t>
            </a:r>
            <a:r>
              <a:rPr lang="en-US" sz="1600" dirty="0">
                <a:latin typeface="+mn-lt"/>
              </a:rPr>
              <a:t> (</a:t>
            </a:r>
            <a:r>
              <a:rPr lang="en-US" sz="1800" b="0" i="0" u="none" strike="noStrike" dirty="0">
                <a:solidFill>
                  <a:srgbClr val="000000"/>
                </a:solidFill>
                <a:effectLst/>
                <a:latin typeface="Calibri" panose="020F0502020204030204" pitchFamily="34" charset="0"/>
              </a:rPr>
              <a:t>Cycles,</a:t>
            </a:r>
            <a:r>
              <a:rPr lang="en-US" sz="2000" dirty="0"/>
              <a:t> </a:t>
            </a:r>
            <a:r>
              <a:rPr lang="en-US" sz="1800" b="0" i="0" u="none" strike="noStrike" dirty="0">
                <a:solidFill>
                  <a:srgbClr val="000000"/>
                </a:solidFill>
                <a:effectLst/>
                <a:latin typeface="Calibri" panose="020F0502020204030204" pitchFamily="34" charset="0"/>
              </a:rPr>
              <a:t>are available at,</a:t>
            </a:r>
            <a:r>
              <a:rPr lang="en-US" sz="2000" dirty="0"/>
              <a:t> </a:t>
            </a:r>
            <a:r>
              <a:rPr lang="en-US" sz="1800" b="0" i="0" u="none" strike="noStrike" dirty="0">
                <a:solidFill>
                  <a:srgbClr val="000000"/>
                </a:solidFill>
                <a:effectLst/>
                <a:latin typeface="Calibri" panose="020F0502020204030204" pitchFamily="34" charset="0"/>
              </a:rPr>
              <a:t>same time) is one of such extracted triples for Washer manual. </a:t>
            </a:r>
            <a:r>
              <a:rPr lang="en-US" sz="1800" dirty="0">
                <a:solidFill>
                  <a:srgbClr val="000000"/>
                </a:solidFill>
                <a:latin typeface="Calibri" panose="020F0502020204030204" pitchFamily="34" charset="0"/>
              </a:rPr>
              <a:t>It is missing the context of the entity ‘cycle’, also the reference to ‘same time’ to the event. It also does not capture the Topic or Heading this triple is related to.</a:t>
            </a:r>
          </a:p>
          <a:p>
            <a:pPr lvl="2" indent="-342900"/>
            <a:r>
              <a:rPr lang="nn-NO" sz="1800" dirty="0">
                <a:solidFill>
                  <a:srgbClr val="000000"/>
                </a:solidFill>
                <a:latin typeface="Calibri" panose="020F0502020204030204" pitchFamily="34" charset="0"/>
              </a:rPr>
              <a:t>Data is available at</a:t>
            </a:r>
            <a:r>
              <a:rPr lang="en-US" sz="1800" dirty="0">
                <a:solidFill>
                  <a:srgbClr val="000000"/>
                </a:solidFill>
                <a:latin typeface="Calibri" panose="020F0502020204030204" pitchFamily="34" charset="0"/>
              </a:rPr>
              <a:t>The detailed log is available at :</a:t>
            </a:r>
            <a:r>
              <a:rPr lang="nn-NO" sz="1800" dirty="0">
                <a:solidFill>
                  <a:srgbClr val="000000"/>
                </a:solidFill>
                <a:latin typeface="Calibri" panose="020F0502020204030204" pitchFamily="34" charset="0"/>
              </a:rPr>
              <a:t>Log : </a:t>
            </a:r>
            <a:r>
              <a:rPr lang="nn-NO" sz="1800" dirty="0">
                <a:solidFill>
                  <a:srgbClr val="000000"/>
                </a:solidFill>
                <a:latin typeface="Calibri" panose="020F0502020204030204" pitchFamily="34" charset="0"/>
                <a:hlinkClick r:id="rId3"/>
              </a:rPr>
              <a:t>https://drive.google.com/file/d/19BSTA0lA1Dg0gz87h-6UnjvjVKges1pL/view?usp=sharing        </a:t>
            </a:r>
            <a:endParaRPr lang="nn-NO" sz="1800" dirty="0">
              <a:solidFill>
                <a:srgbClr val="000000"/>
              </a:solidFill>
              <a:latin typeface="Calibri" panose="020F0502020204030204" pitchFamily="34" charset="0"/>
            </a:endParaRPr>
          </a:p>
          <a:p>
            <a:pPr lvl="2" indent="-342900"/>
            <a:r>
              <a:rPr lang="nn-NO" sz="1800" dirty="0">
                <a:solidFill>
                  <a:srgbClr val="000000"/>
                </a:solidFill>
                <a:latin typeface="Calibri" panose="020F0502020204030204" pitchFamily="34" charset="0"/>
              </a:rPr>
              <a:t> Data : </a:t>
            </a:r>
            <a:r>
              <a:rPr lang="nn-NO" sz="1800" dirty="0">
                <a:solidFill>
                  <a:srgbClr val="000000"/>
                </a:solidFill>
                <a:latin typeface="Calibri" panose="020F0502020204030204" pitchFamily="34" charset="0"/>
                <a:hlinkClick r:id="rId4"/>
              </a:rPr>
              <a:t>https://drive.google.com/file/d/1ItAMT6wZx3B4ASVcq8Rf1MTFw_bOAFTA/view</a:t>
            </a:r>
            <a:r>
              <a:rPr lang="en-US" sz="2000" dirty="0">
                <a:hlinkClick r:id="rId4"/>
              </a:rPr>
              <a:t> </a:t>
            </a:r>
            <a:endParaRPr lang="en-US" sz="2000" dirty="0"/>
          </a:p>
          <a:p>
            <a:pPr lvl="2" indent="-342900"/>
            <a:r>
              <a:rPr lang="en-US" sz="1600" dirty="0">
                <a:latin typeface="+mn-lt"/>
              </a:rPr>
              <a:t>OPEN IE extracts a lot of noises, only using dependency parser yields better results: (</a:t>
            </a:r>
            <a:r>
              <a:rPr lang="en-US" sz="1600" dirty="0">
                <a:latin typeface="+mn-lt"/>
                <a:hlinkClick r:id="rId5"/>
              </a:rPr>
              <a:t>https://drive.google.com/file/d/100QnPnC8qobJvUQPMryfHNktN0CCNYEj/view</a:t>
            </a:r>
            <a:r>
              <a:rPr lang="en-US" sz="1600" dirty="0">
                <a:latin typeface="+mn-lt"/>
              </a:rPr>
              <a:t>) </a:t>
            </a:r>
          </a:p>
          <a:p>
            <a:pPr lvl="2" indent="-342900"/>
            <a:r>
              <a:rPr lang="en-US" sz="1600" dirty="0">
                <a:latin typeface="+mn-lt"/>
              </a:rPr>
              <a:t>Better information Extraction tool is needed.</a:t>
            </a:r>
          </a:p>
          <a:p>
            <a:pPr lvl="2" indent="-342900"/>
            <a:endParaRPr lang="en-US" dirty="0"/>
          </a:p>
        </p:txBody>
      </p:sp>
    </p:spTree>
    <p:extLst>
      <p:ext uri="{BB962C8B-B14F-4D97-AF65-F5344CB8AC3E}">
        <p14:creationId xmlns:p14="http://schemas.microsoft.com/office/powerpoint/2010/main" val="1290047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3</a:t>
            </a:r>
            <a:r>
              <a:rPr lang="en-US" sz="1600" strike="noStrike" dirty="0">
                <a:effectLst/>
                <a:latin typeface="+mn-lt"/>
              </a:rPr>
              <a:t>:</a:t>
            </a:r>
          </a:p>
          <a:p>
            <a:pPr lvl="1">
              <a:buFont typeface="+mj-lt"/>
              <a:buAutoNum type="arabicPeriod"/>
            </a:pPr>
            <a:r>
              <a:rPr lang="en-US" sz="1600" dirty="0">
                <a:latin typeface="+mn-lt"/>
              </a:rPr>
              <a:t>	This approach is from paper reference </a:t>
            </a:r>
            <a:r>
              <a:rPr lang="en-US" sz="1600" dirty="0">
                <a:latin typeface="+mn-lt"/>
                <a:hlinkClick r:id="rId3"/>
              </a:rPr>
              <a:t>https://www.researchgate.net/publication/328758214_Semantic_Role_Labeling_for_Knowledge_Graph_Extraction_from_Text </a:t>
            </a:r>
            <a:r>
              <a:rPr lang="en-US" sz="1600" dirty="0">
                <a:latin typeface="+mn-lt"/>
              </a:rPr>
              <a:t>:</a:t>
            </a:r>
          </a:p>
          <a:p>
            <a:pPr marL="800100" lvl="1" indent="-342900">
              <a:buFont typeface="+mj-lt"/>
              <a:buAutoNum type="arabicPeriod"/>
            </a:pPr>
            <a:r>
              <a:rPr lang="en-US" sz="1600" dirty="0">
                <a:latin typeface="+mn-lt"/>
              </a:rPr>
              <a:t>Sample example</a:t>
            </a:r>
            <a:r>
              <a:rPr lang="en-US" sz="1600" strike="noStrike" dirty="0">
                <a:effectLst/>
                <a:latin typeface="+mn-lt"/>
              </a:rPr>
              <a:t>:</a:t>
            </a:r>
          </a:p>
          <a:p>
            <a:pPr marL="1200150" lvl="2" indent="-342900"/>
            <a:r>
              <a:rPr lang="en-US" sz="1600" dirty="0">
                <a:latin typeface="+mn-lt"/>
              </a:rPr>
              <a:t>Sentence: </a:t>
            </a:r>
            <a:r>
              <a:rPr lang="en-US" sz="1600" i="1" dirty="0">
                <a:latin typeface="+mn-lt"/>
              </a:rPr>
              <a:t>“</a:t>
            </a:r>
            <a:r>
              <a:rPr lang="en-US" sz="1600" b="0" i="1" u="none" strike="noStrike" dirty="0">
                <a:solidFill>
                  <a:srgbClr val="000000"/>
                </a:solidFill>
                <a:effectLst/>
                <a:latin typeface="Calibri" panose="020F0502020204030204" pitchFamily="34" charset="0"/>
              </a:rPr>
              <a:t>New Delhi is the capital of India. India has a population on 1 billion. India has 29 states and 7 union territories.</a:t>
            </a:r>
            <a:r>
              <a:rPr lang="en-US" sz="1600" i="1" dirty="0">
                <a:latin typeface="+mn-lt"/>
              </a:rPr>
              <a:t>.”</a:t>
            </a:r>
          </a:p>
          <a:p>
            <a:pPr marL="1200150" lvl="2" indent="-342900"/>
            <a:r>
              <a:rPr lang="en-US" sz="1600" strike="noStrike" dirty="0">
                <a:effectLst/>
                <a:latin typeface="+mn-lt"/>
              </a:rPr>
              <a:t>Extracted triples:</a:t>
            </a:r>
          </a:p>
          <a:p>
            <a:pPr marL="1200150" lvl="2" indent="-342900"/>
            <a:endParaRPr lang="en-US" sz="1600" dirty="0">
              <a:latin typeface="+mn-lt"/>
            </a:endParaRPr>
          </a:p>
          <a:p>
            <a:pPr marL="1200150" lvl="2" indent="-342900">
              <a:buFont typeface="+mj-lt"/>
              <a:buAutoNum type="arabicPeriod"/>
            </a:pPr>
            <a:endParaRPr lang="en-US" sz="1600" strike="noStrike" dirty="0">
              <a:effectLst/>
              <a:latin typeface="+mn-lt"/>
            </a:endParaRPr>
          </a:p>
          <a:p>
            <a:pPr marL="1314450" lvl="3" indent="0">
              <a:buNone/>
            </a:pPr>
            <a:endParaRPr lang="en-US" sz="1600" strike="noStrike" dirty="0">
              <a:effectLst/>
              <a:latin typeface="+mn-lt"/>
            </a:endParaRPr>
          </a:p>
          <a:p>
            <a:pPr marL="800100" lvl="1" indent="-342900">
              <a:buFont typeface="+mj-lt"/>
              <a:buAutoNum type="arabicPeriod"/>
            </a:pPr>
            <a:endParaRPr lang="en-US" sz="1600" dirty="0">
              <a:latin typeface="+mn-lt"/>
            </a:endParaRPr>
          </a:p>
          <a:p>
            <a:pPr marL="800100" lvl="1" indent="-342900">
              <a:buFont typeface="+mj-lt"/>
              <a:buAutoNum type="arabicPeriod"/>
            </a:pPr>
            <a:r>
              <a:rPr lang="en-US" sz="1600" dirty="0">
                <a:latin typeface="+mn-lt"/>
              </a:rPr>
              <a:t>Remarks:</a:t>
            </a:r>
          </a:p>
          <a:p>
            <a:pPr marL="1200150" lvl="2" indent="-342900"/>
            <a:r>
              <a:rPr lang="en-US" sz="1600" dirty="0">
                <a:latin typeface="+mn-lt"/>
              </a:rPr>
              <a:t>Misses out important information. We discard this approach.</a:t>
            </a:r>
          </a:p>
          <a:p>
            <a:pPr marL="1200150" lvl="2" indent="-342900"/>
            <a:endParaRPr lang="en-US" sz="1600" dirty="0">
              <a:latin typeface="+mn-lt"/>
            </a:endParaRPr>
          </a:p>
          <a:p>
            <a:pPr marL="342900" indent="-342900">
              <a:buFont typeface="+mj-lt"/>
              <a:buAutoNum type="arabicPeriod"/>
            </a:pPr>
            <a:endParaRPr lang="en-US" dirty="0"/>
          </a:p>
        </p:txBody>
      </p:sp>
      <p:graphicFrame>
        <p:nvGraphicFramePr>
          <p:cNvPr id="3" name="Table 2">
            <a:extLst>
              <a:ext uri="{FF2B5EF4-FFF2-40B4-BE49-F238E27FC236}">
                <a16:creationId xmlns:a16="http://schemas.microsoft.com/office/drawing/2014/main" xmlns="" id="{5F41DA9D-9DE7-4F3C-BF97-79B014FA96E0}"/>
              </a:ext>
            </a:extLst>
          </p:cNvPr>
          <p:cNvGraphicFramePr>
            <a:graphicFrameLocks noGrp="1"/>
          </p:cNvGraphicFramePr>
          <p:nvPr>
            <p:extLst>
              <p:ext uri="{D42A27DB-BD31-4B8C-83A1-F6EECF244321}">
                <p14:modId xmlns:p14="http://schemas.microsoft.com/office/powerpoint/2010/main" val="3838350484"/>
              </p:ext>
            </p:extLst>
          </p:nvPr>
        </p:nvGraphicFramePr>
        <p:xfrm>
          <a:off x="1905000" y="3429000"/>
          <a:ext cx="5816600" cy="1097280"/>
        </p:xfrm>
        <a:graphic>
          <a:graphicData uri="http://schemas.openxmlformats.org/drawingml/2006/table">
            <a:tbl>
              <a:tblPr>
                <a:tableStyleId>{5C22544A-7EE6-4342-B048-85BDC9FD1C3A}</a:tableStyleId>
              </a:tblPr>
              <a:tblGrid>
                <a:gridCol w="1879600">
                  <a:extLst>
                    <a:ext uri="{9D8B030D-6E8A-4147-A177-3AD203B41FA5}">
                      <a16:colId xmlns:a16="http://schemas.microsoft.com/office/drawing/2014/main" xmlns="" val="2169964897"/>
                    </a:ext>
                  </a:extLst>
                </a:gridCol>
                <a:gridCol w="1447800">
                  <a:extLst>
                    <a:ext uri="{9D8B030D-6E8A-4147-A177-3AD203B41FA5}">
                      <a16:colId xmlns:a16="http://schemas.microsoft.com/office/drawing/2014/main" xmlns="" val="3946385152"/>
                    </a:ext>
                  </a:extLst>
                </a:gridCol>
                <a:gridCol w="2489200">
                  <a:extLst>
                    <a:ext uri="{9D8B030D-6E8A-4147-A177-3AD203B41FA5}">
                      <a16:colId xmlns:a16="http://schemas.microsoft.com/office/drawing/2014/main" xmlns="" val="326194359"/>
                    </a:ext>
                  </a:extLst>
                </a:gridCol>
              </a:tblGrid>
              <a:tr h="548640">
                <a:tc>
                  <a:txBody>
                    <a:bodyPr/>
                    <a:lstStyle/>
                    <a:p>
                      <a:pPr algn="l" fontAlgn="ctr"/>
                      <a:r>
                        <a:rPr lang="en-GB" sz="1100" u="none" strike="noStrike">
                          <a:effectLst/>
                        </a:rPr>
                        <a:t>nsubj</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has-2</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dirty="0">
                          <a:effectLst/>
                        </a:rPr>
                        <a:t>India-1</a:t>
                      </a:r>
                      <a:endParaRPr lang="en-GB"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3370195271"/>
                  </a:ext>
                </a:extLst>
              </a:tr>
              <a:tr h="548640">
                <a:tc>
                  <a:txBody>
                    <a:bodyPr/>
                    <a:lstStyle/>
                    <a:p>
                      <a:pPr algn="l" fontAlgn="ctr"/>
                      <a:r>
                        <a:rPr lang="en-GB" sz="1100" u="none" strike="noStrike">
                          <a:effectLst/>
                        </a:rPr>
                        <a:t>dobj</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a:effectLst/>
                        </a:rPr>
                        <a:t>has-2</a:t>
                      </a:r>
                      <a:endParaRPr lang="en-GB"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GB" sz="1100" u="none" strike="noStrike" dirty="0">
                          <a:effectLst/>
                        </a:rPr>
                        <a:t>states-4</a:t>
                      </a:r>
                      <a:endParaRPr lang="en-GB"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xmlns="" val="2630584469"/>
                  </a:ext>
                </a:extLst>
              </a:tr>
            </a:tbl>
          </a:graphicData>
        </a:graphic>
      </p:graphicFrame>
    </p:spTree>
    <p:extLst>
      <p:ext uri="{BB962C8B-B14F-4D97-AF65-F5344CB8AC3E}">
        <p14:creationId xmlns:p14="http://schemas.microsoft.com/office/powerpoint/2010/main" val="2487292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4</a:t>
            </a:r>
            <a:r>
              <a:rPr lang="en-US" sz="1600" strike="noStrike" dirty="0">
                <a:effectLst/>
                <a:latin typeface="+mn-lt"/>
              </a:rPr>
              <a:t>:</a:t>
            </a:r>
          </a:p>
          <a:p>
            <a:pPr lvl="1">
              <a:buFont typeface="+mj-lt"/>
              <a:buAutoNum type="arabicPeriod"/>
            </a:pPr>
            <a:r>
              <a:rPr lang="en-US" sz="1600" dirty="0">
                <a:latin typeface="+mn-lt"/>
              </a:rPr>
              <a:t>In this approach, we annotate the input data, to capture the relations between heading and subheadings and text within subheadings. NER + </a:t>
            </a:r>
            <a:r>
              <a:rPr lang="en-US" sz="1600" dirty="0" err="1">
                <a:latin typeface="+mn-lt"/>
              </a:rPr>
              <a:t>Coref</a:t>
            </a:r>
            <a:r>
              <a:rPr lang="en-US" sz="1600" dirty="0">
                <a:latin typeface="+mn-lt"/>
              </a:rPr>
              <a:t> + Open IE+ Dependency Parse + Pruning were applied at the unstructured text block .</a:t>
            </a:r>
          </a:p>
          <a:p>
            <a:pPr lvl="1">
              <a:buFont typeface="+mj-lt"/>
              <a:buAutoNum type="arabicPeriod"/>
            </a:pPr>
            <a:r>
              <a:rPr lang="en-US" sz="1600" dirty="0">
                <a:latin typeface="+mn-lt"/>
              </a:rPr>
              <a:t>Extracted triple output are available at</a:t>
            </a:r>
            <a:r>
              <a:rPr lang="en-US" sz="1600" strike="noStrike" dirty="0">
                <a:effectLst/>
                <a:latin typeface="+mn-lt"/>
              </a:rPr>
              <a:t>:</a:t>
            </a:r>
          </a:p>
          <a:p>
            <a:pPr marL="1314450" lvl="3" indent="0">
              <a:buNone/>
            </a:pPr>
            <a:r>
              <a:rPr lang="en-US" sz="1600" strike="noStrike" dirty="0">
                <a:effectLst/>
                <a:latin typeface="+mn-lt"/>
              </a:rPr>
              <a:t> </a:t>
            </a:r>
            <a:r>
              <a:rPr lang="en-US" sz="1600" strike="noStrike" dirty="0">
                <a:effectLst/>
                <a:latin typeface="+mn-lt"/>
                <a:hlinkClick r:id="rId3"/>
              </a:rPr>
              <a:t>https://drive.google.com/file/d/1-YviExyIMzzg0eOxRPwlnK-vUSbDLU1I/view</a:t>
            </a:r>
            <a:endParaRPr lang="en-US" sz="1600" strike="noStrike" dirty="0">
              <a:effectLst/>
              <a:latin typeface="+mn-lt"/>
            </a:endParaRPr>
          </a:p>
          <a:p>
            <a:pPr marL="800100" lvl="1" indent="-342900">
              <a:buFont typeface="+mj-lt"/>
              <a:buAutoNum type="arabicPeriod"/>
            </a:pPr>
            <a:endParaRPr lang="en-US" sz="1600" dirty="0">
              <a:latin typeface="+mn-lt"/>
            </a:endParaRPr>
          </a:p>
          <a:p>
            <a:pPr marL="800100" lvl="1" indent="-342900">
              <a:buFont typeface="+mj-lt"/>
              <a:buAutoNum type="arabicPeriod"/>
            </a:pPr>
            <a:r>
              <a:rPr lang="en-US" sz="1600" dirty="0">
                <a:latin typeface="+mn-lt"/>
              </a:rPr>
              <a:t>Remarks:</a:t>
            </a:r>
          </a:p>
          <a:p>
            <a:pPr marL="1200150" lvl="2" indent="-342900"/>
            <a:r>
              <a:rPr lang="en-US" sz="1600" dirty="0">
                <a:latin typeface="+mn-lt"/>
              </a:rPr>
              <a:t>It captures the over all picture (context) and also the relations on sentence level.</a:t>
            </a:r>
          </a:p>
          <a:p>
            <a:pPr marL="1200150" lvl="2" indent="-342900"/>
            <a:r>
              <a:rPr lang="en-US" sz="1600" dirty="0">
                <a:latin typeface="+mn-lt"/>
              </a:rPr>
              <a:t>A lot of manual (domain Specific)specific entities are not identified by Spacy Named Entity Recognition.</a:t>
            </a:r>
          </a:p>
          <a:p>
            <a:pPr marL="1200150" lvl="2" indent="-342900"/>
            <a:r>
              <a:rPr lang="en-US" sz="1600" dirty="0">
                <a:latin typeface="+mn-lt"/>
              </a:rPr>
              <a:t>Unlike Freebase, the Manual specific question answers are not factoid based. Relations within clauses(Discourse relations) are not captured. </a:t>
            </a:r>
            <a:r>
              <a:rPr lang="en-US" sz="1600" dirty="0" err="1">
                <a:latin typeface="+mn-lt"/>
              </a:rPr>
              <a:t>Eg.</a:t>
            </a:r>
            <a:r>
              <a:rPr lang="en-US" sz="1600" dirty="0">
                <a:latin typeface="+mn-lt"/>
              </a:rPr>
              <a:t> </a:t>
            </a:r>
            <a:r>
              <a:rPr lang="en-US" sz="1600" i="1" dirty="0">
                <a:latin typeface="+mn-lt"/>
              </a:rPr>
              <a:t>“</a:t>
            </a:r>
            <a:r>
              <a:rPr lang="en-US" sz="1600" i="1" u="none" strike="noStrike" dirty="0">
                <a:solidFill>
                  <a:srgbClr val="24292E"/>
                </a:solidFill>
                <a:effectLst/>
                <a:latin typeface="Arial" panose="020B0604020202020204" pitchFamily="34" charset="0"/>
              </a:rPr>
              <a:t>Contact an authorized service </a:t>
            </a:r>
            <a:r>
              <a:rPr lang="en-US" sz="1600" i="1" u="none" strike="noStrike" dirty="0" err="1">
                <a:solidFill>
                  <a:srgbClr val="24292E"/>
                </a:solidFill>
                <a:effectLst/>
                <a:latin typeface="Arial" panose="020B0604020202020204" pitchFamily="34" charset="0"/>
              </a:rPr>
              <a:t>centre</a:t>
            </a:r>
            <a:r>
              <a:rPr lang="en-US" sz="1600" i="1" u="none" strike="noStrike" dirty="0">
                <a:solidFill>
                  <a:srgbClr val="24292E"/>
                </a:solidFill>
                <a:effectLst/>
                <a:latin typeface="Arial" panose="020B0604020202020204" pitchFamily="34" charset="0"/>
              </a:rPr>
              <a:t> when installing or relocating the refrigerator</a:t>
            </a:r>
            <a:r>
              <a:rPr lang="en-US" sz="1800" b="1" i="0" u="none" strike="noStrike" dirty="0">
                <a:solidFill>
                  <a:srgbClr val="24292E"/>
                </a:solidFill>
                <a:effectLst/>
                <a:latin typeface="Arial" panose="020B0604020202020204" pitchFamily="34" charset="0"/>
              </a:rPr>
              <a:t>.</a:t>
            </a:r>
            <a:r>
              <a:rPr lang="en-US" sz="1600" dirty="0">
                <a:latin typeface="+mn-lt"/>
              </a:rPr>
              <a:t>” Note that, the clauses ‘</a:t>
            </a:r>
            <a:r>
              <a:rPr lang="en-US" sz="1600" i="1" u="none" strike="noStrike" dirty="0">
                <a:solidFill>
                  <a:srgbClr val="24292E"/>
                </a:solidFill>
                <a:effectLst/>
                <a:latin typeface="Arial" panose="020B0604020202020204" pitchFamily="34" charset="0"/>
              </a:rPr>
              <a:t>installing or relocating the refrigerator </a:t>
            </a:r>
            <a:r>
              <a:rPr lang="en-US" sz="1600" dirty="0">
                <a:latin typeface="+mn-lt"/>
              </a:rPr>
              <a:t>’ and ‘</a:t>
            </a:r>
            <a:r>
              <a:rPr lang="en-US" sz="1600" i="1" u="none" strike="noStrike" dirty="0">
                <a:solidFill>
                  <a:srgbClr val="24292E"/>
                </a:solidFill>
                <a:effectLst/>
                <a:latin typeface="Arial" panose="020B0604020202020204" pitchFamily="34" charset="0"/>
              </a:rPr>
              <a:t>Contact an authorized service </a:t>
            </a:r>
            <a:r>
              <a:rPr lang="en-US" sz="1600" i="1" u="none" strike="noStrike" dirty="0" err="1">
                <a:solidFill>
                  <a:srgbClr val="24292E"/>
                </a:solidFill>
                <a:effectLst/>
                <a:latin typeface="Arial" panose="020B0604020202020204" pitchFamily="34" charset="0"/>
              </a:rPr>
              <a:t>centre</a:t>
            </a:r>
            <a:r>
              <a:rPr lang="en-US" sz="1600" dirty="0">
                <a:latin typeface="+mn-lt"/>
              </a:rPr>
              <a:t>’ has a relationships which is not captured by IE. Also the Clauses are not traditional entities like Noun Phrases. For QA system, we also need to address the relationship between clauses in a sentence</a:t>
            </a:r>
          </a:p>
          <a:p>
            <a:pPr marL="342900" indent="-342900">
              <a:buFont typeface="+mj-lt"/>
              <a:buAutoNum type="arabicPeriod"/>
            </a:pPr>
            <a:endParaRPr lang="en-US" dirty="0"/>
          </a:p>
        </p:txBody>
      </p:sp>
    </p:spTree>
    <p:extLst>
      <p:ext uri="{BB962C8B-B14F-4D97-AF65-F5344CB8AC3E}">
        <p14:creationId xmlns:p14="http://schemas.microsoft.com/office/powerpoint/2010/main" val="4010712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5</a:t>
            </a:r>
            <a:r>
              <a:rPr lang="en-US" sz="1600" strike="noStrike" dirty="0">
                <a:effectLst/>
                <a:latin typeface="+mn-lt"/>
              </a:rPr>
              <a:t>:</a:t>
            </a:r>
          </a:p>
          <a:p>
            <a:pPr lvl="1">
              <a:buFont typeface="+mj-lt"/>
              <a:buAutoNum type="arabicPeriod"/>
            </a:pPr>
            <a:r>
              <a:rPr lang="en-US" sz="1600" dirty="0">
                <a:latin typeface="+mn-lt"/>
              </a:rPr>
              <a:t>It is an improvement over approach 4, we added OLLIE as information tool and utilized Constituency parsing to extract relations on clause level as well. The resultant KG is an OPENKG, with three different levels of hierarchy on heading-to-subheading, subheading-to-</a:t>
            </a:r>
            <a:r>
              <a:rPr lang="en-US" sz="1600" dirty="0" err="1">
                <a:latin typeface="+mn-lt"/>
              </a:rPr>
              <a:t>textblock</a:t>
            </a:r>
            <a:r>
              <a:rPr lang="en-US" sz="1600" dirty="0">
                <a:latin typeface="+mn-lt"/>
              </a:rPr>
              <a:t>, </a:t>
            </a:r>
            <a:r>
              <a:rPr lang="en-US" sz="1600" dirty="0" err="1">
                <a:latin typeface="+mn-lt"/>
              </a:rPr>
              <a:t>textblock</a:t>
            </a:r>
            <a:r>
              <a:rPr lang="en-US" sz="1600" dirty="0">
                <a:latin typeface="+mn-lt"/>
              </a:rPr>
              <a:t>-to-sentences, sentences-to-clauses, clause-to-clause, entity-to-entity.</a:t>
            </a:r>
          </a:p>
          <a:p>
            <a:pPr lvl="1">
              <a:buFont typeface="+mj-lt"/>
              <a:buAutoNum type="arabicPeriod"/>
            </a:pPr>
            <a:r>
              <a:rPr lang="en-US" sz="1600" dirty="0">
                <a:latin typeface="+mn-lt"/>
              </a:rPr>
              <a:t>Extracted triple output are available at</a:t>
            </a:r>
            <a:r>
              <a:rPr lang="en-US" sz="1600" strike="noStrike" dirty="0">
                <a:effectLst/>
                <a:latin typeface="+mn-lt"/>
              </a:rPr>
              <a:t>:</a:t>
            </a:r>
          </a:p>
          <a:p>
            <a:pPr marL="1314450" lvl="3" indent="0">
              <a:buNone/>
            </a:pPr>
            <a:r>
              <a:rPr lang="en-US" sz="1600" strike="noStrike" dirty="0">
                <a:effectLst/>
                <a:latin typeface="+mn-lt"/>
                <a:hlinkClick r:id="rId3"/>
              </a:rPr>
              <a:t>https://drive.google.com/file/d/19BdgrDsD7jfNEHj39PTPku1dF6Q0mXPz/view?usp=sharing</a:t>
            </a:r>
            <a:endParaRPr lang="en-US" sz="1600" strike="noStrike" dirty="0">
              <a:effectLst/>
              <a:latin typeface="+mn-lt"/>
            </a:endParaRPr>
          </a:p>
          <a:p>
            <a:pPr marL="800100" lvl="1" indent="-342900">
              <a:buFont typeface="+mj-lt"/>
              <a:buAutoNum type="arabicPeriod"/>
            </a:pPr>
            <a:endParaRPr lang="en-US" sz="1600" dirty="0">
              <a:latin typeface="+mn-lt"/>
            </a:endParaRPr>
          </a:p>
          <a:p>
            <a:pPr marL="800100" lvl="1" indent="-342900">
              <a:buFont typeface="+mj-lt"/>
              <a:buAutoNum type="arabicPeriod"/>
            </a:pPr>
            <a:r>
              <a:rPr lang="en-US" sz="1600" dirty="0">
                <a:latin typeface="+mn-lt"/>
              </a:rPr>
              <a:t>Remarks:</a:t>
            </a:r>
          </a:p>
          <a:p>
            <a:pPr marL="1200150" lvl="2" indent="-342900"/>
            <a:r>
              <a:rPr lang="en-US" sz="1600" dirty="0">
                <a:latin typeface="+mn-lt"/>
              </a:rPr>
              <a:t>Improvement on Approach 4, to include discourse relations within sentence.</a:t>
            </a:r>
          </a:p>
          <a:p>
            <a:pPr marL="1200150" lvl="2" indent="-342900"/>
            <a:r>
              <a:rPr lang="en-US" sz="1600" dirty="0" err="1">
                <a:latin typeface="+mn-lt"/>
              </a:rPr>
              <a:t>Coref</a:t>
            </a:r>
            <a:r>
              <a:rPr lang="en-US" sz="1600" dirty="0">
                <a:latin typeface="+mn-lt"/>
              </a:rPr>
              <a:t> would be incorporated later, once </a:t>
            </a:r>
            <a:r>
              <a:rPr lang="en-US" sz="1600" dirty="0" err="1">
                <a:latin typeface="+mn-lt"/>
              </a:rPr>
              <a:t>en</a:t>
            </a:r>
            <a:r>
              <a:rPr lang="en-US" sz="1600" dirty="0">
                <a:latin typeface="+mn-lt"/>
              </a:rPr>
              <a:t>-to-end IE structure defined</a:t>
            </a:r>
          </a:p>
          <a:p>
            <a:pPr marL="1200150" lvl="2" indent="-342900"/>
            <a:r>
              <a:rPr lang="en-US" sz="1600" dirty="0">
                <a:latin typeface="+mn-lt"/>
              </a:rPr>
              <a:t>Entities in manual specific cases are not Named Entities, rather they are concepts. Concept could be a block of text, a sentence, a Noun Phrase, or a proper entity</a:t>
            </a:r>
          </a:p>
        </p:txBody>
      </p:sp>
    </p:spTree>
    <p:extLst>
      <p:ext uri="{BB962C8B-B14F-4D97-AF65-F5344CB8AC3E}">
        <p14:creationId xmlns:p14="http://schemas.microsoft.com/office/powerpoint/2010/main" val="4036500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3 : Logs </a:t>
            </a:r>
            <a:r>
              <a:rPr lang="en-IN" dirty="0">
                <a:cs typeface="Arial" panose="020B0604020202020204" pitchFamily="34" charset="0"/>
              </a:rPr>
              <a:t>Entity/Relation Extraction : Progress of the Approaches Tried and learnings</a:t>
            </a:r>
            <a:endParaRPr lang="en-IN" dirty="0"/>
          </a:p>
        </p:txBody>
      </p:sp>
      <p:sp>
        <p:nvSpPr>
          <p:cNvPr id="6" name="Action Button: Forward or Next 5">
            <a:hlinkClick r:id="rId2" action="ppaction://hlinksldjump" highlightClick="1"/>
          </p:cNvPr>
          <p:cNvSpPr/>
          <p:nvPr/>
        </p:nvSpPr>
        <p:spPr>
          <a:xfrm flipH="1">
            <a:off x="8915400" y="5562600"/>
            <a:ext cx="216000" cy="216000"/>
          </a:xfrm>
          <a:prstGeom prst="actionButtonForwardNext">
            <a:avLst/>
          </a:prstGeom>
          <a:solidFill>
            <a:srgbClr val="FFFFFF"/>
          </a:solidFill>
          <a:ln w="25400" cap="flat" cmpd="sng" algn="ctr">
            <a:solidFill>
              <a:srgbClr val="FFFFFF">
                <a:shade val="5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sng" strike="noStrike" kern="0" cap="none" spc="0" normalizeH="0" baseline="0" noProof="0" dirty="0">
              <a:ln>
                <a:noFill/>
              </a:ln>
              <a:solidFill>
                <a:srgbClr val="000000"/>
              </a:solidFill>
              <a:effectLst/>
              <a:uLnTx/>
              <a:uFillTx/>
              <a:latin typeface="Arial"/>
              <a:ea typeface="굴림"/>
              <a:cs typeface="Arial"/>
            </a:endParaRPr>
          </a:p>
        </p:txBody>
      </p:sp>
      <p:sp>
        <p:nvSpPr>
          <p:cNvPr id="5" name="Content Placeholder 2">
            <a:extLst>
              <a:ext uri="{FF2B5EF4-FFF2-40B4-BE49-F238E27FC236}">
                <a16:creationId xmlns:a16="http://schemas.microsoft.com/office/drawing/2014/main" xmlns="" id="{5BC3832E-4DCD-44BA-A891-7E8950DCC751}"/>
              </a:ext>
            </a:extLst>
          </p:cNvPr>
          <p:cNvSpPr>
            <a:spLocks noGrp="1"/>
          </p:cNvSpPr>
          <p:nvPr>
            <p:ph idx="1"/>
          </p:nvPr>
        </p:nvSpPr>
        <p:spPr>
          <a:xfrm>
            <a:off x="604837" y="1123951"/>
            <a:ext cx="8915400" cy="5353049"/>
          </a:xfrm>
        </p:spPr>
        <p:txBody>
          <a:bodyPr>
            <a:normAutofit/>
          </a:bodyPr>
          <a:lstStyle/>
          <a:p>
            <a:pPr marL="0" indent="0">
              <a:buNone/>
            </a:pPr>
            <a:r>
              <a:rPr lang="en-US" sz="1600" dirty="0">
                <a:latin typeface="+mn-lt"/>
              </a:rPr>
              <a:t>Approach 6</a:t>
            </a:r>
            <a:r>
              <a:rPr lang="en-US" sz="1600" strike="noStrike" dirty="0">
                <a:effectLst/>
                <a:latin typeface="+mn-lt"/>
              </a:rPr>
              <a:t>:</a:t>
            </a:r>
          </a:p>
          <a:p>
            <a:pPr lvl="1">
              <a:buFont typeface="+mj-lt"/>
              <a:buAutoNum type="arabicPeriod"/>
            </a:pPr>
            <a:r>
              <a:rPr lang="en-US" sz="1600" dirty="0">
                <a:latin typeface="+mn-lt"/>
              </a:rPr>
              <a:t>It is an improvement over approach 4, we replaced OLLIE with IE5.1, as IE5.1 is latest SOTA and an improvement over OLLIE, keeping other components of the tool chain intact.  as information tool and utilized Constituency parsing to extract relations on clause level as well. The resultant KG is an OPENKG, with three different levels of hierarchy on heading-to-subheading, subheading-to-</a:t>
            </a:r>
            <a:r>
              <a:rPr lang="en-US" sz="1600" dirty="0" err="1">
                <a:latin typeface="+mn-lt"/>
              </a:rPr>
              <a:t>textblock</a:t>
            </a:r>
            <a:r>
              <a:rPr lang="en-US" sz="1600" dirty="0">
                <a:latin typeface="+mn-lt"/>
              </a:rPr>
              <a:t>, </a:t>
            </a:r>
            <a:r>
              <a:rPr lang="en-US" sz="1600" dirty="0" err="1">
                <a:latin typeface="+mn-lt"/>
              </a:rPr>
              <a:t>textblock</a:t>
            </a:r>
            <a:r>
              <a:rPr lang="en-US" sz="1600" dirty="0">
                <a:latin typeface="+mn-lt"/>
              </a:rPr>
              <a:t>-to-sentences, sentences-to-clauses, clause-to-clause, entity-to-entity.</a:t>
            </a:r>
          </a:p>
          <a:p>
            <a:pPr lvl="1">
              <a:buFont typeface="+mj-lt"/>
              <a:buAutoNum type="arabicPeriod"/>
            </a:pPr>
            <a:r>
              <a:rPr lang="en-US" sz="1600" dirty="0">
                <a:latin typeface="+mn-lt"/>
              </a:rPr>
              <a:t>Extracted triple output are available at</a:t>
            </a:r>
            <a:r>
              <a:rPr lang="en-US" sz="1600" strike="noStrike" dirty="0">
                <a:effectLst/>
                <a:latin typeface="+mn-lt"/>
              </a:rPr>
              <a:t>:</a:t>
            </a:r>
          </a:p>
          <a:p>
            <a:pPr marL="914400" lvl="2" indent="0">
              <a:buNone/>
            </a:pPr>
            <a:r>
              <a:rPr lang="en-US" sz="1600" dirty="0">
                <a:latin typeface="+mn-lt"/>
                <a:hlinkClick r:id="rId3"/>
              </a:rPr>
              <a:t>https://drive.google.com/file/d/1ewSB4IkVlYLRCYZrF9kGs9jNwhBWSu1H/view?usp=sharing</a:t>
            </a:r>
            <a:endParaRPr lang="en-US" sz="1600" dirty="0">
              <a:latin typeface="+mn-lt"/>
            </a:endParaRPr>
          </a:p>
          <a:p>
            <a:pPr marL="800100" lvl="1" indent="-342900">
              <a:buFont typeface="+mj-lt"/>
              <a:buAutoNum type="arabicPeriod"/>
            </a:pPr>
            <a:r>
              <a:rPr lang="en-US" sz="1600" dirty="0">
                <a:latin typeface="+mn-lt"/>
              </a:rPr>
              <a:t>Remarks:</a:t>
            </a:r>
          </a:p>
          <a:p>
            <a:pPr marL="1200150" lvl="2" indent="-342900"/>
            <a:r>
              <a:rPr lang="en-US" sz="1600" dirty="0">
                <a:latin typeface="+mn-lt"/>
              </a:rPr>
              <a:t>Improvement on Approach 5, to include 13 types of discourse relations within sentence</a:t>
            </a:r>
          </a:p>
          <a:p>
            <a:pPr marL="1200150" lvl="2" indent="-342900"/>
            <a:r>
              <a:rPr lang="en-US" sz="1600" dirty="0">
                <a:latin typeface="+mn-lt"/>
              </a:rPr>
              <a:t>OPENIE 5 is current state of the art Information extraction tool based on Berkeley Language Model</a:t>
            </a:r>
          </a:p>
          <a:p>
            <a:pPr marL="1200150" lvl="2" indent="-342900"/>
            <a:r>
              <a:rPr lang="en-US" sz="1600" dirty="0">
                <a:latin typeface="+mn-lt"/>
              </a:rPr>
              <a:t>Three steps for relation Extraction : </a:t>
            </a:r>
          </a:p>
          <a:p>
            <a:pPr marL="1657350" lvl="3" indent="-342900"/>
            <a:r>
              <a:rPr lang="en-US" sz="1600" dirty="0">
                <a:latin typeface="+mn-lt"/>
              </a:rPr>
              <a:t>a) Extract defined relation from Semi-Structured Data </a:t>
            </a:r>
          </a:p>
          <a:p>
            <a:pPr marL="1657350" lvl="3" indent="-342900"/>
            <a:r>
              <a:rPr lang="en-US" sz="1600" dirty="0">
                <a:latin typeface="+mn-lt"/>
              </a:rPr>
              <a:t>b) Extract 13 types of Discourse relations from sentences </a:t>
            </a:r>
          </a:p>
          <a:p>
            <a:pPr marL="1657350" lvl="3" indent="-342900"/>
            <a:r>
              <a:rPr lang="en-US" sz="1600" dirty="0">
                <a:latin typeface="+mn-lt"/>
              </a:rPr>
              <a:t>c) Open IE5 extracts relations from sentences</a:t>
            </a:r>
          </a:p>
        </p:txBody>
      </p:sp>
    </p:spTree>
    <p:extLst>
      <p:ext uri="{BB962C8B-B14F-4D97-AF65-F5344CB8AC3E}">
        <p14:creationId xmlns:p14="http://schemas.microsoft.com/office/powerpoint/2010/main" val="812277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bg1">
              <a:lumMod val="65000"/>
            </a:schemeClr>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bg1">
              <a:lumMod val="65000"/>
            </a:schemeClr>
          </a:solidFill>
          <a:headEnd type="triangle" w="med" len="med"/>
          <a:tailEnd type="triangle"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9445</TotalTime>
  <Words>1656</Words>
  <Application>Microsoft Office PowerPoint</Application>
  <PresentationFormat>A4 Paper (210x297 mm)</PresentationFormat>
  <Paragraphs>215</Paragraphs>
  <Slides>19</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1" baseType="lpstr">
      <vt:lpstr>Office Theme</vt:lpstr>
      <vt:lpstr>Worksheet</vt:lpstr>
      <vt:lpstr>PowerPoint Presentation</vt:lpstr>
      <vt:lpstr>Knowledge Graph Embedding &amp; Question Answering</vt:lpstr>
      <vt:lpstr>Simple and Multi-hop Question Answering</vt:lpstr>
      <vt:lpstr>Path: Unstructured Manuals to Knowledge Graph</vt:lpstr>
      <vt:lpstr>Path: Problems to be solved and Challenges</vt:lpstr>
      <vt:lpstr>The Bigger Picture</vt:lpstr>
      <vt:lpstr>Entity/Relation Extraction : Progress of the Approaches Tried and learnings</vt:lpstr>
      <vt:lpstr>Entity/Relation Extraction : Plan for Next Step</vt:lpstr>
      <vt:lpstr>PowerPoint Presentation</vt:lpstr>
      <vt:lpstr>Appendix 1 : Simple Question Answering on Ontology KG</vt:lpstr>
      <vt:lpstr>Appendix 1 : Simple Question Answering on Ontology KG: Demo question and answers</vt:lpstr>
      <vt:lpstr>Appendix 2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lpstr>Appendix 3 : Logs Entity/Relation Extraction : Progress of the Approaches Tried and learnings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Anindya Das</dc:creator>
  <cp:lastModifiedBy>Anindya Das/LGSIA AI-2(anindya06.das@lge.com)</cp:lastModifiedBy>
  <cp:revision>390</cp:revision>
  <dcterms:created xsi:type="dcterms:W3CDTF">2019-03-20T09:02:52Z</dcterms:created>
  <dcterms:modified xsi:type="dcterms:W3CDTF">2021-08-29T13:26:23Z</dcterms:modified>
</cp:coreProperties>
</file>